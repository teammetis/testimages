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7"/>
  </p:handoutMasterIdLst>
  <p:sldIdLst>
    <p:sldId id="258" r:id="rId5"/>
    <p:sldId id="257" r:id="rId6"/>
    <p:sldId id="256" r:id="rId7"/>
    <p:sldId id="259" r:id="rId8"/>
    <p:sldId id="265" r:id="rId9"/>
    <p:sldId id="261" r:id="rId10"/>
    <p:sldId id="266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FF0066"/>
    <a:srgbClr val="6600FF"/>
    <a:srgbClr val="9900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203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17B85-61B9-444E-B3BB-97670E53F58F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BBC83-1519-49B4-8660-ADF3F320E5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43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7B368-9F51-456E-9035-92290CD7EE47}" type="datetimeFigureOut">
              <a:rPr lang="en-NZ" smtClean="0"/>
              <a:pPr/>
              <a:t>26/11/2025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647E7-D7C4-49C6-903B-51E08D140C92}" type="slidenum">
              <a:rPr lang="en-NZ" smtClean="0"/>
              <a:pPr/>
              <a:t>‹#›</a:t>
            </a:fld>
            <a:endParaRPr lang="en-N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1183392"/>
            <a:ext cx="8280920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i="1" dirty="0"/>
              <a:t>In most parts of the world, cities are becoming larger because people are moving there from the countryside. Some people believe that living in cities is a good thing, while others do not.</a:t>
            </a:r>
            <a:endParaRPr lang="en-US" sz="2800" dirty="0"/>
          </a:p>
          <a:p>
            <a:r>
              <a:rPr lang="en-US" sz="2800" b="1" i="1" dirty="0"/>
              <a:t> </a:t>
            </a:r>
            <a:endParaRPr lang="en-US" sz="2800" dirty="0"/>
          </a:p>
          <a:p>
            <a:r>
              <a:rPr lang="en-US" sz="2800" b="1" i="1" dirty="0"/>
              <a:t>Discuss both points of view and give your own opinion.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100152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topic : Talk to your partner.  What are the reasons for and against living in a big city?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2daydubai.com/schools/dubai-schools-and-university-education_clip_image0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5448" y="4831565"/>
            <a:ext cx="3096344" cy="1765787"/>
          </a:xfrm>
          <a:prstGeom prst="rect">
            <a:avLst/>
          </a:prstGeom>
          <a:noFill/>
        </p:spPr>
      </p:pic>
      <p:pic>
        <p:nvPicPr>
          <p:cNvPr id="14350" name="Picture 14" descr="http://www.scenicreflections.com/files/Ferrari_World_Theme_Park_at_Abu_Dhabi_Wallpaper_dsqi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2492896"/>
            <a:ext cx="2498734" cy="1872208"/>
          </a:xfrm>
          <a:prstGeom prst="rect">
            <a:avLst/>
          </a:prstGeom>
          <a:noFill/>
        </p:spPr>
      </p:pic>
      <p:pic>
        <p:nvPicPr>
          <p:cNvPr id="14338" name="Picture 2" descr="http://www.aecom.com/deployedfiles/Intranet/Business%20Lines/Planning,%20Design%20&amp;%20Development/Images_MacArthur/City%20Hospital%20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6848" y="548680"/>
            <a:ext cx="3641223" cy="1872208"/>
          </a:xfrm>
          <a:prstGeom prst="rect">
            <a:avLst/>
          </a:prstGeom>
          <a:noFill/>
        </p:spPr>
      </p:pic>
      <p:pic>
        <p:nvPicPr>
          <p:cNvPr id="14346" name="Picture 10" descr="http://www.dubaichronicle.com/wp-content/uploads/2011/12/The-Address-Downtown-Dubai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2520" y="4282048"/>
            <a:ext cx="3638550" cy="2419350"/>
          </a:xfrm>
          <a:prstGeom prst="rect">
            <a:avLst/>
          </a:prstGeom>
          <a:noFill/>
        </p:spPr>
      </p:pic>
      <p:pic>
        <p:nvPicPr>
          <p:cNvPr id="14348" name="Picture 12" descr="http://www.parsons.com/SiteCollectionImages/content/2010-05-dubai-metro-lead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50256" y="566936"/>
            <a:ext cx="4095750" cy="2286000"/>
          </a:xfrm>
          <a:prstGeom prst="rect">
            <a:avLst/>
          </a:prstGeom>
          <a:noFill/>
        </p:spPr>
      </p:pic>
      <p:pic>
        <p:nvPicPr>
          <p:cNvPr id="14342" name="Picture 6" descr="http://www.dxbwebsite.com/wp-content/plugins/RSSPoster_PRO/cache/b2850_3838145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72112" y="2420888"/>
            <a:ext cx="3763618" cy="2520280"/>
          </a:xfrm>
          <a:prstGeom prst="rect">
            <a:avLst/>
          </a:prstGeom>
          <a:noFill/>
        </p:spPr>
      </p:pic>
      <p:pic>
        <p:nvPicPr>
          <p:cNvPr id="14352" name="Picture 16" descr="http://t0.gstatic.com/images?q=tbn:ANd9GcTo9x8wfe5mGBUwi3K2yMtlC7a7L6HQeLxtT_IEZzjR9AjTyGXcA0PspjnVvA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716221" y="2614816"/>
            <a:ext cx="3229659" cy="2149192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79512" y="100152"/>
            <a:ext cx="878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Talk to your partner.  What reasons can you see for living in a big city?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mnn.com/sites/default/files/m_po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3156" y="620688"/>
            <a:ext cx="4070852" cy="2304256"/>
          </a:xfrm>
          <a:prstGeom prst="rect">
            <a:avLst/>
          </a:prstGeom>
          <a:noFill/>
        </p:spPr>
      </p:pic>
      <p:pic>
        <p:nvPicPr>
          <p:cNvPr id="1032" name="Picture 8" descr="http://www.christopherfowler.co.uk/blog/wp-content/uploads/2010/06/polluti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505594"/>
            <a:ext cx="4029075" cy="2419350"/>
          </a:xfrm>
          <a:prstGeom prst="rect">
            <a:avLst/>
          </a:prstGeom>
          <a:noFill/>
        </p:spPr>
      </p:pic>
      <p:pic>
        <p:nvPicPr>
          <p:cNvPr id="1034" name="Picture 10" descr="http://assets.nydailynews.com/polopoly_fs/1.133235!/img/httpImage/imag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56176" y="2996952"/>
            <a:ext cx="2715892" cy="1829805"/>
          </a:xfrm>
          <a:prstGeom prst="rect">
            <a:avLst/>
          </a:prstGeom>
          <a:noFill/>
        </p:spPr>
      </p:pic>
      <p:pic>
        <p:nvPicPr>
          <p:cNvPr id="1036" name="Picture 12" descr="http://img.timeinc.net/time/photoessays/2008/mexico_city/mexico_city_01a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3528" y="2852936"/>
            <a:ext cx="3115613" cy="2060848"/>
          </a:xfrm>
          <a:prstGeom prst="rect">
            <a:avLst/>
          </a:prstGeom>
          <a:noFill/>
        </p:spPr>
      </p:pic>
      <p:pic>
        <p:nvPicPr>
          <p:cNvPr id="1028" name="Picture 4" descr="http://www.greenlandkid.com/wp-content/uploads/2012/07/how-to-avoid-traffic-jams-35319_2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73620" y="2780928"/>
            <a:ext cx="3326572" cy="2232248"/>
          </a:xfrm>
          <a:prstGeom prst="rect">
            <a:avLst/>
          </a:prstGeom>
          <a:noFill/>
        </p:spPr>
      </p:pic>
      <p:pic>
        <p:nvPicPr>
          <p:cNvPr id="4098" name="Picture 2" descr="http://creeklic.com/sites/default/files/imagecache/image_w300/crime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20073" y="4984372"/>
            <a:ext cx="1944216" cy="1684987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79512" y="100152"/>
            <a:ext cx="878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Talk to your partner.  What reasons can you see for not living in a big city?</a:t>
            </a:r>
          </a:p>
        </p:txBody>
      </p:sp>
      <p:pic>
        <p:nvPicPr>
          <p:cNvPr id="1030" name="Picture 6" descr="http://media.treehugger.com/assets/images/2011/10/china-pollution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331640" y="4871622"/>
            <a:ext cx="3478153" cy="17985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355526"/>
            <a:ext cx="828092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i="1" dirty="0"/>
              <a:t>In most parts of the world, cities are becoming larger because people are moving there from the countryside. Some people believe that living in cities is a good thing, while others do not. </a:t>
            </a:r>
            <a:endParaRPr lang="en-US" sz="1600" dirty="0"/>
          </a:p>
          <a:p>
            <a:r>
              <a:rPr lang="en-US" sz="1600" b="1" i="1" dirty="0"/>
              <a:t>Discuss both points of view and give your own opinion.</a:t>
            </a:r>
            <a:endParaRPr lang="en-US" sz="16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499992" y="1196752"/>
            <a:ext cx="0" cy="5472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6032" y="1124744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0000FF"/>
                </a:solidFill>
              </a:rPr>
              <a:t>Reason For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6" y="3861048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0000FF"/>
                </a:solidFill>
              </a:rPr>
              <a:t>Reason For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800" y="1124744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Reason Against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800" y="3861048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Reason Against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2" y="2060848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006600"/>
                </a:solidFill>
              </a:rPr>
              <a:t>Example/ Explain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72" y="479715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006600"/>
                </a:solidFill>
              </a:rPr>
              <a:t>Example/ 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6848" y="207189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006600"/>
                </a:solidFill>
              </a:rPr>
              <a:t>Example/ 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6848" y="479715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006600"/>
                </a:solidFill>
              </a:rPr>
              <a:t>Example/ 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72" y="3008000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chemeClr val="accent6">
                    <a:lumMod val="50000"/>
                  </a:schemeClr>
                </a:solidFill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72" y="572487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chemeClr val="accent6">
                    <a:lumMod val="50000"/>
                  </a:schemeClr>
                </a:solidFill>
              </a:rP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2656" y="299695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chemeClr val="accent6">
                    <a:lumMod val="50000"/>
                  </a:schemeClr>
                </a:solidFill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2656" y="5729064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chemeClr val="accent6">
                    <a:lumMod val="50000"/>
                  </a:schemeClr>
                </a:solidFill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512" y="26412"/>
            <a:ext cx="878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Brainstorm ideas and make a plan for the essay.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Introduction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550412"/>
            <a:ext cx="8280920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i="1" dirty="0"/>
              <a:t>In most parts of the world, cities are becoming larger because people are moving there from the countryside.</a:t>
            </a:r>
            <a:endParaRPr lang="en-NZ" sz="2000" dirty="0"/>
          </a:p>
          <a:p>
            <a:endParaRPr lang="en-US" sz="1000" b="1" i="1" dirty="0"/>
          </a:p>
          <a:p>
            <a:r>
              <a:rPr lang="en-US" sz="2000" b="1" i="1" dirty="0"/>
              <a:t>Describe the advantages and disadvantages of living in cities.</a:t>
            </a:r>
            <a:endParaRPr lang="en-NZ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2276872"/>
            <a:ext cx="799288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000" b="1" dirty="0"/>
              <a:t>1. G__________________ B_____________________ </a:t>
            </a:r>
          </a:p>
          <a:p>
            <a:pPr marL="457200" indent="-457200">
              <a:buAutoNum type="arabicPeriod"/>
            </a:pPr>
            <a:endParaRPr lang="en-NZ" sz="2000" b="1" dirty="0"/>
          </a:p>
          <a:p>
            <a:r>
              <a:rPr lang="en-US" sz="2000" b="1" dirty="0"/>
              <a:t>2. E__________________ T_____________________ </a:t>
            </a:r>
          </a:p>
          <a:p>
            <a:endParaRPr lang="en-NZ" sz="2000" b="1" dirty="0"/>
          </a:p>
          <a:p>
            <a:r>
              <a:rPr lang="en-US" sz="2000" b="1" dirty="0"/>
              <a:t>3. T_______________</a:t>
            </a:r>
          </a:p>
          <a:p>
            <a:endParaRPr lang="en-NZ" sz="1200" b="1" dirty="0"/>
          </a:p>
          <a:p>
            <a:pPr>
              <a:lnSpc>
                <a:spcPct val="200000"/>
              </a:lnSpc>
            </a:pPr>
            <a:endParaRPr lang="en-NZ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69112" y="2276872"/>
            <a:ext cx="561662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NZ" sz="2000" b="1" dirty="0">
                <a:solidFill>
                  <a:srgbClr val="FF0000"/>
                </a:solidFill>
              </a:rPr>
              <a:t>General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9112" y="2879224"/>
            <a:ext cx="561662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NZ" sz="2000" b="1" dirty="0">
                <a:solidFill>
                  <a:srgbClr val="009900"/>
                </a:solidFill>
              </a:rPr>
              <a:t>Essay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9112" y="3474720"/>
            <a:ext cx="809537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NZ" sz="2000" b="1" dirty="0">
                <a:solidFill>
                  <a:srgbClr val="0000FF"/>
                </a:solidFill>
              </a:rPr>
              <a:t>Thesis (main idea) =  I partly agree that …   In the following essay, I will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comprehension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520" y="836712"/>
            <a:ext cx="871296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1) Is this a one-sided or two-sided essay? </a:t>
            </a:r>
          </a:p>
          <a:p>
            <a:r>
              <a:rPr lang="en-US" sz="2400" b="1" dirty="0"/>
              <a:t> </a:t>
            </a:r>
          </a:p>
          <a:p>
            <a:r>
              <a:rPr lang="en-US" sz="2400" b="1" dirty="0"/>
              <a:t>2) How does the writer giver his/her opinion in the introduction? </a:t>
            </a:r>
          </a:p>
          <a:p>
            <a:r>
              <a:rPr lang="en-US" sz="2400" b="1" dirty="0"/>
              <a:t> </a:t>
            </a:r>
          </a:p>
          <a:p>
            <a:r>
              <a:rPr lang="en-US" sz="2400" b="1" dirty="0"/>
              <a:t>3) What does the writer say he/she is going to do in this essay?  </a:t>
            </a:r>
          </a:p>
          <a:p>
            <a:r>
              <a:rPr lang="en-US" sz="2400" b="1" dirty="0"/>
              <a:t> </a:t>
            </a:r>
          </a:p>
          <a:p>
            <a:r>
              <a:rPr lang="en-US" sz="2400" b="1" dirty="0"/>
              <a:t>4) How many body paragraphs are there? </a:t>
            </a:r>
          </a:p>
          <a:p>
            <a:r>
              <a:rPr lang="en-US" sz="2400" b="1" dirty="0"/>
              <a:t> </a:t>
            </a:r>
          </a:p>
          <a:p>
            <a:r>
              <a:rPr lang="en-US" sz="2400" b="1" dirty="0"/>
              <a:t>5) What does the first sentence of each body paragraph tell you? </a:t>
            </a:r>
          </a:p>
          <a:p>
            <a:r>
              <a:rPr lang="en-US" sz="2400" b="1" dirty="0"/>
              <a:t> </a:t>
            </a:r>
          </a:p>
          <a:p>
            <a:r>
              <a:rPr lang="en-US" sz="2400" b="1" dirty="0"/>
              <a:t>6) How many reasons (main ideas) are there in each body paragraph? </a:t>
            </a:r>
          </a:p>
          <a:p>
            <a:r>
              <a:rPr lang="en-US" sz="2400" b="1" dirty="0"/>
              <a:t> </a:t>
            </a:r>
          </a:p>
          <a:p>
            <a:r>
              <a:rPr lang="en-US" sz="2400" b="1" dirty="0"/>
              <a:t>7) How does the writer support the reasons?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Structure Analysis: </a:t>
            </a:r>
            <a:r>
              <a:rPr lang="en-US" sz="2000" b="1" dirty="0">
                <a:latin typeface="Arial"/>
                <a:ea typeface="Times New Roman"/>
                <a:cs typeface="Arial"/>
              </a:rPr>
              <a:t>Introduction</a:t>
            </a:r>
            <a:endParaRPr lang="en-US" sz="2000" dirty="0">
              <a:latin typeface="Arial"/>
              <a:ea typeface="Times New Roman"/>
              <a:cs typeface="Times New Roman"/>
            </a:endParaRPr>
          </a:p>
          <a:p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548680"/>
            <a:ext cx="87849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1)</a:t>
            </a:r>
            <a:r>
              <a:rPr lang="en-US" sz="2000" dirty="0"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Times New Roman"/>
                <a:cs typeface="Arial"/>
              </a:rPr>
              <a:t>Nowadays, the world’s population is increasing rapidly and people want a higher standard of living.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2)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Because of this, many people have moved from small towns and villages to live in major urban areas.</a:t>
            </a:r>
            <a:r>
              <a:rPr lang="en-US" sz="2000" dirty="0">
                <a:solidFill>
                  <a:srgbClr val="006600"/>
                </a:solidFill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3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)</a:t>
            </a:r>
            <a:r>
              <a:rPr lang="en-US" sz="2000" dirty="0"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Arial"/>
                <a:ea typeface="Times New Roman"/>
                <a:cs typeface="Arial"/>
              </a:rPr>
              <a:t>I partly agree that people should move from the countryside to live in big cities.  In the following essay, I will discuss both sides of the argument.</a:t>
            </a:r>
            <a:endParaRPr lang="en-US" sz="2000" dirty="0">
              <a:solidFill>
                <a:srgbClr val="0000FF"/>
              </a:solidFill>
              <a:latin typeface="Arial"/>
              <a:ea typeface="Times New Roman"/>
              <a:cs typeface="Times New Roman"/>
            </a:endParaRPr>
          </a:p>
          <a:p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23529" y="3068960"/>
            <a:ext cx="61926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/>
                <a:ea typeface="Times New Roman"/>
                <a:cs typeface="Arial"/>
              </a:rPr>
              <a:t>1) General background</a:t>
            </a:r>
          </a:p>
          <a:p>
            <a:pPr marL="342900" indent="-342900">
              <a:buAutoNum type="arabicParenR"/>
            </a:pPr>
            <a:endParaRPr lang="en-US" sz="2000" b="1" dirty="0">
              <a:solidFill>
                <a:srgbClr val="FF0000"/>
              </a:solidFill>
              <a:latin typeface="Arial"/>
              <a:ea typeface="Times New Roman"/>
              <a:cs typeface="Arial"/>
            </a:endParaRPr>
          </a:p>
          <a:p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2) Essay topic</a:t>
            </a:r>
          </a:p>
          <a:p>
            <a:endParaRPr lang="en-US" sz="2000" b="1" dirty="0">
              <a:solidFill>
                <a:srgbClr val="006600"/>
              </a:solidFill>
              <a:latin typeface="Arial"/>
              <a:ea typeface="Times New Roman"/>
              <a:cs typeface="Arial"/>
            </a:endParaRPr>
          </a:p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3) Thesis statement</a:t>
            </a:r>
          </a:p>
          <a:p>
            <a:endParaRPr lang="en-US" sz="2000" dirty="0">
              <a:solidFill>
                <a:srgbClr val="006600"/>
              </a:solidFill>
            </a:endParaRPr>
          </a:p>
          <a:p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88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Structure Analysis: </a:t>
            </a:r>
            <a:r>
              <a:rPr lang="en-US" sz="2000" b="1" dirty="0">
                <a:latin typeface="Arial"/>
                <a:ea typeface="Times New Roman"/>
                <a:cs typeface="Arial"/>
              </a:rPr>
              <a:t>Body Paragraph 1</a:t>
            </a:r>
            <a:endParaRPr lang="en-US" sz="2000" dirty="0">
              <a:latin typeface="Arial"/>
              <a:ea typeface="Times New Roman"/>
              <a:cs typeface="Times New Roman"/>
            </a:endParaRPr>
          </a:p>
          <a:p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548680"/>
            <a:ext cx="8784976" cy="324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191770" indent="274320" algn="just">
              <a:lnSpc>
                <a:spcPct val="115000"/>
              </a:lnSpc>
            </a:pP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4</a:t>
            </a:r>
            <a:r>
              <a:rPr lang="en-US" sz="2000" dirty="0">
                <a:solidFill>
                  <a:srgbClr val="FF0000"/>
                </a:solidFill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)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Times New Roman"/>
                <a:cs typeface="Arial"/>
              </a:rPr>
              <a:t>  On one hand, there are several important reasons why people should move to live in cities.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5)</a:t>
            </a:r>
            <a:r>
              <a:rPr lang="en-US" sz="2000" dirty="0"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The most important one is that the opportunities for work and promotion are much better than in the countryside.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6</a:t>
            </a:r>
            <a:r>
              <a:rPr lang="en-US" sz="2000" dirty="0">
                <a:solidFill>
                  <a:srgbClr val="0000FF"/>
                </a:solidFill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)</a:t>
            </a:r>
            <a:r>
              <a:rPr lang="en-US" sz="2000" dirty="0">
                <a:solidFill>
                  <a:srgbClr val="0000FF"/>
                </a:solidFill>
                <a:latin typeface="Arial"/>
                <a:ea typeface="Times New Roman"/>
                <a:cs typeface="Arial"/>
              </a:rPr>
              <a:t>   For example, all major companies are based in big cities,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7)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FF0066"/>
                </a:solidFill>
                <a:latin typeface="Arial"/>
                <a:ea typeface="Times New Roman"/>
                <a:cs typeface="Arial"/>
              </a:rPr>
              <a:t>so people who want to get a high-level job in a big company need to live in a city.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8)</a:t>
            </a:r>
            <a:r>
              <a:rPr lang="en-US" sz="2000" dirty="0"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Another reason is that cities have more facilities for people to use,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9)</a:t>
            </a:r>
            <a:r>
              <a:rPr lang="en-US" sz="2000" dirty="0"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Arial"/>
                <a:ea typeface="Times New Roman"/>
                <a:cs typeface="Arial"/>
              </a:rPr>
              <a:t>such as good hospitals and schools. 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  <a:cs typeface="Arial"/>
              </a:rPr>
              <a:t>10)</a:t>
            </a:r>
            <a:r>
              <a:rPr lang="en-US" sz="2000" dirty="0">
                <a:latin typeface="Arial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FF0066"/>
                </a:solidFill>
                <a:latin typeface="Arial"/>
                <a:ea typeface="Times New Roman"/>
                <a:cs typeface="Arial"/>
              </a:rPr>
              <a:t>As a result, many families live in major cities because they need good healthcare and education for their children. </a:t>
            </a:r>
            <a:endParaRPr lang="en-US" sz="2400" dirty="0">
              <a:solidFill>
                <a:srgbClr val="FF0066"/>
              </a:solidFill>
              <a:latin typeface="Arial"/>
              <a:ea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3796429"/>
            <a:ext cx="63689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/>
                <a:ea typeface="Times New Roman"/>
                <a:cs typeface="Arial"/>
              </a:rPr>
              <a:t>4) Topic sentence</a:t>
            </a:r>
          </a:p>
          <a:p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5) 1</a:t>
            </a:r>
            <a:r>
              <a:rPr lang="en-US" sz="2000" b="1" baseline="30000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st</a:t>
            </a:r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 Reason</a:t>
            </a:r>
          </a:p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6) Example</a:t>
            </a:r>
          </a:p>
          <a:p>
            <a:r>
              <a:rPr lang="en-US" sz="2000" b="1" dirty="0">
                <a:solidFill>
                  <a:srgbClr val="FF0066"/>
                </a:solidFill>
                <a:latin typeface="Arial" pitchFamily="34" charset="0"/>
                <a:cs typeface="Arial" pitchFamily="34" charset="0"/>
              </a:rPr>
              <a:t>7) Result</a:t>
            </a:r>
          </a:p>
          <a:p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8) 2</a:t>
            </a:r>
            <a:r>
              <a:rPr lang="en-US" sz="2000" b="1" baseline="30000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nd</a:t>
            </a:r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 Reason</a:t>
            </a:r>
          </a:p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9) Example</a:t>
            </a:r>
          </a:p>
          <a:p>
            <a:r>
              <a:rPr lang="en-US" sz="2000" b="1" dirty="0">
                <a:solidFill>
                  <a:srgbClr val="FF0066"/>
                </a:solidFill>
                <a:latin typeface="Arial" pitchFamily="34" charset="0"/>
                <a:cs typeface="Arial" pitchFamily="34" charset="0"/>
              </a:rPr>
              <a:t>10) Result</a:t>
            </a:r>
          </a:p>
        </p:txBody>
      </p:sp>
    </p:spTree>
    <p:extLst>
      <p:ext uri="{BB962C8B-B14F-4D97-AF65-F5344CB8AC3E}">
        <p14:creationId xmlns:p14="http://schemas.microsoft.com/office/powerpoint/2010/main" val="320078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Structure Analysis: </a:t>
            </a:r>
            <a:r>
              <a:rPr lang="en-US" sz="2000" b="1" dirty="0">
                <a:latin typeface="Arial"/>
                <a:ea typeface="Times New Roman"/>
                <a:cs typeface="Arial"/>
              </a:rPr>
              <a:t>Body Paragraph 2</a:t>
            </a:r>
            <a:endParaRPr lang="en-US" sz="2000" dirty="0">
              <a:latin typeface="Arial"/>
              <a:ea typeface="Times New Roman"/>
              <a:cs typeface="Times New Roman"/>
            </a:endParaRPr>
          </a:p>
          <a:p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548680"/>
            <a:ext cx="8784976" cy="32477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R="191770" indent="274320" algn="just">
              <a:lnSpc>
                <a:spcPct val="115000"/>
              </a:lnSpc>
            </a:pP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11)</a:t>
            </a:r>
            <a:r>
              <a:rPr lang="en-US" sz="2000" dirty="0">
                <a:latin typeface="Arial"/>
                <a:ea typeface="Times New Roman"/>
              </a:rPr>
              <a:t> 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Times New Roman"/>
              </a:rPr>
              <a:t>On the other hand, there are many reasons why moving to the city is not a good idea.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12)</a:t>
            </a:r>
            <a:r>
              <a:rPr lang="en-US" sz="2000" dirty="0">
                <a:solidFill>
                  <a:srgbClr val="006600"/>
                </a:solidFill>
                <a:latin typeface="Arial"/>
                <a:ea typeface="Times New Roman"/>
              </a:rPr>
              <a:t>The main one is that the environment is often not clean.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13)</a:t>
            </a:r>
            <a:r>
              <a:rPr lang="en-US" sz="2000" dirty="0"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6600FF"/>
                </a:solidFill>
                <a:latin typeface="Arial"/>
                <a:ea typeface="Times New Roman"/>
              </a:rPr>
              <a:t>As so many people live so close together, there is usually more pollution in big cities than in small towns.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14)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Arial"/>
                <a:ea typeface="Times New Roman"/>
              </a:rPr>
              <a:t>For instance, many big cities have problems with noise and air pollution from traffic.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15)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FF0066"/>
                </a:solidFill>
                <a:latin typeface="Arial"/>
                <a:ea typeface="Times New Roman"/>
              </a:rPr>
              <a:t>Hence, cities can be unhealthy places to live.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16)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006600"/>
                </a:solidFill>
                <a:latin typeface="Arial"/>
                <a:ea typeface="Times New Roman"/>
              </a:rPr>
              <a:t>In addition, crime is a serious problem in most major cities.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17)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6600FF"/>
                </a:solidFill>
                <a:latin typeface="Arial"/>
                <a:ea typeface="Times New Roman"/>
              </a:rPr>
              <a:t>This is because criminals have many more places to hide in large cities than in small towns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18)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FF0066"/>
                </a:solidFill>
                <a:latin typeface="Arial"/>
                <a:ea typeface="Times New Roman"/>
              </a:rPr>
              <a:t>Consequently, cities can be dangerous places for the people who live there. </a:t>
            </a:r>
            <a:endParaRPr lang="en-US" sz="2400" dirty="0">
              <a:solidFill>
                <a:srgbClr val="FF0066"/>
              </a:solidFill>
              <a:latin typeface="Arial"/>
              <a:ea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3796429"/>
            <a:ext cx="63689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/>
                <a:ea typeface="Times New Roman"/>
                <a:cs typeface="Arial"/>
              </a:rPr>
              <a:t>11) Topic sentence</a:t>
            </a:r>
          </a:p>
          <a:p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12) 1</a:t>
            </a:r>
            <a:r>
              <a:rPr lang="en-US" sz="2000" b="1" baseline="30000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st</a:t>
            </a:r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 Reason</a:t>
            </a:r>
          </a:p>
          <a:p>
            <a:r>
              <a:rPr lang="en-US" sz="2000" b="1" dirty="0">
                <a:solidFill>
                  <a:srgbClr val="6600FF"/>
                </a:solidFill>
                <a:latin typeface="Arial"/>
                <a:ea typeface="Times New Roman"/>
                <a:cs typeface="Arial"/>
              </a:rPr>
              <a:t>13) Explaining + result</a:t>
            </a:r>
          </a:p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14) Example</a:t>
            </a:r>
          </a:p>
          <a:p>
            <a:r>
              <a:rPr lang="en-US" sz="2000" b="1" dirty="0">
                <a:solidFill>
                  <a:srgbClr val="FF0066"/>
                </a:solidFill>
                <a:latin typeface="Arial" pitchFamily="34" charset="0"/>
                <a:cs typeface="Arial" pitchFamily="34" charset="0"/>
              </a:rPr>
              <a:t>15) Result</a:t>
            </a:r>
          </a:p>
          <a:p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16) 2</a:t>
            </a:r>
            <a:r>
              <a:rPr lang="en-US" sz="2000" b="1" baseline="30000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nd</a:t>
            </a:r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 Reason</a:t>
            </a:r>
          </a:p>
          <a:p>
            <a:r>
              <a:rPr lang="en-US" sz="20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17) Explaining</a:t>
            </a:r>
          </a:p>
          <a:p>
            <a:r>
              <a:rPr lang="en-US" sz="2000" b="1" dirty="0">
                <a:solidFill>
                  <a:srgbClr val="FF0066"/>
                </a:solidFill>
                <a:latin typeface="Arial" pitchFamily="34" charset="0"/>
                <a:cs typeface="Arial" pitchFamily="34" charset="0"/>
              </a:rPr>
              <a:t>18) Result</a:t>
            </a:r>
          </a:p>
        </p:txBody>
      </p:sp>
    </p:spTree>
    <p:extLst>
      <p:ext uri="{BB962C8B-B14F-4D97-AF65-F5344CB8AC3E}">
        <p14:creationId xmlns:p14="http://schemas.microsoft.com/office/powerpoint/2010/main" val="286775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Structure Analysis: </a:t>
            </a:r>
            <a:r>
              <a:rPr lang="en-US" sz="2000" b="1" dirty="0">
                <a:latin typeface="Arial"/>
                <a:ea typeface="Times New Roman"/>
                <a:cs typeface="Arial"/>
              </a:rPr>
              <a:t>Conclusion</a:t>
            </a:r>
            <a:endParaRPr lang="en-US" sz="2000" dirty="0">
              <a:latin typeface="Arial"/>
              <a:ea typeface="Times New Roman"/>
              <a:cs typeface="Times New Roman"/>
            </a:endParaRPr>
          </a:p>
          <a:p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548680"/>
            <a:ext cx="8784976" cy="21859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R="191770" indent="274320" algn="just">
              <a:lnSpc>
                <a:spcPct val="115000"/>
              </a:lnSpc>
            </a:pP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19)</a:t>
            </a:r>
            <a:r>
              <a:rPr lang="en-US" sz="2000" dirty="0"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Arial"/>
                <a:ea typeface="Times New Roman"/>
              </a:rPr>
              <a:t>In conclusion, I agree to a certain extent that people should move from small towns to live in large cities.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20)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>
                <a:solidFill>
                  <a:srgbClr val="006600"/>
                </a:solidFill>
                <a:latin typeface="Arial"/>
                <a:ea typeface="Times New Roman"/>
              </a:rPr>
              <a:t>This is because cities give people the chance to find a good career and have the facilities that most families need, but they are often polluted and dangerous.  </a:t>
            </a:r>
            <a:r>
              <a:rPr lang="en-US" sz="2000" dirty="0">
                <a:highlight>
                  <a:srgbClr val="D3D3D3"/>
                </a:highlight>
                <a:latin typeface="Arial"/>
                <a:ea typeface="Times New Roman"/>
              </a:rPr>
              <a:t>21)</a:t>
            </a:r>
            <a:r>
              <a:rPr lang="en-US" sz="2000" dirty="0">
                <a:latin typeface="Arial"/>
                <a:ea typeface="Times New Roman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Arial"/>
                <a:ea typeface="Times New Roman"/>
              </a:rPr>
              <a:t>Therefore, I believe that people who want to live in cities should be careful to keep their families healthy and safe</a:t>
            </a:r>
            <a:endParaRPr lang="en-US" sz="2400" dirty="0">
              <a:solidFill>
                <a:srgbClr val="0000FF"/>
              </a:solidFill>
              <a:latin typeface="Arial"/>
              <a:ea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6230" y="3140968"/>
            <a:ext cx="63689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/>
                <a:ea typeface="Times New Roman"/>
                <a:cs typeface="Arial"/>
              </a:rPr>
              <a:t>19) Thesis statement again</a:t>
            </a:r>
          </a:p>
          <a:p>
            <a:r>
              <a:rPr lang="en-US" sz="2000" b="1" dirty="0">
                <a:solidFill>
                  <a:srgbClr val="006600"/>
                </a:solidFill>
                <a:latin typeface="Arial"/>
                <a:ea typeface="Times New Roman"/>
                <a:cs typeface="Arial"/>
              </a:rPr>
              <a:t>20) Summary of reasons (contrasted)</a:t>
            </a:r>
          </a:p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21) Advice</a:t>
            </a:r>
          </a:p>
        </p:txBody>
      </p:sp>
    </p:spTree>
    <p:extLst>
      <p:ext uri="{BB962C8B-B14F-4D97-AF65-F5344CB8AC3E}">
        <p14:creationId xmlns:p14="http://schemas.microsoft.com/office/powerpoint/2010/main" val="85060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Structure: </a:t>
            </a:r>
            <a:r>
              <a:rPr lang="en-US" sz="2000" b="1" dirty="0">
                <a:latin typeface="Arial"/>
                <a:cs typeface="Arial"/>
              </a:rPr>
              <a:t>Body Paragraph Plan</a:t>
            </a:r>
            <a:endParaRPr lang="en-US" sz="2000" dirty="0">
              <a:latin typeface="Arial"/>
              <a:ea typeface="Times New Roman"/>
              <a:cs typeface="Times New Roman"/>
            </a:endParaRPr>
          </a:p>
          <a:p>
            <a:endParaRPr lang="en-US" sz="2000" b="1" dirty="0">
              <a:solidFill>
                <a:srgbClr val="00B05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791941"/>
              </p:ext>
            </p:extLst>
          </p:nvPr>
        </p:nvGraphicFramePr>
        <p:xfrm>
          <a:off x="323529" y="620689"/>
          <a:ext cx="8496942" cy="5965692"/>
        </p:xfrm>
        <a:graphic>
          <a:graphicData uri="http://schemas.openxmlformats.org/drawingml/2006/table">
            <a:tbl>
              <a:tblPr firstRow="1" firstCol="1" bandRow="1"/>
              <a:tblGrid>
                <a:gridCol w="4255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7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104">
                <a:tc>
                  <a:txBody>
                    <a:bodyPr/>
                    <a:lstStyle/>
                    <a:p>
                      <a:pPr marL="0" marR="191135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Agree Paragraph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1135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Disagree Paragraph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04"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1</a:t>
                      </a:r>
                      <a:r>
                        <a:rPr lang="en-US" sz="1800" baseline="300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st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 Reason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1</a:t>
                      </a:r>
                      <a:r>
                        <a:rPr lang="en-US" sz="1800" baseline="300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st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 Reason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4418"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Support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Support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04"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2</a:t>
                      </a:r>
                      <a:r>
                        <a:rPr lang="en-US" sz="1800" baseline="300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nd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 Reason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2</a:t>
                      </a:r>
                      <a:r>
                        <a:rPr lang="en-US" sz="1800" baseline="300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nd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 Reason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7910"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Support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 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1135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Arial"/>
                        </a:rPr>
                        <a:t>Support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572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00152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Essay Structure: </a:t>
            </a:r>
            <a:r>
              <a:rPr lang="en-US" sz="2000" b="1" dirty="0">
                <a:latin typeface="Arial"/>
                <a:cs typeface="Arial"/>
              </a:rPr>
              <a:t>Linking Words and Phrases</a:t>
            </a:r>
            <a:endParaRPr lang="en-US" sz="2000" dirty="0">
              <a:latin typeface="Arial"/>
              <a:ea typeface="Times New Roman"/>
              <a:cs typeface="Times New Roman"/>
            </a:endParaRPr>
          </a:p>
          <a:p>
            <a:endParaRPr lang="en-US" sz="2000" b="1" dirty="0">
              <a:solidFill>
                <a:srgbClr val="00B05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879109"/>
              </p:ext>
            </p:extLst>
          </p:nvPr>
        </p:nvGraphicFramePr>
        <p:xfrm>
          <a:off x="467544" y="808038"/>
          <a:ext cx="8280920" cy="4308252"/>
        </p:xfrm>
        <a:graphic>
          <a:graphicData uri="http://schemas.openxmlformats.org/drawingml/2006/table">
            <a:tbl>
              <a:tblPr firstRow="1" firstCol="1" bandRow="1"/>
              <a:tblGrid>
                <a:gridCol w="165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28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ahoma"/>
                          <a:ea typeface="Calibri"/>
                          <a:cs typeface="Times New Roman"/>
                        </a:rPr>
                        <a:t>Addition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Contrast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Reason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Example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Result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4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and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ahoma"/>
                          <a:ea typeface="Calibri"/>
                          <a:cs typeface="Times New Roman"/>
                        </a:rPr>
                        <a:t> </a:t>
                      </a:r>
                      <a:endParaRPr lang="en-US" sz="18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169" name="Picture 16" descr="Description: C:\Users\Teacher\AppData\Local\Microsoft\Windows\INetCache\IE\NNL0CUA4\bw-city-skyline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5301208"/>
            <a:ext cx="2306637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057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E089821E7FFA409886B3AD0234035C" ma:contentTypeVersion="29" ma:contentTypeDescription="Create a new document." ma:contentTypeScope="" ma:versionID="13bae29414afa2e23293c9ff0a75cff5">
  <xsd:schema xmlns:xsd="http://www.w3.org/2001/XMLSchema" xmlns:xs="http://www.w3.org/2001/XMLSchema" xmlns:p="http://schemas.microsoft.com/office/2006/metadata/properties" xmlns:ns1="http://schemas.microsoft.com/sharepoint/v3" xmlns:ns2="ebcd411e-39d2-437c-921d-5ffc9b96e570" xmlns:ns3="d01ac7e3-0127-46ca-87d1-141033fc51e3" xmlns:ns4="230e9df3-be65-4c73-a93b-d1236ebd677e" targetNamespace="http://schemas.microsoft.com/office/2006/metadata/properties" ma:root="true" ma:fieldsID="c8a41d0551d1dfd2c024d8ab368c767b" ns1:_="" ns2:_="" ns3:_="" ns4:_="">
    <xsd:import namespace="http://schemas.microsoft.com/sharepoint/v3"/>
    <xsd:import namespace="ebcd411e-39d2-437c-921d-5ffc9b96e570"/>
    <xsd:import namespace="d01ac7e3-0127-46ca-87d1-141033fc51e3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Statu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OneNoteFluid_FileOrder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Comments" minOccurs="0"/>
                <xsd:element ref="ns2:MediaServiceBillingMetadata" minOccurs="0"/>
                <xsd:element ref="ns2:CustomColumn" minOccurs="0"/>
                <xsd:element ref="ns2:mbc8818d814f45ef9cc9d5bfc7ae98b4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d411e-39d2-437c-921d-5ffc9b96e5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Status" ma:index="21" nillable="true" ma:displayName="Status" ma:default="One Pager" ma:format="Dropdown" ma:internalName="Status">
      <xsd:simpleType>
        <xsd:restriction base="dms:Text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OneNoteFluid_FileOrder" ma:index="26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8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0" nillable="true" ma:displayName="MediaServiceSystemTags" ma:hidden="true" ma:internalName="MediaServiceSystemTags" ma:readOnly="true">
      <xsd:simpleType>
        <xsd:restriction base="dms:Note"/>
      </xsd:simpleType>
    </xsd:element>
    <xsd:element name="Comments" ma:index="31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  <xsd:element name="CustomColumn" ma:index="33" nillable="true" ma:displayName="CustomColumn" ma:format="Dropdown" ma:indexed="true" ma:internalName="CustomColumn">
      <xsd:simpleType>
        <xsd:restriction base="dms:Text">
          <xsd:maxLength value="255"/>
        </xsd:restriction>
      </xsd:simpleType>
    </xsd:element>
    <xsd:element name="mbc8818d814f45ef9cc9d5bfc7ae98b4" ma:index="35" nillable="true" ma:taxonomy="true" ma:internalName="mbc8818d814f45ef9cc9d5bfc7ae98b4" ma:taxonomyFieldName="categorize" ma:displayName="categorize" ma:default="" ma:fieldId="{6bc8818d-814f-45ef-9cc9-d5bfc7ae98b4}" ma:taxonomyMulti="true" ma:sspId="e385fb40-52d4-4fae-9c5b-3e8ff8a5878e" ma:termSetId="180ed1bd-d8ff-49f1-a51c-decde4118c4f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1ac7e3-0127-46ca-87d1-141033fc51e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cdfba08c-59f0-4ee1-ab25-f66a7261e9a8}" ma:internalName="TaxCatchAll" ma:showField="CatchAllData" ma:web="d01ac7e3-0127-46ca-87d1-141033fc51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mbc8818d814f45ef9cc9d5bfc7ae98b4 xmlns="ebcd411e-39d2-437c-921d-5ffc9b96e570">
      <Terms xmlns="http://schemas.microsoft.com/office/infopath/2007/PartnerControls"/>
    </mbc8818d814f45ef9cc9d5bfc7ae98b4>
    <_ip_UnifiedCompliancePolicyProperties xmlns="http://schemas.microsoft.com/sharepoint/v3" xsi:nil="true"/>
    <Comments xmlns="ebcd411e-39d2-437c-921d-5ffc9b96e570" xsi:nil="true"/>
    <Status xmlns="ebcd411e-39d2-437c-921d-5ffc9b96e570">One Pager</Status>
    <OneNoteFluid_FileOrder xmlns="ebcd411e-39d2-437c-921d-5ffc9b96e570" xsi:nil="true"/>
    <CustomColumn xmlns="ebcd411e-39d2-437c-921d-5ffc9b96e570" xsi:nil="true"/>
    <TaxCatchAll xmlns="230e9df3-be65-4c73-a93b-d1236ebd677e" xsi:nil="true"/>
    <lcf76f155ced4ddcb4097134ff3c332f xmlns="ebcd411e-39d2-437c-921d-5ffc9b96e5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FF903F3-3B88-42EE-8135-F1899A7094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876C92-4725-445B-B110-9A26C25DE3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bcd411e-39d2-437c-921d-5ffc9b96e570"/>
    <ds:schemaRef ds:uri="d01ac7e3-0127-46ca-87d1-141033fc51e3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7590D7-FE7E-4DAC-9C96-8C67F9BFC49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bcd411e-39d2-437c-921d-5ffc9b96e570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948</Words>
  <Application>Microsoft Office PowerPoint</Application>
  <PresentationFormat>On-screen Show (4:3)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Shanti</dc:creator>
  <cp:lastModifiedBy>Nathan Imse</cp:lastModifiedBy>
  <cp:revision>52</cp:revision>
  <dcterms:created xsi:type="dcterms:W3CDTF">2012-10-20T04:38:40Z</dcterms:created>
  <dcterms:modified xsi:type="dcterms:W3CDTF">2025-11-26T22:44:25Z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0x01010061E089821E7FFA409886B3AD0234035C</vt:lpwstr>
  </property>
  <property fmtid="{D5CDD505-2E9C-101B-9397-08002B2CF9AE}" pid="3" name="MediaServiceImageTags">
    <vt:lpwstr/>
  </property>
  <property fmtid="{D5CDD505-2E9C-101B-9397-08002B2CF9AE}" pid="4" name="categorize">
    <vt:lpwstr/>
  </property>
</Properties>
</file>