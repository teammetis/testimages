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1584" r:id="rId5"/>
    <p:sldId id="1599" r:id="rId6"/>
    <p:sldId id="1843" r:id="rId7"/>
    <p:sldId id="299" r:id="rId8"/>
    <p:sldId id="1841" r:id="rId9"/>
    <p:sldId id="1816" r:id="rId10"/>
    <p:sldId id="1822" r:id="rId11"/>
    <p:sldId id="757" r:id="rId12"/>
    <p:sldId id="1568" r:id="rId13"/>
    <p:sldId id="1844" r:id="rId14"/>
    <p:sldId id="731" r:id="rId15"/>
    <p:sldId id="1823" r:id="rId16"/>
    <p:sldId id="1611" r:id="rId17"/>
    <p:sldId id="1612" r:id="rId18"/>
    <p:sldId id="1845" r:id="rId19"/>
    <p:sldId id="1586" r:id="rId20"/>
    <p:sldId id="1588" r:id="rId21"/>
    <p:sldId id="1813" r:id="rId22"/>
    <p:sldId id="1820" r:id="rId23"/>
    <p:sldId id="1604" r:id="rId24"/>
    <p:sldId id="1603" r:id="rId25"/>
    <p:sldId id="1824" r:id="rId26"/>
    <p:sldId id="1840" r:id="rId27"/>
    <p:sldId id="1832" r:id="rId28"/>
    <p:sldId id="1826" r:id="rId29"/>
    <p:sldId id="1827" r:id="rId30"/>
    <p:sldId id="1828" r:id="rId31"/>
    <p:sldId id="184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in Bostanabad" initials="RB" lastIdx="1" clrIdx="0">
    <p:extLst>
      <p:ext uri="{19B8F6BF-5375-455C-9EA6-DF929625EA0E}">
        <p15:presenceInfo xmlns:p15="http://schemas.microsoft.com/office/powerpoint/2012/main" userId="Ramin Bostanaba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CE20A0"/>
    <a:srgbClr val="DC62BC"/>
    <a:srgbClr val="DE2EB0"/>
    <a:srgbClr val="E767C5"/>
    <a:srgbClr val="E13FB7"/>
    <a:srgbClr val="0000FF"/>
    <a:srgbClr val="83C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86990" autoAdjust="0"/>
  </p:normalViewPr>
  <p:slideViewPr>
    <p:cSldViewPr snapToGrid="0" showGuides="1">
      <p:cViewPr varScale="1">
        <p:scale>
          <a:sx n="102" d="100"/>
          <a:sy n="102" d="100"/>
        </p:scale>
        <p:origin x="1080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2A656-64A0-406F-B740-B5B7B3776C2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40C7-3041-4D68-9975-F10B414C5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A40C7-3041-4D68-9975-F10B414C5A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29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4CCB5-A017-40D4-8C53-29DB4B63374F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75375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A40C7-3041-4D68-9975-F10B414C5A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27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A40C7-3041-4D68-9975-F10B414C5A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94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pmacslab.eng.uci.edu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macslab.eng.uci.edu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pmacslab.eng.uci.edu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pmacslab.eng.uci.edu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0C0516A7-8DDE-4068-9841-4B29F8CDC7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005" y="261876"/>
            <a:ext cx="1932559" cy="193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7E93D7-817C-4D08-9358-B99B79DC79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36" y="419191"/>
            <a:ext cx="5466836" cy="16179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400EF9-C7DF-4A1E-ACC5-8EFD7B82A18F}"/>
              </a:ext>
            </a:extLst>
          </p:cNvPr>
          <p:cNvSpPr txBox="1"/>
          <p:nvPr userDrawn="1"/>
        </p:nvSpPr>
        <p:spPr>
          <a:xfrm>
            <a:off x="158436" y="6392601"/>
            <a:ext cx="2512226" cy="32004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400" dirty="0">
                <a:hlinkClick r:id="rId4"/>
              </a:rPr>
              <a:t>https://pmacslab.eng.uci.edu/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1330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42FA46-82CF-4918-AE19-BB1DD5BBBF8F}"/>
              </a:ext>
            </a:extLst>
          </p:cNvPr>
          <p:cNvSpPr/>
          <p:nvPr userDrawn="1"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7EAF-D9C1-453F-8C6B-92DCC4BE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92600"/>
            <a:ext cx="679764" cy="320040"/>
          </a:xfrm>
          <a:prstGeom prst="rect">
            <a:avLst/>
          </a:prstGeom>
        </p:spPr>
        <p:txBody>
          <a:bodyPr anchor="ctr"/>
          <a:lstStyle>
            <a:lvl1pPr algn="r">
              <a:defRPr sz="1400" b="1"/>
            </a:lvl1pPr>
          </a:lstStyle>
          <a:p>
            <a:fld id="{65F93569-484B-4635-9B22-421E9FC125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Related image">
            <a:extLst>
              <a:ext uri="{FF2B5EF4-FFF2-40B4-BE49-F238E27FC236}">
                <a16:creationId xmlns:a16="http://schemas.microsoft.com/office/drawing/2014/main" id="{C68C1793-E654-4CD7-B34D-006E98624D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6364" y="6378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D9A569-7937-4516-BC48-F4FDD6D651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436" y="0"/>
            <a:ext cx="11195364" cy="5847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792E9-455D-4DEA-BC68-A5C83BCAAF01}"/>
              </a:ext>
            </a:extLst>
          </p:cNvPr>
          <p:cNvSpPr txBox="1"/>
          <p:nvPr userDrawn="1"/>
        </p:nvSpPr>
        <p:spPr>
          <a:xfrm>
            <a:off x="158436" y="6392601"/>
            <a:ext cx="2512226" cy="32004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400" dirty="0">
                <a:hlinkClick r:id="rId3"/>
              </a:rPr>
              <a:t>https://pmacslab.eng.uci.edu/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5723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7EAF-D9C1-453F-8C6B-92DCC4BE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66221"/>
            <a:ext cx="679764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/>
            </a:lvl1pPr>
          </a:lstStyle>
          <a:p>
            <a:fld id="{65F93569-484B-4635-9B22-421E9FC1252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43289D-2ECD-4B42-AA34-9C08E9831991}"/>
              </a:ext>
            </a:extLst>
          </p:cNvPr>
          <p:cNvSpPr txBox="1"/>
          <p:nvPr userDrawn="1"/>
        </p:nvSpPr>
        <p:spPr>
          <a:xfrm>
            <a:off x="158436" y="6392601"/>
            <a:ext cx="2512226" cy="32004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400" dirty="0">
                <a:hlinkClick r:id="rId2"/>
              </a:rPr>
              <a:t>https://pmacslab.eng.uci.edu/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0697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70F0ED6F-4B8F-423F-B8A7-8E4EA4CB2A9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white">
          <a:xfrm>
            <a:off x="126524" y="116633"/>
            <a:ext cx="8846029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en-US" altLang="zh-CN" dirty="0"/>
              <a:t>Click to edit 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DBD31C-5976-4BFC-BF15-2F8F28B1C2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59772" y="6534799"/>
            <a:ext cx="820469" cy="2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charset="-122"/>
              </a:defRPr>
            </a:lvl1pPr>
          </a:lstStyle>
          <a:p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/>
              <a:t>‹#›</a:t>
            </a:fld>
            <a:endParaRPr lang="en-US" altLang="zh-CN" dirty="0">
              <a:solidFill>
                <a:srgbClr val="2B16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67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r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70F0ED6F-4B8F-423F-B8A7-8E4EA4CB2A9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white">
          <a:xfrm>
            <a:off x="126524" y="116633"/>
            <a:ext cx="8846029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en-US" altLang="zh-CN" dirty="0"/>
              <a:t>Click to edit 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DBD31C-5976-4BFC-BF15-2F8F28B1C2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59772" y="6534799"/>
            <a:ext cx="820469" cy="2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charset="-122"/>
              </a:defRPr>
            </a:lvl1pPr>
          </a:lstStyle>
          <a:p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/>
              <a:t>‹#›</a:t>
            </a:fld>
            <a:endParaRPr lang="en-US" altLang="zh-CN" dirty="0">
              <a:solidFill>
                <a:srgbClr val="2B166E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5AAD1059-4E0E-4885-BDCA-76FC3DB93E2A}"/>
              </a:ext>
            </a:extLst>
          </p:cNvPr>
          <p:cNvSpPr/>
          <p:nvPr userDrawn="1"/>
        </p:nvSpPr>
        <p:spPr>
          <a:xfrm>
            <a:off x="3521014" y="6534798"/>
            <a:ext cx="1716657" cy="244775"/>
          </a:xfrm>
          <a:prstGeom prst="chevron">
            <a:avLst/>
          </a:prstGeom>
          <a:solidFill>
            <a:srgbClr val="7030A0">
              <a:alpha val="10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00B6241B-587A-422F-898F-C97FEB01FB15}"/>
              </a:ext>
            </a:extLst>
          </p:cNvPr>
          <p:cNvSpPr/>
          <p:nvPr userDrawn="1"/>
        </p:nvSpPr>
        <p:spPr>
          <a:xfrm>
            <a:off x="5237671" y="6534799"/>
            <a:ext cx="1716657" cy="244775"/>
          </a:xfrm>
          <a:prstGeom prst="chevron">
            <a:avLst/>
          </a:prstGeom>
          <a:solidFill>
            <a:srgbClr val="7030A0">
              <a:alpha val="10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FBC6A39-A73E-4628-AB30-32B296813A21}"/>
              </a:ext>
            </a:extLst>
          </p:cNvPr>
          <p:cNvSpPr/>
          <p:nvPr userDrawn="1"/>
        </p:nvSpPr>
        <p:spPr>
          <a:xfrm>
            <a:off x="6954328" y="6534799"/>
            <a:ext cx="1716657" cy="244775"/>
          </a:xfrm>
          <a:prstGeom prst="chevron">
            <a:avLst/>
          </a:prstGeom>
          <a:solidFill>
            <a:srgbClr val="7030A0">
              <a:alpha val="40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Topic 3</a:t>
            </a:r>
          </a:p>
        </p:txBody>
      </p:sp>
    </p:spTree>
    <p:extLst>
      <p:ext uri="{BB962C8B-B14F-4D97-AF65-F5344CB8AC3E}">
        <p14:creationId xmlns:p14="http://schemas.microsoft.com/office/powerpoint/2010/main" val="3700063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UCI_sec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3C1BE2-16BB-42E5-9BF9-3184422D40D4}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0AA9DC3-A690-43BA-B5D9-145E58AF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57" y="0"/>
            <a:ext cx="11055927" cy="914399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6F8DFA-CA08-4D34-A9BB-EDA714BFBA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483" y="45719"/>
            <a:ext cx="822960" cy="8229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E43C2C9-AE15-403C-9F98-14F572D1DA47}"/>
              </a:ext>
            </a:extLst>
          </p:cNvPr>
          <p:cNvSpPr/>
          <p:nvPr userDrawn="1"/>
        </p:nvSpPr>
        <p:spPr>
          <a:xfrm>
            <a:off x="2676211" y="6627168"/>
            <a:ext cx="683957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Proprietary Information - dissemination and use restricted to members of the Advanced Casting Research Center </a:t>
            </a:r>
            <a:endParaRPr lang="en-US" sz="9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AEDDFBE3-8C2E-40D8-AE4B-2BB5FF528DA4}"/>
              </a:ext>
            </a:extLst>
          </p:cNvPr>
          <p:cNvSpPr/>
          <p:nvPr userDrawn="1"/>
        </p:nvSpPr>
        <p:spPr>
          <a:xfrm>
            <a:off x="2448702" y="6294750"/>
            <a:ext cx="1828800" cy="274320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5A4B4F77-E46B-41D5-AED1-8B51DF4C02D4}"/>
              </a:ext>
            </a:extLst>
          </p:cNvPr>
          <p:cNvSpPr/>
          <p:nvPr userDrawn="1"/>
        </p:nvSpPr>
        <p:spPr>
          <a:xfrm>
            <a:off x="4277502" y="6294750"/>
            <a:ext cx="1828800" cy="27432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Macroscale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714DACF3-7326-45E9-B16D-587A45E4CEE4}"/>
              </a:ext>
            </a:extLst>
          </p:cNvPr>
          <p:cNvSpPr/>
          <p:nvPr userDrawn="1"/>
        </p:nvSpPr>
        <p:spPr>
          <a:xfrm>
            <a:off x="7935102" y="6301143"/>
            <a:ext cx="1828800" cy="274320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Multiscale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1FBEC3C2-70EE-4F48-8329-EBCA232CA118}"/>
              </a:ext>
            </a:extLst>
          </p:cNvPr>
          <p:cNvSpPr/>
          <p:nvPr userDrawn="1"/>
        </p:nvSpPr>
        <p:spPr>
          <a:xfrm>
            <a:off x="9763902" y="6294750"/>
            <a:ext cx="1828800" cy="274320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65B903FD-F315-4046-A313-58D65140385E}"/>
              </a:ext>
            </a:extLst>
          </p:cNvPr>
          <p:cNvSpPr/>
          <p:nvPr userDrawn="1"/>
        </p:nvSpPr>
        <p:spPr>
          <a:xfrm>
            <a:off x="619902" y="6294750"/>
            <a:ext cx="1828800" cy="274320"/>
          </a:xfrm>
          <a:prstGeom prst="chevron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CE095D65-9C9D-4DEE-A12C-1304FC531E21}"/>
              </a:ext>
            </a:extLst>
          </p:cNvPr>
          <p:cNvSpPr/>
          <p:nvPr userDrawn="1"/>
        </p:nvSpPr>
        <p:spPr>
          <a:xfrm>
            <a:off x="6106302" y="6294750"/>
            <a:ext cx="1828800" cy="274320"/>
          </a:xfrm>
          <a:prstGeom prst="chevron">
            <a:avLst/>
          </a:prstGeom>
          <a:solidFill>
            <a:srgbClr val="FF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Microscale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6E556316-1F23-484A-823F-FAD9013E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3226" y="6447156"/>
            <a:ext cx="1127759" cy="365125"/>
          </a:xfrm>
        </p:spPr>
        <p:txBody>
          <a:bodyPr/>
          <a:lstStyle>
            <a:lvl1pPr>
              <a:defRPr lang="en-US" sz="1600" b="1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A4E7CBF4-8F78-4555-8F8F-5A53B7AA2D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18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70F0ED6F-4B8F-423F-B8A7-8E4EA4CB2A9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white">
          <a:xfrm>
            <a:off x="126524" y="116633"/>
            <a:ext cx="8846029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3000"/>
            </a:lvl1pPr>
          </a:lstStyle>
          <a:p>
            <a:pPr lvl="0"/>
            <a:r>
              <a:rPr lang="en-US" altLang="zh-CN" dirty="0"/>
              <a:t>Click to edit 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DBD31C-5976-4BFC-BF15-2F8F28B1C2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59772" y="6534799"/>
            <a:ext cx="820469" cy="24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charset="-122"/>
              </a:defRPr>
            </a:lvl1pPr>
          </a:lstStyle>
          <a:p>
            <a:fld id="{E294AF64-FC92-4E4E-9E42-CF08351F977D}" type="slidenum">
              <a:rPr lang="en-US" altLang="zh-CN" smtClean="0">
                <a:solidFill>
                  <a:srgbClr val="2B166E"/>
                </a:solidFill>
              </a:rPr>
              <a:pPr/>
              <a:t>‹#›</a:t>
            </a:fld>
            <a:endParaRPr lang="en-US" altLang="zh-CN" dirty="0">
              <a:solidFill>
                <a:srgbClr val="2B166E"/>
              </a:solidFill>
            </a:endParaRP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C5777B6A-711A-4E61-BCC9-9A778BDA8071}"/>
              </a:ext>
            </a:extLst>
          </p:cNvPr>
          <p:cNvSpPr/>
          <p:nvPr userDrawn="1"/>
        </p:nvSpPr>
        <p:spPr>
          <a:xfrm>
            <a:off x="1804357" y="6534798"/>
            <a:ext cx="1716657" cy="244775"/>
          </a:xfrm>
          <a:prstGeom prst="chevron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9525">
            <a:solidFill>
              <a:schemeClr val="tx1">
                <a:alpha val="3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58F3F099-C81B-4FB6-8317-D6C7CCF2C097}"/>
              </a:ext>
            </a:extLst>
          </p:cNvPr>
          <p:cNvSpPr/>
          <p:nvPr userDrawn="1"/>
        </p:nvSpPr>
        <p:spPr>
          <a:xfrm>
            <a:off x="3521014" y="6539401"/>
            <a:ext cx="1716657" cy="244775"/>
          </a:xfrm>
          <a:prstGeom prst="chevron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  <a:ln w="9525">
            <a:solidFill>
              <a:schemeClr val="tx1">
                <a:alpha val="3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042C14D-14A3-4530-B440-DEB99182FB55}"/>
              </a:ext>
            </a:extLst>
          </p:cNvPr>
          <p:cNvSpPr/>
          <p:nvPr userDrawn="1"/>
        </p:nvSpPr>
        <p:spPr>
          <a:xfrm>
            <a:off x="5237671" y="6534799"/>
            <a:ext cx="1716657" cy="244775"/>
          </a:xfrm>
          <a:prstGeom prst="chevron">
            <a:avLst/>
          </a:prstGeom>
          <a:solidFill>
            <a:srgbClr val="C9C3D5">
              <a:alpha val="30000"/>
            </a:srgbClr>
          </a:solidFill>
          <a:ln w="9525">
            <a:solidFill>
              <a:schemeClr val="tx1">
                <a:alpha val="3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75765C6D-EB60-4D51-AC4B-6FAB645D02CB}"/>
              </a:ext>
            </a:extLst>
          </p:cNvPr>
          <p:cNvSpPr/>
          <p:nvPr userDrawn="1"/>
        </p:nvSpPr>
        <p:spPr>
          <a:xfrm>
            <a:off x="6954328" y="6534799"/>
            <a:ext cx="1716657" cy="244775"/>
          </a:xfrm>
          <a:prstGeom prst="chevron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 w="9525">
            <a:solidFill>
              <a:schemeClr val="tx1">
                <a:alpha val="3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C3835821-0D5E-4573-AC0B-322F84F7E501}"/>
              </a:ext>
            </a:extLst>
          </p:cNvPr>
          <p:cNvSpPr/>
          <p:nvPr userDrawn="1"/>
        </p:nvSpPr>
        <p:spPr>
          <a:xfrm>
            <a:off x="8670985" y="6534798"/>
            <a:ext cx="1716657" cy="244775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241180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UCI_sec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3C1BE2-16BB-42E5-9BF9-3184422D40D4}"/>
              </a:ext>
            </a:extLst>
          </p:cNvPr>
          <p:cNvSpPr/>
          <p:nvPr userDrawn="1"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0AA9DC3-A690-43BA-B5D9-145E58AF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57" y="0"/>
            <a:ext cx="11055927" cy="640080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6F8DFA-CA08-4D34-A9BB-EDA714BFBA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662" y="0"/>
            <a:ext cx="640080" cy="640080"/>
          </a:xfrm>
          <a:prstGeom prst="rect">
            <a:avLst/>
          </a:prstGeom>
        </p:spPr>
      </p:pic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DDE7B758-8BD7-5870-A1E0-BA53EBFE6ABF}"/>
              </a:ext>
            </a:extLst>
          </p:cNvPr>
          <p:cNvSpPr/>
          <p:nvPr userDrawn="1"/>
        </p:nvSpPr>
        <p:spPr>
          <a:xfrm>
            <a:off x="3265553" y="6482761"/>
            <a:ext cx="1828800" cy="274320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B6E8860A-898E-9B23-38E0-B1B61DA95716}"/>
              </a:ext>
            </a:extLst>
          </p:cNvPr>
          <p:cNvSpPr/>
          <p:nvPr userDrawn="1"/>
        </p:nvSpPr>
        <p:spPr>
          <a:xfrm>
            <a:off x="5217954" y="6482761"/>
            <a:ext cx="2124506" cy="27432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E575E482-C1B9-1A5B-94C4-FA1960C3E7E9}"/>
              </a:ext>
            </a:extLst>
          </p:cNvPr>
          <p:cNvSpPr/>
          <p:nvPr userDrawn="1"/>
        </p:nvSpPr>
        <p:spPr>
          <a:xfrm>
            <a:off x="7466061" y="6482761"/>
            <a:ext cx="1828800" cy="274320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Experiments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F0E12F18-9523-5BB9-823A-7D3B85E48EF5}"/>
              </a:ext>
            </a:extLst>
          </p:cNvPr>
          <p:cNvSpPr/>
          <p:nvPr userDrawn="1"/>
        </p:nvSpPr>
        <p:spPr>
          <a:xfrm>
            <a:off x="9418462" y="6482760"/>
            <a:ext cx="1828800" cy="274320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83FA71D5-058D-82CD-590B-3CCCE52C72E4}"/>
              </a:ext>
            </a:extLst>
          </p:cNvPr>
          <p:cNvSpPr/>
          <p:nvPr userDrawn="1"/>
        </p:nvSpPr>
        <p:spPr>
          <a:xfrm>
            <a:off x="1313152" y="6482761"/>
            <a:ext cx="1828800" cy="274320"/>
          </a:xfrm>
          <a:prstGeom prst="chevron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AA3569EC-69F2-CB9D-891C-D72924EF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6983" y="6482759"/>
            <a:ext cx="1127759" cy="288930"/>
          </a:xfrm>
        </p:spPr>
        <p:txBody>
          <a:bodyPr/>
          <a:lstStyle>
            <a:lvl1pPr>
              <a:defRPr lang="en-US" sz="1600" b="1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A4E7CBF4-8F78-4555-8F8F-5A53B7AA2D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144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42FA46-82CF-4918-AE19-BB1DD5BBBF8F}"/>
              </a:ext>
            </a:extLst>
          </p:cNvPr>
          <p:cNvSpPr/>
          <p:nvPr userDrawn="1"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7EAF-D9C1-453F-8C6B-92DCC4BE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66221"/>
            <a:ext cx="679764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/>
            </a:lvl1pPr>
          </a:lstStyle>
          <a:p>
            <a:fld id="{65F93569-484B-4635-9B22-421E9FC125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Related image">
            <a:extLst>
              <a:ext uri="{FF2B5EF4-FFF2-40B4-BE49-F238E27FC236}">
                <a16:creationId xmlns:a16="http://schemas.microsoft.com/office/drawing/2014/main" id="{C68C1793-E654-4CD7-B34D-006E98624D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6364" y="6378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D9A569-7937-4516-BC48-F4FDD6D651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436" y="0"/>
            <a:ext cx="11195364" cy="5847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2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AEC0A2-8A6C-4FDB-9945-029EA6B255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436" y="671119"/>
            <a:ext cx="11875128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just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E6097-D736-434A-AE13-0EB8885A70B1}"/>
              </a:ext>
            </a:extLst>
          </p:cNvPr>
          <p:cNvSpPr txBox="1"/>
          <p:nvPr userDrawn="1"/>
        </p:nvSpPr>
        <p:spPr>
          <a:xfrm>
            <a:off x="158436" y="6423569"/>
            <a:ext cx="2746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400" b="1" dirty="0">
                <a:hlinkClick r:id="rId3"/>
              </a:rPr>
              <a:t>https://pmacslab.eng.uci.edu/</a:t>
            </a:r>
            <a:r>
              <a:rPr lang="en-US" sz="1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485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C8CF3-CF89-D6E6-D6C8-782F8D10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8EAE9-3481-416C-A4C6-8934B2EFC593}" type="datetimeFigureOut">
              <a:rPr lang="en-AE" smtClean="0"/>
              <a:t>26/11/2025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63C50-EBCB-EDC2-2EE4-CEBE12A12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48FAB-4D61-7385-6388-AF1627179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FC960-BD93-462E-B050-BC8881A1C62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44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38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morasar@uci.edu" TargetMode="External"/><Relationship Id="rId2" Type="http://schemas.openxmlformats.org/officeDocument/2006/relationships/hyperlink" Target="mailto:zzanjani@uci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12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11" Type="http://schemas.openxmlformats.org/officeDocument/2006/relationships/image" Target="../media/image12.jpeg"/><Relationship Id="rId5" Type="http://schemas.openxmlformats.org/officeDocument/2006/relationships/image" Target="../media/image11.jpeg"/><Relationship Id="rId10" Type="http://schemas.openxmlformats.org/officeDocument/2006/relationships/image" Target="../media/image15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19.png"/><Relationship Id="rId3" Type="http://schemas.openxmlformats.org/officeDocument/2006/relationships/image" Target="../media/image18.png"/><Relationship Id="rId7" Type="http://schemas.openxmlformats.org/officeDocument/2006/relationships/image" Target="../media/image301.png"/><Relationship Id="rId12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11" Type="http://schemas.openxmlformats.org/officeDocument/2006/relationships/image" Target="../media/image341.png"/><Relationship Id="rId5" Type="http://schemas.openxmlformats.org/officeDocument/2006/relationships/image" Target="../media/image200.png"/><Relationship Id="rId10" Type="http://schemas.openxmlformats.org/officeDocument/2006/relationships/image" Target="../media/image332.png"/><Relationship Id="rId9" Type="http://schemas.openxmlformats.org/officeDocument/2006/relationships/image" Target="../media/image321.png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6.png"/><Relationship Id="rId3" Type="http://schemas.openxmlformats.org/officeDocument/2006/relationships/image" Target="../media/image170.png"/><Relationship Id="rId7" Type="http://schemas.openxmlformats.org/officeDocument/2006/relationships/image" Target="../media/image27.png"/><Relationship Id="rId12" Type="http://schemas.openxmlformats.org/officeDocument/2006/relationships/image" Target="../media/image25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1.png"/><Relationship Id="rId15" Type="http://schemas.openxmlformats.org/officeDocument/2006/relationships/image" Target="../media/image33.png"/><Relationship Id="rId10" Type="http://schemas.openxmlformats.org/officeDocument/2006/relationships/image" Target="../media/image29.png"/><Relationship Id="rId4" Type="http://schemas.openxmlformats.org/officeDocument/2006/relationships/image" Target="../media/image21.png"/><Relationship Id="rId9" Type="http://schemas.openxmlformats.org/officeDocument/2006/relationships/image" Target="../media/image28.png"/><Relationship Id="rId1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60.png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E09D45-913A-3110-73A2-534DFD745ED5}"/>
              </a:ext>
            </a:extLst>
          </p:cNvPr>
          <p:cNvSpPr txBox="1"/>
          <p:nvPr/>
        </p:nvSpPr>
        <p:spPr>
          <a:xfrm>
            <a:off x="568899" y="1994804"/>
            <a:ext cx="110541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/>
              <a:t>Multi-fidelity Cost-aware Bayesian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0E06C5-6668-BB6E-6B81-177ACA7F749D}"/>
              </a:ext>
            </a:extLst>
          </p:cNvPr>
          <p:cNvSpPr txBox="1"/>
          <p:nvPr/>
        </p:nvSpPr>
        <p:spPr>
          <a:xfrm>
            <a:off x="3731405" y="3687901"/>
            <a:ext cx="472918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Sanaz Zanjani Foumani</a:t>
            </a:r>
            <a:endParaRPr lang="en-US" sz="3600" b="1" dirty="0"/>
          </a:p>
          <a:p>
            <a:pPr algn="ctr"/>
            <a:r>
              <a:rPr lang="en-US" sz="2000" dirty="0"/>
              <a:t>PhD Student</a:t>
            </a:r>
            <a:endParaRPr lang="en-US" sz="3200" dirty="0"/>
          </a:p>
          <a:p>
            <a:pPr algn="ctr"/>
            <a:r>
              <a:rPr lang="en-US" sz="2000" dirty="0"/>
              <a:t>Mechanical and Aerospace Engineering</a:t>
            </a:r>
          </a:p>
          <a:p>
            <a:pPr algn="ctr"/>
            <a:r>
              <a:rPr lang="en-US" sz="2000" dirty="0"/>
              <a:t>University of California, Irvine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  <a:hlinkClick r:id="rId2"/>
              </a:rPr>
              <a:t>zzanjani@uci.edu</a:t>
            </a:r>
            <a:endParaRPr lang="en-US" sz="2000" dirty="0">
              <a:solidFill>
                <a:schemeClr val="accent1"/>
              </a:solidFill>
            </a:endParaRPr>
          </a:p>
          <a:p>
            <a:pPr algn="ctr"/>
            <a:endParaRPr lang="en-US" sz="2000" dirty="0">
              <a:solidFill>
                <a:schemeClr val="accent1"/>
              </a:solidFill>
            </a:endParaRPr>
          </a:p>
          <a:p>
            <a:pPr algn="ctr"/>
            <a:r>
              <a:rPr lang="en-US" sz="2000" b="1" dirty="0"/>
              <a:t>Advisor: Dr. Ramin </a:t>
            </a:r>
            <a:r>
              <a:rPr lang="en-US" sz="2000" b="1" dirty="0" err="1"/>
              <a:t>Bostanabad</a:t>
            </a:r>
            <a:endParaRPr lang="en-US" sz="2000" b="1" dirty="0"/>
          </a:p>
          <a:p>
            <a:pPr algn="ctr"/>
            <a:r>
              <a:rPr lang="en-US" sz="2000" dirty="0">
                <a:hlinkClick r:id="rId3"/>
              </a:rPr>
              <a:t>raminb@uci.edu</a:t>
            </a:r>
            <a:r>
              <a:rPr lang="en-US" sz="2000" dirty="0"/>
              <a:t> </a:t>
            </a:r>
          </a:p>
          <a:p>
            <a:pPr algn="ctr"/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76D4B-D431-D798-8E71-18F4BE03910C}"/>
              </a:ext>
            </a:extLst>
          </p:cNvPr>
          <p:cNvSpPr txBox="1"/>
          <p:nvPr/>
        </p:nvSpPr>
        <p:spPr>
          <a:xfrm>
            <a:off x="2470900" y="6453216"/>
            <a:ext cx="7250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USNCCM17, July  2023</a:t>
            </a:r>
          </a:p>
        </p:txBody>
      </p:sp>
    </p:spTree>
    <p:extLst>
      <p:ext uri="{BB962C8B-B14F-4D97-AF65-F5344CB8AC3E}">
        <p14:creationId xmlns:p14="http://schemas.microsoft.com/office/powerpoint/2010/main" val="156878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10AFA7-DC5B-4A70-BDE8-4C904D62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D7FAA-6BF6-4CC8-A9B1-1EE9194B42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Optimum data collection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EE1D1-C184-4795-8889-2EA934580AAD}"/>
              </a:ext>
            </a:extLst>
          </p:cNvPr>
          <p:cNvSpPr txBox="1"/>
          <p:nvPr/>
        </p:nvSpPr>
        <p:spPr>
          <a:xfrm>
            <a:off x="2563979" y="6198832"/>
            <a:ext cx="96280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</a:rPr>
              <a:t>Zhou, Y.C., H.Y. Dong, X.H. Wang, and S.Q. Chen, Electronic structure of the layered ternary carbides ti2snc and ti2gec. Journal of Physics: Condensed Matter, 2000. 12(46): p. 9617.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2BD83B6-9296-4D74-9E13-CC4F3CDE1F2D}"/>
                  </a:ext>
                </a:extLst>
              </p:cNvPr>
              <p:cNvSpPr/>
              <p:nvPr/>
            </p:nvSpPr>
            <p:spPr>
              <a:xfrm>
                <a:off x="97557" y="538117"/>
                <a:ext cx="11875128" cy="13051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dirty="0">
                    <a:effectLst/>
                  </a:rPr>
                  <a:t>Design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8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800" dirty="0">
                    <a:latin typeface="+mj-lt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+mj-lt"/>
                  </a:rPr>
                  <a:t>nanolaminate ternary alloys that exhibit many of the beneficial properties of both ceramic and metallic materials: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2BD83B6-9296-4D74-9E13-CC4F3CDE1F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7" y="538117"/>
                <a:ext cx="11875128" cy="1305165"/>
              </a:xfrm>
              <a:prstGeom prst="rect">
                <a:avLst/>
              </a:prstGeom>
              <a:blipFill>
                <a:blip r:embed="rId3"/>
                <a:stretch>
                  <a:fillRect l="-1027" r="-1078" b="-1215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9D5BB95-5505-4C71-8A22-D6D63AB5934C}"/>
              </a:ext>
            </a:extLst>
          </p:cNvPr>
          <p:cNvSpPr txBox="1"/>
          <p:nvPr/>
        </p:nvSpPr>
        <p:spPr>
          <a:xfrm>
            <a:off x="120505" y="3484111"/>
            <a:ext cx="56356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Q.1. How can we find the composition with the largest bulk modulus without running 240 expensive DFT simulations?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400" b="1" dirty="0"/>
          </a:p>
          <a:p>
            <a:pPr algn="just"/>
            <a:r>
              <a:rPr lang="en-US" sz="2400" b="1" dirty="0"/>
              <a:t>Q.2. Can we use inaccurate but cheap simulations?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0FE79C3-B122-4E0E-8342-75ADD5F24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900" y="3869256"/>
            <a:ext cx="5281366" cy="20680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E4E367-0A80-484F-8B91-4B51F5EA6101}"/>
                  </a:ext>
                </a:extLst>
              </p:cNvPr>
              <p:cNvSpPr txBox="1"/>
              <p:nvPr/>
            </p:nvSpPr>
            <p:spPr>
              <a:xfrm>
                <a:off x="219315" y="1991540"/>
                <a:ext cx="10722358" cy="1271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An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early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transition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metal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24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𝑆𝑐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𝑇𝑖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𝐶𝑟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𝑍𝑟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𝑁𝑏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𝑀𝑜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𝐻𝑓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𝑇𝑎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𝑊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  →  10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main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group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element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𝐴𝑙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𝑆𝑖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𝐺𝑎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𝐺𝑒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𝐴𝑠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𝐶𝑑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𝐼𝑛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𝑆𝑛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𝑇𝑙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𝑃𝑏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→  12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Either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carbon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nitrogen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                                                           →  2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E4E367-0A80-484F-8B91-4B51F5EA6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15" y="1991540"/>
                <a:ext cx="10722358" cy="12714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706B73-A2D6-4D20-85A9-71BC5375FFAB}"/>
                  </a:ext>
                </a:extLst>
              </p:cNvPr>
              <p:cNvSpPr txBox="1"/>
              <p:nvPr/>
            </p:nvSpPr>
            <p:spPr>
              <a:xfrm>
                <a:off x="10726831" y="2243493"/>
                <a:ext cx="124585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𝟐𝟒𝟎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706B73-A2D6-4D20-85A9-71BC5375F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831" y="2243493"/>
                <a:ext cx="1245854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655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648E1B-ACAD-3567-369F-DB14849B6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9A1AA-C02E-B01D-5207-E86A419E51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b="1" dirty="0"/>
              <a:t>Q.1     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Bayesian optimization (BO)</a:t>
            </a:r>
            <a:endParaRPr lang="en-AE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58694-8C3C-C324-F89A-9F7294C994A0}"/>
              </a:ext>
            </a:extLst>
          </p:cNvPr>
          <p:cNvSpPr txBox="1"/>
          <p:nvPr/>
        </p:nvSpPr>
        <p:spPr>
          <a:xfrm>
            <a:off x="125719" y="550209"/>
            <a:ext cx="118533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+mj-lt"/>
                <a:cs typeface="Times New Roman" panose="02020603050405020304" pitchFamily="18" charset="0"/>
              </a:rPr>
              <a:t>Algorithm for single source BO with continuous data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/>
              <a:t>Fit an </a:t>
            </a:r>
            <a:r>
              <a:rPr lang="en-US" sz="2400" b="1" dirty="0"/>
              <a:t>emulator </a:t>
            </a:r>
            <a:r>
              <a:rPr lang="en-US" sz="2400" dirty="0"/>
              <a:t>to an initial training data.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/>
              <a:t>Use the emulator in the </a:t>
            </a:r>
            <a:r>
              <a:rPr lang="en-US" sz="2400" b="1" dirty="0"/>
              <a:t>acquisition function</a:t>
            </a:r>
            <a:r>
              <a:rPr lang="en-US" sz="2400" dirty="0"/>
              <a:t> that balances exploration and exploitation to identify the next candidate.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/>
              <a:t>Add the candidate to the data and repeat until convergence.</a:t>
            </a:r>
          </a:p>
          <a:p>
            <a:pPr algn="just"/>
            <a:endParaRPr lang="en-A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283B1C-0730-01C6-A40D-FD7EF71BDE37}"/>
              </a:ext>
            </a:extLst>
          </p:cNvPr>
          <p:cNvGrpSpPr/>
          <p:nvPr/>
        </p:nvGrpSpPr>
        <p:grpSpPr>
          <a:xfrm>
            <a:off x="1881673" y="2704565"/>
            <a:ext cx="10255500" cy="3930529"/>
            <a:chOff x="795393" y="1109521"/>
            <a:chExt cx="10255500" cy="39305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20012F-8D12-C6EB-CCF6-86458DDF27AB}"/>
                </a:ext>
              </a:extLst>
            </p:cNvPr>
            <p:cNvGrpSpPr/>
            <p:nvPr/>
          </p:nvGrpSpPr>
          <p:grpSpPr>
            <a:xfrm>
              <a:off x="795393" y="1109521"/>
              <a:ext cx="8631757" cy="3930529"/>
              <a:chOff x="141516" y="1118268"/>
              <a:chExt cx="10319675" cy="533946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98EC6E-BE8B-E737-14BF-C5A272B9C2FD}"/>
                  </a:ext>
                </a:extLst>
              </p:cNvPr>
              <p:cNvSpPr txBox="1"/>
              <p:nvPr/>
            </p:nvSpPr>
            <p:spPr>
              <a:xfrm>
                <a:off x="1546142" y="1410048"/>
                <a:ext cx="1174019" cy="541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Yes</a:t>
                </a:r>
                <a:endParaRPr lang="en-AE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34C073-3B31-56ED-4953-FC018E183B2A}"/>
                  </a:ext>
                </a:extLst>
              </p:cNvPr>
              <p:cNvSpPr txBox="1"/>
              <p:nvPr/>
            </p:nvSpPr>
            <p:spPr>
              <a:xfrm>
                <a:off x="4698811" y="1404648"/>
                <a:ext cx="1134215" cy="627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endParaRPr lang="en-AE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lowchart: Preparation 9">
                <a:extLst>
                  <a:ext uri="{FF2B5EF4-FFF2-40B4-BE49-F238E27FC236}">
                    <a16:creationId xmlns:a16="http://schemas.microsoft.com/office/drawing/2014/main" id="{35E6C550-DFED-ED32-A05A-D9F570F70160}"/>
                  </a:ext>
                </a:extLst>
              </p:cNvPr>
              <p:cNvSpPr/>
              <p:nvPr/>
            </p:nvSpPr>
            <p:spPr>
              <a:xfrm>
                <a:off x="2342262" y="1126359"/>
                <a:ext cx="2745703" cy="422284"/>
              </a:xfrm>
              <a:prstGeom prst="flowChartPreparation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Converged?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046E60E-A2D0-F23D-8A93-A4E7446AC8A1}"/>
                  </a:ext>
                </a:extLst>
              </p:cNvPr>
              <p:cNvSpPr/>
              <p:nvPr/>
            </p:nvSpPr>
            <p:spPr>
              <a:xfrm>
                <a:off x="8616308" y="1132325"/>
                <a:ext cx="1844883" cy="42228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Collect Data</a:t>
                </a:r>
                <a:endParaRPr lang="en-A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5EB709D-38B0-17B1-6106-4E6F74A3D648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>
              <a:xfrm flipV="1">
                <a:off x="8303585" y="1315654"/>
                <a:ext cx="29003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4553D53-4BF5-24B3-9B98-57D118475436}"/>
                  </a:ext>
                </a:extLst>
              </p:cNvPr>
              <p:cNvSpPr/>
              <p:nvPr/>
            </p:nvSpPr>
            <p:spPr>
              <a:xfrm>
                <a:off x="5517559" y="1118268"/>
                <a:ext cx="2786027" cy="422499"/>
              </a:xfrm>
              <a:prstGeom prst="round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Acquisition Function</a:t>
                </a:r>
                <a:endParaRPr lang="en-A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0B348BF-39B3-3943-2DFA-C8D91851FC63}"/>
                  </a:ext>
                </a:extLst>
              </p:cNvPr>
              <p:cNvCxnSpPr>
                <a:cxnSpLocks/>
                <a:stCxn id="10" idx="3"/>
                <a:endCxn id="13" idx="1"/>
              </p:cNvCxnSpPr>
              <p:nvPr/>
            </p:nvCxnSpPr>
            <p:spPr>
              <a:xfrm flipV="1">
                <a:off x="5087964" y="1329518"/>
                <a:ext cx="429595" cy="798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EBCB4A7-FF09-9E2B-6938-6BB49B93D794}"/>
                  </a:ext>
                </a:extLst>
              </p:cNvPr>
              <p:cNvCxnSpPr>
                <a:cxnSpLocks/>
                <a:stCxn id="10" idx="1"/>
                <a:endCxn id="16" idx="3"/>
              </p:cNvCxnSpPr>
              <p:nvPr/>
            </p:nvCxnSpPr>
            <p:spPr>
              <a:xfrm flipH="1" flipV="1">
                <a:off x="1861960" y="1329519"/>
                <a:ext cx="480302" cy="7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Flowchart: Preparation 15">
                <a:extLst>
                  <a:ext uri="{FF2B5EF4-FFF2-40B4-BE49-F238E27FC236}">
                    <a16:creationId xmlns:a16="http://schemas.microsoft.com/office/drawing/2014/main" id="{609045E5-3C4D-623C-9450-2723A08075C9}"/>
                  </a:ext>
                </a:extLst>
              </p:cNvPr>
              <p:cNvSpPr/>
              <p:nvPr/>
            </p:nvSpPr>
            <p:spPr>
              <a:xfrm>
                <a:off x="286767" y="1118377"/>
                <a:ext cx="1575194" cy="422284"/>
              </a:xfrm>
              <a:prstGeom prst="flowChartPreparation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EXIT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5D4187A-B8E0-7813-90EC-3CC7A9D63F19}"/>
                  </a:ext>
                </a:extLst>
              </p:cNvPr>
              <p:cNvSpPr/>
              <p:nvPr/>
            </p:nvSpPr>
            <p:spPr>
              <a:xfrm>
                <a:off x="8907755" y="2750529"/>
                <a:ext cx="1452936" cy="429041"/>
              </a:xfrm>
              <a:prstGeom prst="round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Emulator</a:t>
                </a:r>
                <a:endParaRPr lang="en-A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640C317-FC3B-A99F-9700-45EDCA79BB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49114" y="1858857"/>
                <a:ext cx="1" cy="62723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1520B0B-B7CB-E3D9-2ACD-2957FB1C624A}"/>
                  </a:ext>
                </a:extLst>
              </p:cNvPr>
              <p:cNvGrpSpPr/>
              <p:nvPr/>
            </p:nvGrpSpPr>
            <p:grpSpPr>
              <a:xfrm>
                <a:off x="141516" y="1950534"/>
                <a:ext cx="8162070" cy="4507201"/>
                <a:chOff x="1675083" y="1235087"/>
                <a:chExt cx="8162070" cy="4507201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2C8AB314-6B8A-5651-0CFD-40AEFF8379B9}"/>
                    </a:ext>
                  </a:extLst>
                </p:cNvPr>
                <p:cNvGrpSpPr/>
                <p:nvPr/>
              </p:nvGrpSpPr>
              <p:grpSpPr>
                <a:xfrm>
                  <a:off x="1675083" y="1235087"/>
                  <a:ext cx="8162070" cy="4507201"/>
                  <a:chOff x="2079210" y="1622666"/>
                  <a:chExt cx="6475067" cy="3766741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3C16DA01-A078-1481-939D-E3F9FA025E7B}"/>
                      </a:ext>
                    </a:extLst>
                  </p:cNvPr>
                  <p:cNvGrpSpPr/>
                  <p:nvPr/>
                </p:nvGrpSpPr>
                <p:grpSpPr>
                  <a:xfrm>
                    <a:off x="2079210" y="1622666"/>
                    <a:ext cx="6475067" cy="3766741"/>
                    <a:chOff x="2079210" y="1622666"/>
                    <a:chExt cx="6475067" cy="3766741"/>
                  </a:xfrm>
                </p:grpSpPr>
                <p:pic>
                  <p:nvPicPr>
                    <p:cNvPr id="33" name="Picture 32" descr="A picture containing diagram, plot, line, text&#10;&#10;Description automatically generated">
                      <a:extLst>
                        <a:ext uri="{FF2B5EF4-FFF2-40B4-BE49-F238E27FC236}">
                          <a16:creationId xmlns:a16="http://schemas.microsoft.com/office/drawing/2014/main" id="{F0258BDB-BED3-4A49-79BB-25FD4AD6CB7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079210" y="1622666"/>
                      <a:ext cx="6475067" cy="376674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Freeform: Shape 33">
                      <a:extLst>
                        <a:ext uri="{FF2B5EF4-FFF2-40B4-BE49-F238E27FC236}">
                          <a16:creationId xmlns:a16="http://schemas.microsoft.com/office/drawing/2014/main" id="{A9D57E3C-4E11-7AC5-B1EA-2BED018E74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92483" y="2025706"/>
                      <a:ext cx="4733994" cy="2484697"/>
                    </a:xfrm>
                    <a:custGeom>
                      <a:avLst/>
                      <a:gdLst>
                        <a:gd name="connsiteX0" fmla="*/ 21169 w 4733994"/>
                        <a:gd name="connsiteY0" fmla="*/ 1426485 h 2484697"/>
                        <a:gd name="connsiteX1" fmla="*/ 431987 w 4733994"/>
                        <a:gd name="connsiteY1" fmla="*/ 1863807 h 2484697"/>
                        <a:gd name="connsiteX2" fmla="*/ 584387 w 4733994"/>
                        <a:gd name="connsiteY2" fmla="*/ 2347511 h 2484697"/>
                        <a:gd name="connsiteX3" fmla="*/ 962074 w 4733994"/>
                        <a:gd name="connsiteY3" fmla="*/ 2480033 h 2484697"/>
                        <a:gd name="connsiteX4" fmla="*/ 1353013 w 4733994"/>
                        <a:gd name="connsiteY4" fmla="*/ 2221616 h 2484697"/>
                        <a:gd name="connsiteX5" fmla="*/ 2194526 w 4733994"/>
                        <a:gd name="connsiteY5" fmla="*/ 1121685 h 2484697"/>
                        <a:gd name="connsiteX6" fmla="*/ 3413726 w 4733994"/>
                        <a:gd name="connsiteY6" fmla="*/ 2002955 h 2484697"/>
                        <a:gd name="connsiteX7" fmla="*/ 4546787 w 4733994"/>
                        <a:gd name="connsiteY7" fmla="*/ 1870433 h 2484697"/>
                        <a:gd name="connsiteX8" fmla="*/ 4659430 w 4733994"/>
                        <a:gd name="connsiteY8" fmla="*/ 21755 h 2484697"/>
                        <a:gd name="connsiteX9" fmla="*/ 3791413 w 4733994"/>
                        <a:gd name="connsiteY9" fmla="*/ 929529 h 2484697"/>
                        <a:gd name="connsiteX10" fmla="*/ 3433604 w 4733994"/>
                        <a:gd name="connsiteY10" fmla="*/ 2022833 h 2484697"/>
                        <a:gd name="connsiteX11" fmla="*/ 2472821 w 4733994"/>
                        <a:gd name="connsiteY11" fmla="*/ 2473407 h 2484697"/>
                        <a:gd name="connsiteX12" fmla="*/ 1412647 w 4733994"/>
                        <a:gd name="connsiteY12" fmla="*/ 2181859 h 2484697"/>
                        <a:gd name="connsiteX13" fmla="*/ 597639 w 4733994"/>
                        <a:gd name="connsiteY13" fmla="*/ 2340885 h 2484697"/>
                        <a:gd name="connsiteX14" fmla="*/ 120560 w 4733994"/>
                        <a:gd name="connsiteY14" fmla="*/ 2115598 h 2484697"/>
                        <a:gd name="connsiteX15" fmla="*/ 21169 w 4733994"/>
                        <a:gd name="connsiteY15" fmla="*/ 1426485 h 24846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733994" h="2484697">
                          <a:moveTo>
                            <a:pt x="21169" y="1426485"/>
                          </a:moveTo>
                          <a:cubicBezTo>
                            <a:pt x="73073" y="1384520"/>
                            <a:pt x="338117" y="1710303"/>
                            <a:pt x="431987" y="1863807"/>
                          </a:cubicBezTo>
                          <a:cubicBezTo>
                            <a:pt x="525857" y="2017311"/>
                            <a:pt x="496039" y="2244807"/>
                            <a:pt x="584387" y="2347511"/>
                          </a:cubicBezTo>
                          <a:cubicBezTo>
                            <a:pt x="672735" y="2450215"/>
                            <a:pt x="833970" y="2501016"/>
                            <a:pt x="962074" y="2480033"/>
                          </a:cubicBezTo>
                          <a:cubicBezTo>
                            <a:pt x="1090178" y="2459050"/>
                            <a:pt x="1147604" y="2448007"/>
                            <a:pt x="1353013" y="2221616"/>
                          </a:cubicBezTo>
                          <a:cubicBezTo>
                            <a:pt x="1558422" y="1995225"/>
                            <a:pt x="1851074" y="1158128"/>
                            <a:pt x="2194526" y="1121685"/>
                          </a:cubicBezTo>
                          <a:cubicBezTo>
                            <a:pt x="2537978" y="1085242"/>
                            <a:pt x="3021683" y="1878164"/>
                            <a:pt x="3413726" y="2002955"/>
                          </a:cubicBezTo>
                          <a:cubicBezTo>
                            <a:pt x="3805769" y="2127746"/>
                            <a:pt x="4339170" y="2200633"/>
                            <a:pt x="4546787" y="1870433"/>
                          </a:cubicBezTo>
                          <a:cubicBezTo>
                            <a:pt x="4754404" y="1540233"/>
                            <a:pt x="4785326" y="178572"/>
                            <a:pt x="4659430" y="21755"/>
                          </a:cubicBezTo>
                          <a:cubicBezTo>
                            <a:pt x="4533534" y="-135062"/>
                            <a:pt x="3995717" y="596016"/>
                            <a:pt x="3791413" y="929529"/>
                          </a:cubicBezTo>
                          <a:cubicBezTo>
                            <a:pt x="3587109" y="1263042"/>
                            <a:pt x="3653369" y="1765520"/>
                            <a:pt x="3433604" y="2022833"/>
                          </a:cubicBezTo>
                          <a:cubicBezTo>
                            <a:pt x="3213839" y="2280146"/>
                            <a:pt x="2809647" y="2446903"/>
                            <a:pt x="2472821" y="2473407"/>
                          </a:cubicBezTo>
                          <a:cubicBezTo>
                            <a:pt x="2135995" y="2499911"/>
                            <a:pt x="1725177" y="2203946"/>
                            <a:pt x="1412647" y="2181859"/>
                          </a:cubicBezTo>
                          <a:cubicBezTo>
                            <a:pt x="1100117" y="2159772"/>
                            <a:pt x="812987" y="2351928"/>
                            <a:pt x="597639" y="2340885"/>
                          </a:cubicBezTo>
                          <a:cubicBezTo>
                            <a:pt x="382291" y="2329842"/>
                            <a:pt x="224369" y="2266894"/>
                            <a:pt x="120560" y="2115598"/>
                          </a:cubicBezTo>
                          <a:cubicBezTo>
                            <a:pt x="16751" y="1964302"/>
                            <a:pt x="-30735" y="1468450"/>
                            <a:pt x="21169" y="1426485"/>
                          </a:cubicBezTo>
                          <a:close/>
                        </a:path>
                      </a:pathLst>
                    </a:custGeom>
                    <a:solidFill>
                      <a:srgbClr val="FFFF00">
                        <a:alpha val="20000"/>
                      </a:srgbClr>
                    </a:solidFill>
                    <a:ln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AE"/>
                    </a:p>
                  </p:txBody>
                </p:sp>
                <p:sp>
                  <p:nvSpPr>
                    <p:cNvPr id="35" name="Oval 34">
                      <a:extLst>
                        <a:ext uri="{FF2B5EF4-FFF2-40B4-BE49-F238E27FC236}">
                          <a16:creationId xmlns:a16="http://schemas.microsoft.com/office/drawing/2014/main" id="{7FCA05EA-7384-7880-DCEB-B01C95F504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48250" y="2000516"/>
                      <a:ext cx="136576" cy="163481"/>
                    </a:xfrm>
                    <a:prstGeom prst="ellipse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/>
                    </a:p>
                  </p:txBody>
                </p:sp>
                <p:sp>
                  <p:nvSpPr>
                    <p:cNvPr id="37" name="Oval 36">
                      <a:extLst>
                        <a:ext uri="{FF2B5EF4-FFF2-40B4-BE49-F238E27FC236}">
                          <a16:creationId xmlns:a16="http://schemas.microsoft.com/office/drawing/2014/main" id="{A7A53F22-5FF7-D6E5-8E67-49288EDEDA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52919" y="3950838"/>
                      <a:ext cx="136576" cy="163481"/>
                    </a:xfrm>
                    <a:prstGeom prst="ellipse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dirty="0"/>
                    </a:p>
                  </p:txBody>
                </p:sp>
                <p:sp>
                  <p:nvSpPr>
                    <p:cNvPr id="38" name="Oval 37">
                      <a:extLst>
                        <a:ext uri="{FF2B5EF4-FFF2-40B4-BE49-F238E27FC236}">
                          <a16:creationId xmlns:a16="http://schemas.microsoft.com/office/drawing/2014/main" id="{12FB3A20-12E1-2A80-BCAB-DE8847F04E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37892" y="4113058"/>
                      <a:ext cx="136576" cy="163481"/>
                    </a:xfrm>
                    <a:prstGeom prst="ellipse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dirty="0"/>
                    </a:p>
                  </p:txBody>
                </p:sp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AEE58A04-4ACB-F67E-7E64-E69497E038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0984" y="4276539"/>
                      <a:ext cx="136576" cy="163481"/>
                    </a:xfrm>
                    <a:prstGeom prst="ellipse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/>
                    </a:p>
                  </p:txBody>
                </p:sp>
                <p:sp>
                  <p:nvSpPr>
                    <p:cNvPr id="40" name="Oval 39">
                      <a:extLst>
                        <a:ext uri="{FF2B5EF4-FFF2-40B4-BE49-F238E27FC236}">
                          <a16:creationId xmlns:a16="http://schemas.microsoft.com/office/drawing/2014/main" id="{DB4C5B62-8782-9BA5-E42E-83D0EF4CC2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51683" y="3441634"/>
                      <a:ext cx="136576" cy="163481"/>
                    </a:xfrm>
                    <a:prstGeom prst="ellipse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dirty="0"/>
                    </a:p>
                  </p:txBody>
                </p:sp>
                <p:sp>
                  <p:nvSpPr>
                    <p:cNvPr id="41" name="Oval 40">
                      <a:extLst>
                        <a:ext uri="{FF2B5EF4-FFF2-40B4-BE49-F238E27FC236}">
                          <a16:creationId xmlns:a16="http://schemas.microsoft.com/office/drawing/2014/main" id="{B47ADA1C-C6E4-4F82-BD1D-D399FEE32D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9096" y="4310306"/>
                      <a:ext cx="136576" cy="163481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dirty="0"/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E16C8E0F-882E-1131-C949-CEE4483C19C5}"/>
                        </a:ext>
                      </a:extLst>
                    </p:cNvPr>
                    <p:cNvCxnSpPr>
                      <a:cxnSpLocks/>
                      <a:stCxn id="34" idx="5"/>
                    </p:cNvCxnSpPr>
                    <p:nvPr/>
                  </p:nvCxnSpPr>
                  <p:spPr>
                    <a:xfrm flipH="1">
                      <a:off x="5384800" y="3147391"/>
                      <a:ext cx="2209" cy="1329307"/>
                    </a:xfrm>
                    <a:prstGeom prst="line">
                      <a:avLst/>
                    </a:prstGeom>
                    <a:ln w="31750">
                      <a:solidFill>
                        <a:schemeClr val="accent4">
                          <a:lumMod val="75000"/>
                        </a:schemeClr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3" name="Oval 42">
                      <a:extLst>
                        <a:ext uri="{FF2B5EF4-FFF2-40B4-BE49-F238E27FC236}">
                          <a16:creationId xmlns:a16="http://schemas.microsoft.com/office/drawing/2014/main" id="{C6E70060-22E1-00C1-6278-EDA4045116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29820" y="3815185"/>
                      <a:ext cx="136576" cy="163481"/>
                    </a:xfrm>
                    <a:prstGeom prst="ellipse">
                      <a:avLst/>
                    </a:prstGeom>
                    <a:solidFill>
                      <a:srgbClr val="00B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 dirty="0"/>
                    </a:p>
                  </p:txBody>
                </p:sp>
                <p:cxnSp>
                  <p:nvCxnSpPr>
                    <p:cNvPr id="44" name="Connector: Curved 43">
                      <a:extLst>
                        <a:ext uri="{FF2B5EF4-FFF2-40B4-BE49-F238E27FC236}">
                          <a16:creationId xmlns:a16="http://schemas.microsoft.com/office/drawing/2014/main" id="{D15D29D7-68F0-5CF2-1D72-95FAA106FB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5352648" y="3009073"/>
                      <a:ext cx="833120" cy="653589"/>
                    </a:xfrm>
                    <a:prstGeom prst="curvedConnector3">
                      <a:avLst/>
                    </a:prstGeom>
                    <a:ln>
                      <a:solidFill>
                        <a:srgbClr val="00B050"/>
                      </a:solidFill>
                      <a:prstDash val="sysDash"/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BA3B0B0E-05B0-D6B2-C3ED-A2AE01F00C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16743" y="2130424"/>
                      <a:ext cx="1736237" cy="73377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Exploration</a:t>
                      </a:r>
                      <a:r>
                        <a:rPr lang="en-US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High Uncertainty</a:t>
                      </a:r>
                      <a:endParaRPr lang="en-A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182EECF0-55B5-F91E-D999-DFD83FF74C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55270" y="2696968"/>
                      <a:ext cx="1822026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Exploitation: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Prediction</a:t>
                      </a:r>
                      <a:endParaRPr lang="en-AE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47" name="Connector: Curved 46">
                      <a:extLst>
                        <a:ext uri="{FF2B5EF4-FFF2-40B4-BE49-F238E27FC236}">
                          <a16:creationId xmlns:a16="http://schemas.microsoft.com/office/drawing/2014/main" id="{BCABA493-2006-B7ED-5A38-B4E8C2A9CC3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3509063" y="3588701"/>
                      <a:ext cx="808025" cy="488619"/>
                    </a:xfrm>
                    <a:prstGeom prst="curvedConnector3">
                      <a:avLst>
                        <a:gd name="adj1" fmla="val 50000"/>
                      </a:avLst>
                    </a:prstGeom>
                    <a:ln w="19050">
                      <a:solidFill>
                        <a:srgbClr val="00B0F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37FBDD1A-E61E-93A5-F39B-F1513DE12EAD}"/>
                      </a:ext>
                    </a:extLst>
                  </p:cNvPr>
                  <p:cNvSpPr/>
                  <p:nvPr/>
                </p:nvSpPr>
                <p:spPr>
                  <a:xfrm>
                    <a:off x="2878006" y="2025234"/>
                    <a:ext cx="1239945" cy="694478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93B7F06B-A8B7-7A8D-B037-550CC72966C7}"/>
                      </a:ext>
                    </a:extLst>
                  </p:cNvPr>
                  <p:cNvSpPr txBox="1"/>
                  <p:nvPr/>
                </p:nvSpPr>
                <p:spPr>
                  <a:xfrm>
                    <a:off x="2855126" y="1948636"/>
                    <a:ext cx="1033498" cy="8385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Mean</a:t>
                    </a:r>
                  </a:p>
                  <a:p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Data   </a:t>
                    </a:r>
                    <a:endParaRPr lang="en-AE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Samples      </a:t>
                    </a:r>
                    <a:endParaRPr lang="en-AE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02FE99D0-0EA0-55B1-0435-E4478A2A30D0}"/>
                    </a:ext>
                  </a:extLst>
                </p:cNvPr>
                <p:cNvSpPr/>
                <p:nvPr/>
              </p:nvSpPr>
              <p:spPr>
                <a:xfrm>
                  <a:off x="3883332" y="2014441"/>
                  <a:ext cx="172159" cy="19561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C2ECB3C3-4904-1B04-DA00-6EFD6A391103}"/>
                    </a:ext>
                  </a:extLst>
                </p:cNvPr>
                <p:cNvSpPr/>
                <p:nvPr/>
              </p:nvSpPr>
              <p:spPr>
                <a:xfrm>
                  <a:off x="3881952" y="2312604"/>
                  <a:ext cx="172159" cy="19561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6CBF0BEC-6EC6-B60F-AE99-C5EBAC00BC4F}"/>
                    </a:ext>
                  </a:extLst>
                </p:cNvPr>
                <p:cNvCxnSpPr/>
                <p:nvPr/>
              </p:nvCxnSpPr>
              <p:spPr>
                <a:xfrm>
                  <a:off x="3753096" y="1842659"/>
                  <a:ext cx="432632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6239FA7-2217-08F4-4100-AD2557B47B6A}"/>
                  </a:ext>
                </a:extLst>
              </p:cNvPr>
              <p:cNvSpPr/>
              <p:nvPr/>
            </p:nvSpPr>
            <p:spPr>
              <a:xfrm>
                <a:off x="392852" y="2005429"/>
                <a:ext cx="7708056" cy="412288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D8A22183-2DC2-BEA4-2A4B-B47766F93DF1}"/>
                  </a:ext>
                </a:extLst>
              </p:cNvPr>
              <p:cNvCxnSpPr>
                <a:cxnSpLocks/>
                <a:stCxn id="17" idx="2"/>
              </p:cNvCxnSpPr>
              <p:nvPr/>
            </p:nvCxnSpPr>
            <p:spPr>
              <a:xfrm rot="5400000">
                <a:off x="8597055" y="2769480"/>
                <a:ext cx="627079" cy="1447258"/>
              </a:xfrm>
              <a:prstGeom prst="curvedConnector2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Connector: Curved 22">
                <a:extLst>
                  <a:ext uri="{FF2B5EF4-FFF2-40B4-BE49-F238E27FC236}">
                    <a16:creationId xmlns:a16="http://schemas.microsoft.com/office/drawing/2014/main" id="{72EC6A7D-278D-DC88-EAD3-C4F9922DC3A1}"/>
                  </a:ext>
                </a:extLst>
              </p:cNvPr>
              <p:cNvCxnSpPr>
                <a:cxnSpLocks/>
                <a:stCxn id="17" idx="2"/>
              </p:cNvCxnSpPr>
              <p:nvPr/>
            </p:nvCxnSpPr>
            <p:spPr>
              <a:xfrm rot="5400000">
                <a:off x="8114966" y="3212472"/>
                <a:ext cx="1552162" cy="1486356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3D699F6-F716-466B-E68E-AEA212DBD567}"/>
                  </a:ext>
                </a:extLst>
              </p:cNvPr>
              <p:cNvSpPr/>
              <p:nvPr/>
            </p:nvSpPr>
            <p:spPr>
              <a:xfrm>
                <a:off x="8168060" y="3160418"/>
                <a:ext cx="1269778" cy="4892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</a:t>
                </a:r>
                <a:endParaRPr lang="en-AE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C7BDB35-7F3A-310B-B9FC-98940398299B}"/>
                  </a:ext>
                </a:extLst>
              </p:cNvPr>
              <p:cNvSpPr/>
              <p:nvPr/>
            </p:nvSpPr>
            <p:spPr>
              <a:xfrm>
                <a:off x="8303585" y="4589553"/>
                <a:ext cx="1758496" cy="4892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Uncertainty</a:t>
                </a:r>
                <a:endParaRPr lang="en-AE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0D860BD-FE05-EB31-2A28-A8907CB07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2213" y="2465620"/>
              <a:ext cx="2410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4DB2B0C-DF48-3869-C1C5-054E0ADA9502}"/>
                </a:ext>
              </a:extLst>
            </p:cNvPr>
            <p:cNvSpPr/>
            <p:nvPr/>
          </p:nvSpPr>
          <p:spPr>
            <a:xfrm>
              <a:off x="9643252" y="2297011"/>
              <a:ext cx="1407641" cy="31085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Data</a:t>
              </a:r>
              <a:endParaRPr lang="en-AE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4" name="Arrow: Down 133">
            <a:extLst>
              <a:ext uri="{FF2B5EF4-FFF2-40B4-BE49-F238E27FC236}">
                <a16:creationId xmlns:a16="http://schemas.microsoft.com/office/drawing/2014/main" id="{8BA87CCB-711E-9BFC-04A6-9C67A74D6300}"/>
              </a:ext>
            </a:extLst>
          </p:cNvPr>
          <p:cNvSpPr/>
          <p:nvPr/>
        </p:nvSpPr>
        <p:spPr>
          <a:xfrm rot="10800000">
            <a:off x="4655987" y="3131353"/>
            <a:ext cx="331029" cy="33650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37" name="Arrow: Right 136">
            <a:extLst>
              <a:ext uri="{FF2B5EF4-FFF2-40B4-BE49-F238E27FC236}">
                <a16:creationId xmlns:a16="http://schemas.microsoft.com/office/drawing/2014/main" id="{115E80DB-2C52-1044-D185-62BB97A79D48}"/>
              </a:ext>
            </a:extLst>
          </p:cNvPr>
          <p:cNvSpPr/>
          <p:nvPr/>
        </p:nvSpPr>
        <p:spPr>
          <a:xfrm>
            <a:off x="935665" y="231017"/>
            <a:ext cx="574158" cy="131789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3581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96218C-03F0-F2E1-8E2E-8D60485C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803E4-AD81-E5FD-BF6B-4CF2B9E2FC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+mj-lt"/>
                <a:cs typeface="Times New Roman" panose="02020603050405020304" pitchFamily="18" charset="0"/>
              </a:rPr>
              <a:t>Q.2      Multi-fidelity (MF) setup</a:t>
            </a:r>
            <a:endParaRPr lang="en-AE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E543904-1C91-CFF2-99A3-687E7F0E26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512" y="671119"/>
            <a:ext cx="11438989" cy="1826141"/>
          </a:xfrm>
        </p:spPr>
        <p:txBody>
          <a:bodyPr/>
          <a:lstStyle/>
          <a:p>
            <a:r>
              <a:rPr lang="en-US" sz="2400" b="1" dirty="0">
                <a:latin typeface="Arial (body)"/>
                <a:cs typeface="Times New Roman" panose="02020603050405020304" pitchFamily="18" charset="0"/>
              </a:rPr>
              <a:t>Enhancing the accuracy of the high-fidelity emulator estimation by leveraging multiple data sources with varying levels of fidelity: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(body)"/>
                <a:cs typeface="Times New Roman" panose="02020603050405020304" pitchFamily="18" charset="0"/>
              </a:rPr>
              <a:t>High-fidelity data are </a:t>
            </a:r>
            <a:r>
              <a:rPr lang="en-US" sz="2400" dirty="0">
                <a:solidFill>
                  <a:srgbClr val="C00000"/>
                </a:solidFill>
                <a:latin typeface="Arial (body)"/>
                <a:cs typeface="Times New Roman" panose="02020603050405020304" pitchFamily="18" charset="0"/>
              </a:rPr>
              <a:t>expensive</a:t>
            </a:r>
            <a:r>
              <a:rPr lang="en-US" sz="2400" dirty="0">
                <a:latin typeface="Arial (body)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C00000"/>
                </a:solidFill>
                <a:latin typeface="Arial (body)"/>
                <a:cs typeface="Times New Roman" panose="02020603050405020304" pitchFamily="18" charset="0"/>
              </a:rPr>
              <a:t>limited</a:t>
            </a:r>
            <a:r>
              <a:rPr lang="en-US" sz="2400" dirty="0">
                <a:latin typeface="Arial (body)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(body)"/>
                <a:cs typeface="Times New Roman" panose="02020603050405020304" pitchFamily="18" charset="0"/>
              </a:rPr>
              <a:t>Low-fidelity data are </a:t>
            </a:r>
            <a:r>
              <a:rPr lang="en-US" sz="2400" dirty="0">
                <a:solidFill>
                  <a:srgbClr val="C00000"/>
                </a:solidFill>
                <a:latin typeface="Arial (body)"/>
                <a:cs typeface="Times New Roman" panose="02020603050405020304" pitchFamily="18" charset="0"/>
              </a:rPr>
              <a:t>cheap(er) </a:t>
            </a:r>
            <a:r>
              <a:rPr lang="en-US" sz="2400" dirty="0">
                <a:latin typeface="Arial (body)"/>
                <a:cs typeface="Times New Roman" panose="02020603050405020304" pitchFamily="18" charset="0"/>
              </a:rPr>
              <a:t>but have </a:t>
            </a:r>
            <a:r>
              <a:rPr lang="en-US" sz="2400" dirty="0">
                <a:solidFill>
                  <a:srgbClr val="C00000"/>
                </a:solidFill>
                <a:latin typeface="Arial (body)"/>
                <a:cs typeface="Times New Roman" panose="02020603050405020304" pitchFamily="18" charset="0"/>
              </a:rPr>
              <a:t>systematic errors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F536E7-ED3E-A721-12DD-C70C15FDDAC2}"/>
              </a:ext>
            </a:extLst>
          </p:cNvPr>
          <p:cNvSpPr txBox="1"/>
          <p:nvPr/>
        </p:nvSpPr>
        <p:spPr>
          <a:xfrm>
            <a:off x="2798352" y="6208126"/>
            <a:ext cx="9393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</a:rPr>
              <a:t>Eweis-Labolle, J.T., N. </a:t>
            </a:r>
            <a:r>
              <a:rPr lang="en-US" sz="1400" dirty="0" err="1">
                <a:solidFill>
                  <a:srgbClr val="002060"/>
                </a:solidFill>
              </a:rPr>
              <a:t>Oune</a:t>
            </a:r>
            <a:r>
              <a:rPr lang="en-US" sz="1400" dirty="0">
                <a:solidFill>
                  <a:srgbClr val="002060"/>
                </a:solidFill>
              </a:rPr>
              <a:t>, and R. Bostanabad, Data Fusion With Latent Map Gaussian Processes. Journal of Mechanical Design, 2022. 144(9).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90E8CB-03A2-BA08-993D-D62A89DF65D1}"/>
              </a:ext>
            </a:extLst>
          </p:cNvPr>
          <p:cNvGrpSpPr/>
          <p:nvPr/>
        </p:nvGrpSpPr>
        <p:grpSpPr>
          <a:xfrm>
            <a:off x="668137" y="2759388"/>
            <a:ext cx="5037109" cy="3202706"/>
            <a:chOff x="668808" y="2697935"/>
            <a:chExt cx="5037109" cy="320270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E37151-0161-E130-3991-730973BDC16F}"/>
                </a:ext>
              </a:extLst>
            </p:cNvPr>
            <p:cNvSpPr txBox="1"/>
            <p:nvPr/>
          </p:nvSpPr>
          <p:spPr>
            <a:xfrm>
              <a:off x="1295498" y="5531309"/>
              <a:ext cx="41029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+mj-lt"/>
                  <a:cs typeface="Times New Roman" panose="02020603050405020304" pitchFamily="18" charset="0"/>
                </a:rPr>
                <a:t>Single-fidelity (SF) Framework</a:t>
              </a:r>
              <a:endParaRPr lang="en-AE" b="1" dirty="0">
                <a:latin typeface="+mj-lt"/>
                <a:cs typeface="Times New Roman" panose="02020603050405020304" pitchFamily="18" charset="0"/>
              </a:endParaRPr>
            </a:p>
          </p:txBody>
        </p:sp>
        <p:pic>
          <p:nvPicPr>
            <p:cNvPr id="20" name="Picture 19" descr="A picture containing line, diagram, plot, slope&#10;&#10;Description automatically generated">
              <a:extLst>
                <a:ext uri="{FF2B5EF4-FFF2-40B4-BE49-F238E27FC236}">
                  <a16:creationId xmlns:a16="http://schemas.microsoft.com/office/drawing/2014/main" id="{67B2D3B8-48E8-A3C7-D438-6BECF47D5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808" y="2697935"/>
              <a:ext cx="5037109" cy="2833374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DF6CCDD-B068-2B79-2B54-7E822630B6B2}"/>
              </a:ext>
            </a:extLst>
          </p:cNvPr>
          <p:cNvGrpSpPr/>
          <p:nvPr/>
        </p:nvGrpSpPr>
        <p:grpSpPr>
          <a:xfrm>
            <a:off x="6605701" y="2759388"/>
            <a:ext cx="5036800" cy="3202532"/>
            <a:chOff x="6096000" y="2759388"/>
            <a:chExt cx="5036800" cy="32025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3EE500-FE88-9C72-486B-F1BBB14149F1}"/>
                </a:ext>
              </a:extLst>
            </p:cNvPr>
            <p:cNvSpPr txBox="1"/>
            <p:nvPr/>
          </p:nvSpPr>
          <p:spPr>
            <a:xfrm>
              <a:off x="6673826" y="5592588"/>
              <a:ext cx="4314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+mj-lt"/>
                  <a:cs typeface="Times New Roman" panose="02020603050405020304" pitchFamily="18" charset="0"/>
                </a:rPr>
                <a:t>MF Framework</a:t>
              </a:r>
              <a:endParaRPr lang="en-AE" b="1" dirty="0">
                <a:latin typeface="+mj-lt"/>
                <a:cs typeface="Times New Roman" panose="02020603050405020304" pitchFamily="18" charset="0"/>
              </a:endParaRPr>
            </a:p>
          </p:txBody>
        </p:sp>
        <p:pic>
          <p:nvPicPr>
            <p:cNvPr id="23" name="Picture 22" descr="A picture containing diagram, plot, line, text&#10;&#10;Description automatically generated">
              <a:extLst>
                <a:ext uri="{FF2B5EF4-FFF2-40B4-BE49-F238E27FC236}">
                  <a16:creationId xmlns:a16="http://schemas.microsoft.com/office/drawing/2014/main" id="{6F76DCA1-EF44-5724-7C8C-0EE4E054A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2759388"/>
              <a:ext cx="5036800" cy="2833200"/>
            </a:xfrm>
            <a:prstGeom prst="rect">
              <a:avLst/>
            </a:prstGeom>
          </p:spPr>
        </p:pic>
      </p:grpSp>
      <p:sp>
        <p:nvSpPr>
          <p:cNvPr id="4" name="Arrow: Right 3">
            <a:extLst>
              <a:ext uri="{FF2B5EF4-FFF2-40B4-BE49-F238E27FC236}">
                <a16:creationId xmlns:a16="http://schemas.microsoft.com/office/drawing/2014/main" id="{B30EDA05-C54F-5F4C-80C1-08B9883BD2B8}"/>
              </a:ext>
            </a:extLst>
          </p:cNvPr>
          <p:cNvSpPr/>
          <p:nvPr/>
        </p:nvSpPr>
        <p:spPr>
          <a:xfrm>
            <a:off x="971107" y="226492"/>
            <a:ext cx="574158" cy="131789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6805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15D4E6-70C9-3276-E8E1-61A20DBD63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C8CA3-20D2-EB41-DD89-66B5A37C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508" y="0"/>
            <a:ext cx="12356507" cy="5870874"/>
          </a:xfrm>
        </p:spPr>
        <p:txBody>
          <a:bodyPr/>
          <a:lstStyle/>
          <a:p>
            <a:pPr algn="ctr"/>
            <a:r>
              <a:rPr lang="en-US" sz="8800" b="1" dirty="0">
                <a:solidFill>
                  <a:srgbClr val="FFFF00"/>
                </a:solidFill>
              </a:rPr>
              <a:t>How</a:t>
            </a:r>
            <a:r>
              <a:rPr lang="en-US" sz="8800" b="1" dirty="0">
                <a:solidFill>
                  <a:schemeClr val="bg1"/>
                </a:solidFill>
              </a:rPr>
              <a:t> Multi-fidelity BO (MFBO) </a:t>
            </a:r>
            <a:r>
              <a:rPr lang="en-US" sz="8800" b="1" dirty="0">
                <a:solidFill>
                  <a:srgbClr val="FFFF00"/>
                </a:solidFill>
              </a:rPr>
              <a:t>works</a:t>
            </a:r>
            <a:r>
              <a:rPr lang="en-US" sz="8800" b="1" dirty="0">
                <a:solidFill>
                  <a:schemeClr val="bg1"/>
                </a:solidFill>
              </a:rPr>
              <a:t>? </a:t>
            </a:r>
            <a:br>
              <a:rPr lang="en-US" sz="8800" b="1" dirty="0">
                <a:solidFill>
                  <a:schemeClr val="bg1"/>
                </a:solidFill>
              </a:rPr>
            </a:br>
            <a:r>
              <a:rPr lang="en-US" sz="8800" b="1" dirty="0">
                <a:solidFill>
                  <a:schemeClr val="bg1"/>
                </a:solidFill>
              </a:rPr>
              <a:t>(with categorical data)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EC863-BD87-4650-A30A-36BD842E8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94AF64-FC92-4E4E-9E42-CF08351F977D}" type="slidenum">
              <a:rPr lang="en-US" altLang="zh-CN" smtClean="0">
                <a:solidFill>
                  <a:schemeClr val="bg1"/>
                </a:solidFill>
              </a:rPr>
              <a:pPr/>
              <a:t>5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BF786-40AC-284D-D9AA-F1B66BD8DE19}"/>
              </a:ext>
            </a:extLst>
          </p:cNvPr>
          <p:cNvSpPr txBox="1"/>
          <p:nvPr/>
        </p:nvSpPr>
        <p:spPr>
          <a:xfrm>
            <a:off x="164504" y="5949300"/>
            <a:ext cx="118629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 err="1">
                <a:solidFill>
                  <a:schemeClr val="bg1"/>
                </a:solidFill>
              </a:rPr>
              <a:t>Zanjani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Foumani</a:t>
            </a:r>
            <a:r>
              <a:rPr lang="en-US" sz="2000" dirty="0">
                <a:solidFill>
                  <a:schemeClr val="bg1"/>
                </a:solidFill>
              </a:rPr>
              <a:t>, Z., et al., Multi-fidelity cost-aware Bayesian optimization. Computer Methods in Applied Mechanics and Engineering, 2023. 407: p. 115937.</a:t>
            </a:r>
          </a:p>
        </p:txBody>
      </p:sp>
    </p:spTree>
    <p:extLst>
      <p:ext uri="{BB962C8B-B14F-4D97-AF65-F5344CB8AC3E}">
        <p14:creationId xmlns:p14="http://schemas.microsoft.com/office/powerpoint/2010/main" val="370642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Box 333">
            <a:extLst>
              <a:ext uri="{FF2B5EF4-FFF2-40B4-BE49-F238E27FC236}">
                <a16:creationId xmlns:a16="http://schemas.microsoft.com/office/drawing/2014/main" id="{8F5ECEF9-634E-0E6A-F90C-B8E0245F52D1}"/>
              </a:ext>
            </a:extLst>
          </p:cNvPr>
          <p:cNvSpPr txBox="1"/>
          <p:nvPr/>
        </p:nvSpPr>
        <p:spPr>
          <a:xfrm>
            <a:off x="8513173" y="3837905"/>
            <a:ext cx="745226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50000"/>
              </a:lnSpc>
            </a:pPr>
            <a:r>
              <a:rPr lang="en-US" dirty="0"/>
              <a:t>,</a:t>
            </a:r>
            <a:endParaRPr lang="en-AE" dirty="0"/>
          </a:p>
        </p:txBody>
      </p:sp>
      <p:sp>
        <p:nvSpPr>
          <p:cNvPr id="337" name="Flowchart: Preparation 336">
            <a:extLst>
              <a:ext uri="{FF2B5EF4-FFF2-40B4-BE49-F238E27FC236}">
                <a16:creationId xmlns:a16="http://schemas.microsoft.com/office/drawing/2014/main" id="{4FCC4D02-B5AE-B9CA-2766-37CB4E42836D}"/>
              </a:ext>
            </a:extLst>
          </p:cNvPr>
          <p:cNvSpPr/>
          <p:nvPr/>
        </p:nvSpPr>
        <p:spPr>
          <a:xfrm>
            <a:off x="2463690" y="289516"/>
            <a:ext cx="2351332" cy="360000"/>
          </a:xfrm>
          <a:prstGeom prst="flowChartPreparation">
            <a:avLst/>
          </a:prstGeom>
          <a:solidFill>
            <a:schemeClr val="accent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Converged?</a:t>
            </a:r>
          </a:p>
        </p:txBody>
      </p: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EFC19126-D276-E235-6A0D-676A75B7A8D5}"/>
              </a:ext>
            </a:extLst>
          </p:cNvPr>
          <p:cNvSpPr/>
          <p:nvPr/>
        </p:nvSpPr>
        <p:spPr>
          <a:xfrm>
            <a:off x="6952903" y="296555"/>
            <a:ext cx="1519725" cy="360000"/>
          </a:xfrm>
          <a:prstGeom prst="roundRect">
            <a:avLst/>
          </a:prstGeom>
          <a:solidFill>
            <a:schemeClr val="accent4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9" name="Connector: Elbow 338">
            <a:extLst>
              <a:ext uri="{FF2B5EF4-FFF2-40B4-BE49-F238E27FC236}">
                <a16:creationId xmlns:a16="http://schemas.microsoft.com/office/drawing/2014/main" id="{DF41F142-C8A9-4E55-A59C-08783EE057B0}"/>
              </a:ext>
            </a:extLst>
          </p:cNvPr>
          <p:cNvCxnSpPr>
            <a:cxnSpLocks/>
            <a:stCxn id="338" idx="3"/>
            <a:endCxn id="346" idx="0"/>
          </p:cNvCxnSpPr>
          <p:nvPr/>
        </p:nvCxnSpPr>
        <p:spPr>
          <a:xfrm>
            <a:off x="8472628" y="476555"/>
            <a:ext cx="189402" cy="41719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6D8706A0-5B34-323C-69FC-9E515038A28B}"/>
              </a:ext>
            </a:extLst>
          </p:cNvPr>
          <p:cNvCxnSpPr>
            <a:cxnSpLocks/>
          </p:cNvCxnSpPr>
          <p:nvPr/>
        </p:nvCxnSpPr>
        <p:spPr>
          <a:xfrm flipV="1">
            <a:off x="6295271" y="476555"/>
            <a:ext cx="6576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Rectangle: Rounded Corners 340">
            <a:extLst>
              <a:ext uri="{FF2B5EF4-FFF2-40B4-BE49-F238E27FC236}">
                <a16:creationId xmlns:a16="http://schemas.microsoft.com/office/drawing/2014/main" id="{9EBD20B0-1A4B-054A-9DC6-F68533F41E77}"/>
              </a:ext>
            </a:extLst>
          </p:cNvPr>
          <p:cNvSpPr/>
          <p:nvPr/>
        </p:nvSpPr>
        <p:spPr>
          <a:xfrm>
            <a:off x="5546336" y="289516"/>
            <a:ext cx="748935" cy="360000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8326529F-7734-D73A-3034-214F9D7F1B8B}"/>
              </a:ext>
            </a:extLst>
          </p:cNvPr>
          <p:cNvCxnSpPr>
            <a:cxnSpLocks/>
          </p:cNvCxnSpPr>
          <p:nvPr/>
        </p:nvCxnSpPr>
        <p:spPr>
          <a:xfrm flipV="1">
            <a:off x="4753562" y="482462"/>
            <a:ext cx="78047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3A9F7E49-398C-0C21-4DA9-0B77D788F5FB}"/>
              </a:ext>
            </a:extLst>
          </p:cNvPr>
          <p:cNvCxnSpPr>
            <a:cxnSpLocks/>
            <a:stCxn id="337" idx="1"/>
            <a:endCxn id="354" idx="3"/>
          </p:cNvCxnSpPr>
          <p:nvPr/>
        </p:nvCxnSpPr>
        <p:spPr>
          <a:xfrm flipH="1" flipV="1">
            <a:off x="1597162" y="463896"/>
            <a:ext cx="8665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Flowchart: Preparation 353">
            <a:extLst>
              <a:ext uri="{FF2B5EF4-FFF2-40B4-BE49-F238E27FC236}">
                <a16:creationId xmlns:a16="http://schemas.microsoft.com/office/drawing/2014/main" id="{098F6F6E-D85E-21CB-EA01-D1AB409B61FB}"/>
              </a:ext>
            </a:extLst>
          </p:cNvPr>
          <p:cNvSpPr/>
          <p:nvPr/>
        </p:nvSpPr>
        <p:spPr>
          <a:xfrm>
            <a:off x="101600" y="283896"/>
            <a:ext cx="1495562" cy="360000"/>
          </a:xfrm>
          <a:prstGeom prst="flowChartPreparation">
            <a:avLst/>
          </a:prstGeom>
          <a:solidFill>
            <a:schemeClr val="accent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9898EF0B-7E4A-89CE-2651-80C6AC986A19}"/>
              </a:ext>
            </a:extLst>
          </p:cNvPr>
          <p:cNvSpPr txBox="1"/>
          <p:nvPr/>
        </p:nvSpPr>
        <p:spPr>
          <a:xfrm>
            <a:off x="1577278" y="-29220"/>
            <a:ext cx="97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AE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AD92D92B-6369-73C7-0F91-A3F74ADDA153}"/>
              </a:ext>
            </a:extLst>
          </p:cNvPr>
          <p:cNvSpPr txBox="1"/>
          <p:nvPr/>
        </p:nvSpPr>
        <p:spPr>
          <a:xfrm>
            <a:off x="4666411" y="-20456"/>
            <a:ext cx="97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AE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hart, surface chart&#10;&#10;Description automatically generated">
            <a:extLst>
              <a:ext uri="{FF2B5EF4-FFF2-40B4-BE49-F238E27FC236}">
                <a16:creationId xmlns:a16="http://schemas.microsoft.com/office/drawing/2014/main" id="{6A0F562B-FF01-8C50-87C5-8565F144E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030" y="4009325"/>
            <a:ext cx="3096000" cy="2580000"/>
          </a:xfrm>
          <a:prstGeom prst="rect">
            <a:avLst/>
          </a:prstGeom>
        </p:spPr>
      </p:pic>
      <p:pic>
        <p:nvPicPr>
          <p:cNvPr id="6" name="Picture 5" descr="Chart, surface chart&#10;&#10;Description automatically generated">
            <a:extLst>
              <a:ext uri="{FF2B5EF4-FFF2-40B4-BE49-F238E27FC236}">
                <a16:creationId xmlns:a16="http://schemas.microsoft.com/office/drawing/2014/main" id="{AA816C70-710C-C201-BAB2-28632C8492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133" y="1225815"/>
            <a:ext cx="3097440" cy="2581200"/>
          </a:xfrm>
          <a:prstGeom prst="rect">
            <a:avLst/>
          </a:prstGeom>
        </p:spPr>
      </p:pic>
      <p:sp>
        <p:nvSpPr>
          <p:cNvPr id="333" name="Rectangle 332">
            <a:extLst>
              <a:ext uri="{FF2B5EF4-FFF2-40B4-BE49-F238E27FC236}">
                <a16:creationId xmlns:a16="http://schemas.microsoft.com/office/drawing/2014/main" id="{36E6491D-6F09-3CBC-949E-36D946806915}"/>
              </a:ext>
            </a:extLst>
          </p:cNvPr>
          <p:cNvSpPr/>
          <p:nvPr/>
        </p:nvSpPr>
        <p:spPr>
          <a:xfrm>
            <a:off x="7099510" y="1059269"/>
            <a:ext cx="3218702" cy="55621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46" name="Rectangle: Rounded Corners 345">
            <a:extLst>
              <a:ext uri="{FF2B5EF4-FFF2-40B4-BE49-F238E27FC236}">
                <a16:creationId xmlns:a16="http://schemas.microsoft.com/office/drawing/2014/main" id="{DB692861-ECDE-D42C-F942-2252CCDC8360}"/>
              </a:ext>
            </a:extLst>
          </p:cNvPr>
          <p:cNvSpPr/>
          <p:nvPr/>
        </p:nvSpPr>
        <p:spPr>
          <a:xfrm>
            <a:off x="8024623" y="893750"/>
            <a:ext cx="1274814" cy="365760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Emulator</a:t>
            </a:r>
            <a:endParaRPr lang="en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1B2CA091-9408-FEA8-A06C-51FC13AEA06F}"/>
              </a:ext>
            </a:extLst>
          </p:cNvPr>
          <p:cNvGrpSpPr/>
          <p:nvPr/>
        </p:nvGrpSpPr>
        <p:grpSpPr>
          <a:xfrm>
            <a:off x="1633362" y="1056324"/>
            <a:ext cx="4513442" cy="5562152"/>
            <a:chOff x="4339309" y="1071229"/>
            <a:chExt cx="4513442" cy="5562152"/>
          </a:xfrm>
        </p:grpSpPr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41E59C1A-74B2-7621-7EC0-DC27818C8C7D}"/>
                </a:ext>
              </a:extLst>
            </p:cNvPr>
            <p:cNvGrpSpPr/>
            <p:nvPr/>
          </p:nvGrpSpPr>
          <p:grpSpPr>
            <a:xfrm>
              <a:off x="4494513" y="1263196"/>
              <a:ext cx="4358238" cy="5354250"/>
              <a:chOff x="4494513" y="1263196"/>
              <a:chExt cx="4358238" cy="5354250"/>
            </a:xfrm>
          </p:grpSpPr>
          <p:sp>
            <p:nvSpPr>
              <p:cNvPr id="387" name="TextBox 386">
                <a:extLst>
                  <a:ext uri="{FF2B5EF4-FFF2-40B4-BE49-F238E27FC236}">
                    <a16:creationId xmlns:a16="http://schemas.microsoft.com/office/drawing/2014/main" id="{15A216E1-F026-2696-0A6F-6A49F13F28AF}"/>
                  </a:ext>
                </a:extLst>
              </p:cNvPr>
              <p:cNvSpPr txBox="1"/>
              <p:nvPr/>
            </p:nvSpPr>
            <p:spPr>
              <a:xfrm>
                <a:off x="5703554" y="6248114"/>
                <a:ext cx="1888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 </a:t>
                </a:r>
                <a:r>
                  <a:rPr lang="en-US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LF Data</a:t>
                </a:r>
              </a:p>
            </p:txBody>
          </p:sp>
          <p:grpSp>
            <p:nvGrpSpPr>
              <p:cNvPr id="388" name="Group 387">
                <a:extLst>
                  <a:ext uri="{FF2B5EF4-FFF2-40B4-BE49-F238E27FC236}">
                    <a16:creationId xmlns:a16="http://schemas.microsoft.com/office/drawing/2014/main" id="{5110D7E9-FED0-0D7F-2BEA-066ECD8397DA}"/>
                  </a:ext>
                </a:extLst>
              </p:cNvPr>
              <p:cNvGrpSpPr/>
              <p:nvPr/>
            </p:nvGrpSpPr>
            <p:grpSpPr>
              <a:xfrm>
                <a:off x="4512067" y="1263196"/>
                <a:ext cx="4340684" cy="2404800"/>
                <a:chOff x="3548998" y="1024200"/>
                <a:chExt cx="4349814" cy="2555428"/>
              </a:xfrm>
            </p:grpSpPr>
            <p:grpSp>
              <p:nvGrpSpPr>
                <p:cNvPr id="406" name="Group 405">
                  <a:extLst>
                    <a:ext uri="{FF2B5EF4-FFF2-40B4-BE49-F238E27FC236}">
                      <a16:creationId xmlns:a16="http://schemas.microsoft.com/office/drawing/2014/main" id="{DC70FD32-F48C-D8F0-4F84-2DABCA84D523}"/>
                    </a:ext>
                  </a:extLst>
                </p:cNvPr>
                <p:cNvGrpSpPr/>
                <p:nvPr/>
              </p:nvGrpSpPr>
              <p:grpSpPr>
                <a:xfrm>
                  <a:off x="3548998" y="1024200"/>
                  <a:ext cx="4053276" cy="2555428"/>
                  <a:chOff x="3508443" y="1024200"/>
                  <a:chExt cx="3526937" cy="2404800"/>
                </a:xfrm>
              </p:grpSpPr>
              <p:pic>
                <p:nvPicPr>
                  <p:cNvPr id="415" name="Picture 414" descr="Chart, line chart&#10;&#10;Description automatically generated">
                    <a:extLst>
                      <a:ext uri="{FF2B5EF4-FFF2-40B4-BE49-F238E27FC236}">
                        <a16:creationId xmlns:a16="http://schemas.microsoft.com/office/drawing/2014/main" id="{25C97A72-7F98-C095-B8FB-B064492A31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592" r="7855"/>
                  <a:stretch/>
                </p:blipFill>
                <p:spPr>
                  <a:xfrm>
                    <a:off x="3508443" y="1024200"/>
                    <a:ext cx="3526937" cy="2404800"/>
                  </a:xfrm>
                  <a:prstGeom prst="rect">
                    <a:avLst/>
                  </a:prstGeom>
                </p:spPr>
              </p:pic>
              <p:sp>
                <p:nvSpPr>
                  <p:cNvPr id="416" name="Freeform: Shape 415">
                    <a:extLst>
                      <a:ext uri="{FF2B5EF4-FFF2-40B4-BE49-F238E27FC236}">
                        <a16:creationId xmlns:a16="http://schemas.microsoft.com/office/drawing/2014/main" id="{CDD6CEED-595D-F754-002A-C9493932BE7B}"/>
                      </a:ext>
                    </a:extLst>
                  </p:cNvPr>
                  <p:cNvSpPr/>
                  <p:nvPr/>
                </p:nvSpPr>
                <p:spPr>
                  <a:xfrm>
                    <a:off x="3818637" y="1389321"/>
                    <a:ext cx="2993510" cy="1606846"/>
                  </a:xfrm>
                  <a:custGeom>
                    <a:avLst/>
                    <a:gdLst>
                      <a:gd name="connsiteX0" fmla="*/ 207558 w 2993510"/>
                      <a:gd name="connsiteY0" fmla="*/ 7088 h 1606846"/>
                      <a:gd name="connsiteX1" fmla="*/ 569065 w 2993510"/>
                      <a:gd name="connsiteY1" fmla="*/ 574158 h 1606846"/>
                      <a:gd name="connsiteX2" fmla="*/ 696656 w 2993510"/>
                      <a:gd name="connsiteY2" fmla="*/ 1346791 h 1606846"/>
                      <a:gd name="connsiteX3" fmla="*/ 1370051 w 2993510"/>
                      <a:gd name="connsiteY3" fmla="*/ 1509823 h 1606846"/>
                      <a:gd name="connsiteX4" fmla="*/ 1944210 w 2993510"/>
                      <a:gd name="connsiteY4" fmla="*/ 999460 h 1606846"/>
                      <a:gd name="connsiteX5" fmla="*/ 2390777 w 2993510"/>
                      <a:gd name="connsiteY5" fmla="*/ 829339 h 1606846"/>
                      <a:gd name="connsiteX6" fmla="*/ 2759372 w 2993510"/>
                      <a:gd name="connsiteY6" fmla="*/ 1488558 h 1606846"/>
                      <a:gd name="connsiteX7" fmla="*/ 2886963 w 2993510"/>
                      <a:gd name="connsiteY7" fmla="*/ 1601972 h 1606846"/>
                      <a:gd name="connsiteX8" fmla="*/ 2993289 w 2993510"/>
                      <a:gd name="connsiteY8" fmla="*/ 1424763 h 1606846"/>
                      <a:gd name="connsiteX9" fmla="*/ 2858610 w 2993510"/>
                      <a:gd name="connsiteY9" fmla="*/ 1282995 h 1606846"/>
                      <a:gd name="connsiteX10" fmla="*/ 2759372 w 2993510"/>
                      <a:gd name="connsiteY10" fmla="*/ 1488558 h 1606846"/>
                      <a:gd name="connsiteX11" fmla="*/ 2249010 w 2993510"/>
                      <a:gd name="connsiteY11" fmla="*/ 1488558 h 1606846"/>
                      <a:gd name="connsiteX12" fmla="*/ 1944210 w 2993510"/>
                      <a:gd name="connsiteY12" fmla="*/ 999460 h 1606846"/>
                      <a:gd name="connsiteX13" fmla="*/ 1249549 w 2993510"/>
                      <a:gd name="connsiteY13" fmla="*/ 772632 h 1606846"/>
                      <a:gd name="connsiteX14" fmla="*/ 696656 w 2993510"/>
                      <a:gd name="connsiteY14" fmla="*/ 1389321 h 1606846"/>
                      <a:gd name="connsiteX15" fmla="*/ 72879 w 2993510"/>
                      <a:gd name="connsiteY15" fmla="*/ 999460 h 1606846"/>
                      <a:gd name="connsiteX16" fmla="*/ 37437 w 2993510"/>
                      <a:gd name="connsiteY16" fmla="*/ 0 h 1606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993510" h="1606846">
                        <a:moveTo>
                          <a:pt x="207558" y="7088"/>
                        </a:moveTo>
                        <a:cubicBezTo>
                          <a:pt x="347553" y="178981"/>
                          <a:pt x="487549" y="350874"/>
                          <a:pt x="569065" y="574158"/>
                        </a:cubicBezTo>
                        <a:cubicBezTo>
                          <a:pt x="650581" y="797442"/>
                          <a:pt x="563158" y="1190847"/>
                          <a:pt x="696656" y="1346791"/>
                        </a:cubicBezTo>
                        <a:cubicBezTo>
                          <a:pt x="830154" y="1502735"/>
                          <a:pt x="1162125" y="1567712"/>
                          <a:pt x="1370051" y="1509823"/>
                        </a:cubicBezTo>
                        <a:cubicBezTo>
                          <a:pt x="1577977" y="1451935"/>
                          <a:pt x="1774089" y="1112874"/>
                          <a:pt x="1944210" y="999460"/>
                        </a:cubicBezTo>
                        <a:cubicBezTo>
                          <a:pt x="2114331" y="886046"/>
                          <a:pt x="2254917" y="747823"/>
                          <a:pt x="2390777" y="829339"/>
                        </a:cubicBezTo>
                        <a:cubicBezTo>
                          <a:pt x="2526637" y="910855"/>
                          <a:pt x="2676674" y="1359786"/>
                          <a:pt x="2759372" y="1488558"/>
                        </a:cubicBezTo>
                        <a:cubicBezTo>
                          <a:pt x="2842070" y="1617330"/>
                          <a:pt x="2847977" y="1612604"/>
                          <a:pt x="2886963" y="1601972"/>
                        </a:cubicBezTo>
                        <a:cubicBezTo>
                          <a:pt x="2925949" y="1591340"/>
                          <a:pt x="2998014" y="1477926"/>
                          <a:pt x="2993289" y="1424763"/>
                        </a:cubicBezTo>
                        <a:cubicBezTo>
                          <a:pt x="2988564" y="1371600"/>
                          <a:pt x="2897596" y="1272363"/>
                          <a:pt x="2858610" y="1282995"/>
                        </a:cubicBezTo>
                        <a:cubicBezTo>
                          <a:pt x="2819624" y="1293627"/>
                          <a:pt x="2860972" y="1454298"/>
                          <a:pt x="2759372" y="1488558"/>
                        </a:cubicBezTo>
                        <a:cubicBezTo>
                          <a:pt x="2657772" y="1522818"/>
                          <a:pt x="2384870" y="1570074"/>
                          <a:pt x="2249010" y="1488558"/>
                        </a:cubicBezTo>
                        <a:cubicBezTo>
                          <a:pt x="2113150" y="1407042"/>
                          <a:pt x="2110787" y="1118781"/>
                          <a:pt x="1944210" y="999460"/>
                        </a:cubicBezTo>
                        <a:cubicBezTo>
                          <a:pt x="1777633" y="880139"/>
                          <a:pt x="1457475" y="707655"/>
                          <a:pt x="1249549" y="772632"/>
                        </a:cubicBezTo>
                        <a:cubicBezTo>
                          <a:pt x="1041623" y="837609"/>
                          <a:pt x="892768" y="1351516"/>
                          <a:pt x="696656" y="1389321"/>
                        </a:cubicBezTo>
                        <a:cubicBezTo>
                          <a:pt x="500544" y="1427126"/>
                          <a:pt x="182749" y="1231014"/>
                          <a:pt x="72879" y="999460"/>
                        </a:cubicBezTo>
                        <a:cubicBezTo>
                          <a:pt x="-36991" y="767907"/>
                          <a:pt x="223" y="383953"/>
                          <a:pt x="37437" y="0"/>
                        </a:cubicBezTo>
                      </a:path>
                    </a:pathLst>
                  </a:custGeom>
                  <a:solidFill>
                    <a:srgbClr val="FF0000">
                      <a:alpha val="30000"/>
                    </a:srgbClr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17" name="Oval 416">
                    <a:extLst>
                      <a:ext uri="{FF2B5EF4-FFF2-40B4-BE49-F238E27FC236}">
                        <a16:creationId xmlns:a16="http://schemas.microsoft.com/office/drawing/2014/main" id="{E512B39F-0B44-7B86-D5DB-4C06AA84566B}"/>
                      </a:ext>
                    </a:extLst>
                  </p:cNvPr>
                  <p:cNvSpPr/>
                  <p:nvPr/>
                </p:nvSpPr>
                <p:spPr>
                  <a:xfrm>
                    <a:off x="4478654" y="2697319"/>
                    <a:ext cx="108000" cy="108000"/>
                  </a:xfrm>
                  <a:prstGeom prst="ellipse">
                    <a:avLst/>
                  </a:prstGeom>
                  <a:solidFill>
                    <a:srgbClr val="54823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18" name="Oval 417">
                    <a:extLst>
                      <a:ext uri="{FF2B5EF4-FFF2-40B4-BE49-F238E27FC236}">
                        <a16:creationId xmlns:a16="http://schemas.microsoft.com/office/drawing/2014/main" id="{9BA37A79-2B70-FBFE-39AD-091109FD1D1C}"/>
                      </a:ext>
                    </a:extLst>
                  </p:cNvPr>
                  <p:cNvSpPr/>
                  <p:nvPr/>
                </p:nvSpPr>
                <p:spPr>
                  <a:xfrm>
                    <a:off x="5712032" y="2364165"/>
                    <a:ext cx="108000" cy="108000"/>
                  </a:xfrm>
                  <a:prstGeom prst="ellipse">
                    <a:avLst/>
                  </a:prstGeom>
                  <a:solidFill>
                    <a:srgbClr val="54823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19" name="Oval 418">
                    <a:extLst>
                      <a:ext uri="{FF2B5EF4-FFF2-40B4-BE49-F238E27FC236}">
                        <a16:creationId xmlns:a16="http://schemas.microsoft.com/office/drawing/2014/main" id="{EEF7AE96-91A8-9607-F6DC-97E3E54BEFF0}"/>
                      </a:ext>
                    </a:extLst>
                  </p:cNvPr>
                  <p:cNvSpPr/>
                  <p:nvPr/>
                </p:nvSpPr>
                <p:spPr>
                  <a:xfrm>
                    <a:off x="6527194" y="2805319"/>
                    <a:ext cx="108000" cy="108000"/>
                  </a:xfrm>
                  <a:prstGeom prst="ellipse">
                    <a:avLst/>
                  </a:prstGeom>
                  <a:solidFill>
                    <a:srgbClr val="54823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20" name="Oval 419">
                    <a:extLst>
                      <a:ext uri="{FF2B5EF4-FFF2-40B4-BE49-F238E27FC236}">
                        <a16:creationId xmlns:a16="http://schemas.microsoft.com/office/drawing/2014/main" id="{43733BC1-5661-EFB9-ABE6-613777040B90}"/>
                      </a:ext>
                    </a:extLst>
                  </p:cNvPr>
                  <p:cNvSpPr/>
                  <p:nvPr/>
                </p:nvSpPr>
                <p:spPr>
                  <a:xfrm>
                    <a:off x="3904496" y="2118600"/>
                    <a:ext cx="108000" cy="10800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21" name="Oval 420">
                    <a:extLst>
                      <a:ext uri="{FF2B5EF4-FFF2-40B4-BE49-F238E27FC236}">
                        <a16:creationId xmlns:a16="http://schemas.microsoft.com/office/drawing/2014/main" id="{D237580F-6D2B-3B00-6BEC-3A35217C3237}"/>
                      </a:ext>
                    </a:extLst>
                  </p:cNvPr>
                  <p:cNvSpPr/>
                  <p:nvPr/>
                </p:nvSpPr>
                <p:spPr>
                  <a:xfrm>
                    <a:off x="4079678" y="2589319"/>
                    <a:ext cx="108000" cy="10800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22" name="Oval 421">
                    <a:extLst>
                      <a:ext uri="{FF2B5EF4-FFF2-40B4-BE49-F238E27FC236}">
                        <a16:creationId xmlns:a16="http://schemas.microsoft.com/office/drawing/2014/main" id="{9EC45CE9-EF05-B5F4-09AD-1FF7F4CC85FC}"/>
                      </a:ext>
                    </a:extLst>
                  </p:cNvPr>
                  <p:cNvSpPr/>
                  <p:nvPr/>
                </p:nvSpPr>
                <p:spPr>
                  <a:xfrm>
                    <a:off x="4424654" y="2980314"/>
                    <a:ext cx="108000" cy="10800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23" name="Oval 422">
                    <a:extLst>
                      <a:ext uri="{FF2B5EF4-FFF2-40B4-BE49-F238E27FC236}">
                        <a16:creationId xmlns:a16="http://schemas.microsoft.com/office/drawing/2014/main" id="{05CB010A-CC66-7D2A-9163-9D0C69B285A9}"/>
                      </a:ext>
                    </a:extLst>
                  </p:cNvPr>
                  <p:cNvSpPr/>
                  <p:nvPr/>
                </p:nvSpPr>
                <p:spPr>
                  <a:xfrm>
                    <a:off x="5077622" y="2570759"/>
                    <a:ext cx="108000" cy="10800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24" name="Oval 423">
                    <a:extLst>
                      <a:ext uri="{FF2B5EF4-FFF2-40B4-BE49-F238E27FC236}">
                        <a16:creationId xmlns:a16="http://schemas.microsoft.com/office/drawing/2014/main" id="{F2D6A72F-8A90-F180-0D57-F0202D38FD1E}"/>
                      </a:ext>
                    </a:extLst>
                  </p:cNvPr>
                  <p:cNvSpPr/>
                  <p:nvPr/>
                </p:nvSpPr>
                <p:spPr>
                  <a:xfrm>
                    <a:off x="5604032" y="2272018"/>
                    <a:ext cx="108000" cy="10800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25" name="Oval 424">
                    <a:extLst>
                      <a:ext uri="{FF2B5EF4-FFF2-40B4-BE49-F238E27FC236}">
                        <a16:creationId xmlns:a16="http://schemas.microsoft.com/office/drawing/2014/main" id="{7E5C6946-289E-FE2C-BAFB-7DCD4FDA7652}"/>
                      </a:ext>
                    </a:extLst>
                  </p:cNvPr>
                  <p:cNvSpPr/>
                  <p:nvPr/>
                </p:nvSpPr>
                <p:spPr>
                  <a:xfrm>
                    <a:off x="6394705" y="2523845"/>
                    <a:ext cx="108000" cy="10800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26" name="Oval 425">
                    <a:extLst>
                      <a:ext uri="{FF2B5EF4-FFF2-40B4-BE49-F238E27FC236}">
                        <a16:creationId xmlns:a16="http://schemas.microsoft.com/office/drawing/2014/main" id="{94A80250-28EF-9071-F426-8019E1231D99}"/>
                      </a:ext>
                    </a:extLst>
                  </p:cNvPr>
                  <p:cNvSpPr/>
                  <p:nvPr/>
                </p:nvSpPr>
                <p:spPr>
                  <a:xfrm>
                    <a:off x="6625848" y="2481319"/>
                    <a:ext cx="108000" cy="10800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p:sp>
                <p:nvSpPr>
                  <p:cNvPr id="427" name="Oval 426">
                    <a:extLst>
                      <a:ext uri="{FF2B5EF4-FFF2-40B4-BE49-F238E27FC236}">
                        <a16:creationId xmlns:a16="http://schemas.microsoft.com/office/drawing/2014/main" id="{9F3A894D-EBE0-511A-9391-6ECD3C2ABD96}"/>
                      </a:ext>
                    </a:extLst>
                  </p:cNvPr>
                  <p:cNvSpPr/>
                  <p:nvPr/>
                </p:nvSpPr>
                <p:spPr>
                  <a:xfrm>
                    <a:off x="4532654" y="2975664"/>
                    <a:ext cx="108000" cy="10800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8" name="TextBox 427">
                        <a:extLst>
                          <a:ext uri="{FF2B5EF4-FFF2-40B4-BE49-F238E27FC236}">
                            <a16:creationId xmlns:a16="http://schemas.microsoft.com/office/drawing/2014/main" id="{D1974B6E-7C85-48AD-B915-B48AC7A3CC2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33677" y="1311021"/>
                        <a:ext cx="1721112" cy="646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m:oMathPara>
                        </a14:m>
                        <a:endParaRPr lang="en-US" b="0" i="1" dirty="0">
                          <a:latin typeface="Cambria Math" panose="02040503050406030204" pitchFamily="18" charset="0"/>
                        </a:endParaRP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=2, </m:t>
                              </m:r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428" name="TextBox 427">
                        <a:extLst>
                          <a:ext uri="{FF2B5EF4-FFF2-40B4-BE49-F238E27FC236}">
                            <a16:creationId xmlns:a16="http://schemas.microsoft.com/office/drawing/2014/main" id="{D1974B6E-7C85-48AD-B915-B48AC7A3CC2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133677" y="1311021"/>
                        <a:ext cx="1721112" cy="646331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b="-754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A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407" name="TextBox 406">
                  <a:extLst>
                    <a:ext uri="{FF2B5EF4-FFF2-40B4-BE49-F238E27FC236}">
                      <a16:creationId xmlns:a16="http://schemas.microsoft.com/office/drawing/2014/main" id="{1DC51455-8D3D-F5AA-2877-5FAE2EDE91E8}"/>
                    </a:ext>
                  </a:extLst>
                </p:cNvPr>
                <p:cNvSpPr txBox="1"/>
                <p:nvPr/>
              </p:nvSpPr>
              <p:spPr>
                <a:xfrm>
                  <a:off x="6272553" y="1346724"/>
                  <a:ext cx="162625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Mean HF</a:t>
                  </a:r>
                </a:p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Mean LF</a:t>
                  </a:r>
                </a:p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HF Data   </a:t>
                  </a:r>
                  <a:endParaRPr lang="en-AE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LF  Data      </a:t>
                  </a:r>
                  <a:endParaRPr lang="en-AE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08" name="Group 407">
                  <a:extLst>
                    <a:ext uri="{FF2B5EF4-FFF2-40B4-BE49-F238E27FC236}">
                      <a16:creationId xmlns:a16="http://schemas.microsoft.com/office/drawing/2014/main" id="{5908F3AF-E73A-0999-BBE3-7FBF30691448}"/>
                    </a:ext>
                  </a:extLst>
                </p:cNvPr>
                <p:cNvGrpSpPr/>
                <p:nvPr/>
              </p:nvGrpSpPr>
              <p:grpSpPr>
                <a:xfrm>
                  <a:off x="6272553" y="1386486"/>
                  <a:ext cx="1186873" cy="844149"/>
                  <a:chOff x="9055283" y="2072733"/>
                  <a:chExt cx="1186873" cy="844149"/>
                </a:xfrm>
              </p:grpSpPr>
              <p:grpSp>
                <p:nvGrpSpPr>
                  <p:cNvPr id="409" name="Group 408">
                    <a:extLst>
                      <a:ext uri="{FF2B5EF4-FFF2-40B4-BE49-F238E27FC236}">
                        <a16:creationId xmlns:a16="http://schemas.microsoft.com/office/drawing/2014/main" id="{FE68E782-B132-6092-9761-9C31BF2920D2}"/>
                      </a:ext>
                    </a:extLst>
                  </p:cNvPr>
                  <p:cNvGrpSpPr/>
                  <p:nvPr/>
                </p:nvGrpSpPr>
                <p:grpSpPr>
                  <a:xfrm>
                    <a:off x="9849833" y="2150702"/>
                    <a:ext cx="309427" cy="628477"/>
                    <a:chOff x="7986764" y="1630888"/>
                    <a:chExt cx="309427" cy="628477"/>
                  </a:xfrm>
                </p:grpSpPr>
                <p:cxnSp>
                  <p:nvCxnSpPr>
                    <p:cNvPr id="411" name="Straight Connector 410">
                      <a:extLst>
                        <a:ext uri="{FF2B5EF4-FFF2-40B4-BE49-F238E27FC236}">
                          <a16:creationId xmlns:a16="http://schemas.microsoft.com/office/drawing/2014/main" id="{36222C7A-7A22-2C99-DC40-33EF6081546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99479" y="1630888"/>
                      <a:ext cx="296712" cy="0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2" name="Straight Connector 411">
                      <a:extLst>
                        <a:ext uri="{FF2B5EF4-FFF2-40B4-BE49-F238E27FC236}">
                          <a16:creationId xmlns:a16="http://schemas.microsoft.com/office/drawing/2014/main" id="{5114AE55-114F-1E46-8F56-9823B463728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86764" y="1818497"/>
                      <a:ext cx="296712" cy="0"/>
                    </a:xfrm>
                    <a:prstGeom prst="line">
                      <a:avLst/>
                    </a:prstGeom>
                    <a:ln w="19050" cap="flat" cmpd="sng" algn="ctr">
                      <a:solidFill>
                        <a:srgbClr val="3A3AEF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13" name="Oval 412">
                      <a:extLst>
                        <a:ext uri="{FF2B5EF4-FFF2-40B4-BE49-F238E27FC236}">
                          <a16:creationId xmlns:a16="http://schemas.microsoft.com/office/drawing/2014/main" id="{D7152E6A-8C00-9BB1-A47F-351958A5C7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47835" y="1978828"/>
                      <a:ext cx="66481" cy="75202"/>
                    </a:xfrm>
                    <a:prstGeom prst="ellipse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AE" dirty="0"/>
                    </a:p>
                  </p:txBody>
                </p:sp>
                <p:sp>
                  <p:nvSpPr>
                    <p:cNvPr id="414" name="Oval 413">
                      <a:extLst>
                        <a:ext uri="{FF2B5EF4-FFF2-40B4-BE49-F238E27FC236}">
                          <a16:creationId xmlns:a16="http://schemas.microsoft.com/office/drawing/2014/main" id="{BE9C44E1-C23F-DF15-4368-EC7BA42993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47835" y="2184163"/>
                      <a:ext cx="66481" cy="7520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AE" dirty="0"/>
                    </a:p>
                  </p:txBody>
                </p:sp>
              </p:grpSp>
              <p:sp>
                <p:nvSpPr>
                  <p:cNvPr id="410" name="TextBox 409">
                    <a:extLst>
                      <a:ext uri="{FF2B5EF4-FFF2-40B4-BE49-F238E27FC236}">
                        <a16:creationId xmlns:a16="http://schemas.microsoft.com/office/drawing/2014/main" id="{6492F7BC-0086-73C5-C103-8DB0CC395B72}"/>
                      </a:ext>
                    </a:extLst>
                  </p:cNvPr>
                  <p:cNvSpPr txBox="1"/>
                  <p:nvPr/>
                </p:nvSpPr>
                <p:spPr>
                  <a:xfrm>
                    <a:off x="9055283" y="2072733"/>
                    <a:ext cx="1186873" cy="84414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endParaRPr lang="en-AE" dirty="0"/>
                  </a:p>
                </p:txBody>
              </p:sp>
            </p:grpSp>
          </p:grpSp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6BF5BBFE-2692-F3C8-4F41-11975B496E34}"/>
                  </a:ext>
                </a:extLst>
              </p:cNvPr>
              <p:cNvGrpSpPr/>
              <p:nvPr/>
            </p:nvGrpSpPr>
            <p:grpSpPr>
              <a:xfrm>
                <a:off x="4494513" y="3882635"/>
                <a:ext cx="4122000" cy="2404800"/>
                <a:chOff x="2665228" y="1454889"/>
                <a:chExt cx="4122000" cy="2404800"/>
              </a:xfrm>
            </p:grpSpPr>
            <p:grpSp>
              <p:nvGrpSpPr>
                <p:cNvPr id="390" name="Group 389">
                  <a:extLst>
                    <a:ext uri="{FF2B5EF4-FFF2-40B4-BE49-F238E27FC236}">
                      <a16:creationId xmlns:a16="http://schemas.microsoft.com/office/drawing/2014/main" id="{89D8E752-2B35-745C-DBC4-D785BFBB6D57}"/>
                    </a:ext>
                  </a:extLst>
                </p:cNvPr>
                <p:cNvGrpSpPr/>
                <p:nvPr/>
              </p:nvGrpSpPr>
              <p:grpSpPr>
                <a:xfrm>
                  <a:off x="2665228" y="1454889"/>
                  <a:ext cx="4122000" cy="2404800"/>
                  <a:chOff x="609600" y="228600"/>
                  <a:chExt cx="10972800" cy="6400800"/>
                </a:xfrm>
              </p:grpSpPr>
              <p:pic>
                <p:nvPicPr>
                  <p:cNvPr id="404" name="Picture 403" descr="Chart&#10;&#10;Description automatically generated">
                    <a:extLst>
                      <a:ext uri="{FF2B5EF4-FFF2-40B4-BE49-F238E27FC236}">
                        <a16:creationId xmlns:a16="http://schemas.microsoft.com/office/drawing/2014/main" id="{786ECE7D-E165-2283-AE04-1FD7B24CA9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9600" y="228600"/>
                    <a:ext cx="10972800" cy="6400800"/>
                  </a:xfrm>
                  <a:prstGeom prst="rect">
                    <a:avLst/>
                  </a:prstGeom>
                </p:spPr>
              </p:pic>
              <p:sp>
                <p:nvSpPr>
                  <p:cNvPr id="405" name="Freeform: Shape 404">
                    <a:extLst>
                      <a:ext uri="{FF2B5EF4-FFF2-40B4-BE49-F238E27FC236}">
                        <a16:creationId xmlns:a16="http://schemas.microsoft.com/office/drawing/2014/main" id="{E6019825-9118-7D46-E56E-44B89E427CC6}"/>
                      </a:ext>
                    </a:extLst>
                  </p:cNvPr>
                  <p:cNvSpPr/>
                  <p:nvPr/>
                </p:nvSpPr>
                <p:spPr>
                  <a:xfrm>
                    <a:off x="2090508" y="1906772"/>
                    <a:ext cx="8670322" cy="3588349"/>
                  </a:xfrm>
                  <a:custGeom>
                    <a:avLst/>
                    <a:gdLst>
                      <a:gd name="connsiteX0" fmla="*/ 340804 w 8670322"/>
                      <a:gd name="connsiteY0" fmla="*/ 0 h 3588349"/>
                      <a:gd name="connsiteX1" fmla="*/ 1226850 w 8670322"/>
                      <a:gd name="connsiteY1" fmla="*/ 630865 h 3588349"/>
                      <a:gd name="connsiteX2" fmla="*/ 1375706 w 8670322"/>
                      <a:gd name="connsiteY2" fmla="*/ 2062716 h 3588349"/>
                      <a:gd name="connsiteX3" fmla="*/ 2417697 w 8670322"/>
                      <a:gd name="connsiteY3" fmla="*/ 3572540 h 3588349"/>
                      <a:gd name="connsiteX4" fmla="*/ 2786292 w 8670322"/>
                      <a:gd name="connsiteY4" fmla="*/ 2721935 h 3588349"/>
                      <a:gd name="connsiteX5" fmla="*/ 4522943 w 8670322"/>
                      <a:gd name="connsiteY5" fmla="*/ 701749 h 3588349"/>
                      <a:gd name="connsiteX6" fmla="*/ 6996785 w 8670322"/>
                      <a:gd name="connsiteY6" fmla="*/ 765544 h 3588349"/>
                      <a:gd name="connsiteX7" fmla="*/ 7698534 w 8670322"/>
                      <a:gd name="connsiteY7" fmla="*/ 1757916 h 3588349"/>
                      <a:gd name="connsiteX8" fmla="*/ 8591669 w 8670322"/>
                      <a:gd name="connsiteY8" fmla="*/ 1481470 h 3588349"/>
                      <a:gd name="connsiteX9" fmla="*/ 8456990 w 8670322"/>
                      <a:gd name="connsiteY9" fmla="*/ 567070 h 3588349"/>
                      <a:gd name="connsiteX10" fmla="*/ 7103111 w 8670322"/>
                      <a:gd name="connsiteY10" fmla="*/ 800986 h 3588349"/>
                      <a:gd name="connsiteX11" fmla="*/ 5288487 w 8670322"/>
                      <a:gd name="connsiteY11" fmla="*/ 2636875 h 3588349"/>
                      <a:gd name="connsiteX12" fmla="*/ 2786292 w 8670322"/>
                      <a:gd name="connsiteY12" fmla="*/ 2721935 h 3588349"/>
                      <a:gd name="connsiteX13" fmla="*/ 2183780 w 8670322"/>
                      <a:gd name="connsiteY13" fmla="*/ 1821712 h 3588349"/>
                      <a:gd name="connsiteX14" fmla="*/ 1340264 w 8670322"/>
                      <a:gd name="connsiteY14" fmla="*/ 1928037 h 3588349"/>
                      <a:gd name="connsiteX15" fmla="*/ 149418 w 8670322"/>
                      <a:gd name="connsiteY15" fmla="*/ 1226288 h 3588349"/>
                      <a:gd name="connsiteX16" fmla="*/ 57269 w 8670322"/>
                      <a:gd name="connsiteY16" fmla="*/ 56707 h 35883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670322" h="3588349">
                        <a:moveTo>
                          <a:pt x="340804" y="0"/>
                        </a:moveTo>
                        <a:cubicBezTo>
                          <a:pt x="697585" y="143539"/>
                          <a:pt x="1054366" y="287079"/>
                          <a:pt x="1226850" y="630865"/>
                        </a:cubicBezTo>
                        <a:cubicBezTo>
                          <a:pt x="1399334" y="974651"/>
                          <a:pt x="1177232" y="1572437"/>
                          <a:pt x="1375706" y="2062716"/>
                        </a:cubicBezTo>
                        <a:cubicBezTo>
                          <a:pt x="1574180" y="2552995"/>
                          <a:pt x="2182599" y="3462670"/>
                          <a:pt x="2417697" y="3572540"/>
                        </a:cubicBezTo>
                        <a:cubicBezTo>
                          <a:pt x="2652795" y="3682410"/>
                          <a:pt x="2435418" y="3200400"/>
                          <a:pt x="2786292" y="2721935"/>
                        </a:cubicBezTo>
                        <a:cubicBezTo>
                          <a:pt x="3137166" y="2243470"/>
                          <a:pt x="3821194" y="1027814"/>
                          <a:pt x="4522943" y="701749"/>
                        </a:cubicBezTo>
                        <a:cubicBezTo>
                          <a:pt x="5224692" y="375684"/>
                          <a:pt x="6467520" y="589516"/>
                          <a:pt x="6996785" y="765544"/>
                        </a:cubicBezTo>
                        <a:cubicBezTo>
                          <a:pt x="7526050" y="941572"/>
                          <a:pt x="7432720" y="1638595"/>
                          <a:pt x="7698534" y="1757916"/>
                        </a:cubicBezTo>
                        <a:cubicBezTo>
                          <a:pt x="7964348" y="1877237"/>
                          <a:pt x="8465260" y="1679944"/>
                          <a:pt x="8591669" y="1481470"/>
                        </a:cubicBezTo>
                        <a:cubicBezTo>
                          <a:pt x="8718078" y="1282996"/>
                          <a:pt x="8705083" y="680484"/>
                          <a:pt x="8456990" y="567070"/>
                        </a:cubicBezTo>
                        <a:cubicBezTo>
                          <a:pt x="8208897" y="453656"/>
                          <a:pt x="7631195" y="456019"/>
                          <a:pt x="7103111" y="800986"/>
                        </a:cubicBezTo>
                        <a:cubicBezTo>
                          <a:pt x="6575027" y="1145953"/>
                          <a:pt x="6007957" y="2316717"/>
                          <a:pt x="5288487" y="2636875"/>
                        </a:cubicBezTo>
                        <a:cubicBezTo>
                          <a:pt x="4569017" y="2957033"/>
                          <a:pt x="3303743" y="2857796"/>
                          <a:pt x="2786292" y="2721935"/>
                        </a:cubicBezTo>
                        <a:cubicBezTo>
                          <a:pt x="2268841" y="2586075"/>
                          <a:pt x="2424785" y="1954028"/>
                          <a:pt x="2183780" y="1821712"/>
                        </a:cubicBezTo>
                        <a:cubicBezTo>
                          <a:pt x="1942775" y="1689396"/>
                          <a:pt x="1679324" y="2027274"/>
                          <a:pt x="1340264" y="1928037"/>
                        </a:cubicBezTo>
                        <a:cubicBezTo>
                          <a:pt x="1001204" y="1828800"/>
                          <a:pt x="363250" y="1538176"/>
                          <a:pt x="149418" y="1226288"/>
                        </a:cubicBezTo>
                        <a:cubicBezTo>
                          <a:pt x="-64414" y="914400"/>
                          <a:pt x="-3573" y="485553"/>
                          <a:pt x="57269" y="56707"/>
                        </a:cubicBezTo>
                      </a:path>
                    </a:pathLst>
                  </a:custGeom>
                  <a:solidFill>
                    <a:srgbClr val="FF0000">
                      <a:alpha val="30000"/>
                    </a:srgbClr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E"/>
                  </a:p>
                </p:txBody>
              </p:sp>
            </p:grp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E6570B0-75B9-415E-4E9C-81EA205A8A8F}"/>
                    </a:ext>
                  </a:extLst>
                </p:cNvPr>
                <p:cNvSpPr/>
                <p:nvPr/>
              </p:nvSpPr>
              <p:spPr>
                <a:xfrm>
                  <a:off x="3657215" y="2759460"/>
                  <a:ext cx="124117" cy="114765"/>
                </a:xfrm>
                <a:prstGeom prst="ellipse">
                  <a:avLst/>
                </a:prstGeom>
                <a:solidFill>
                  <a:srgbClr val="54823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F2D8CB18-7B22-849C-8BEA-11CD0A92C410}"/>
                    </a:ext>
                  </a:extLst>
                </p:cNvPr>
                <p:cNvSpPr/>
                <p:nvPr/>
              </p:nvSpPr>
              <p:spPr>
                <a:xfrm>
                  <a:off x="4217196" y="3064785"/>
                  <a:ext cx="124117" cy="114765"/>
                </a:xfrm>
                <a:prstGeom prst="ellipse">
                  <a:avLst/>
                </a:prstGeom>
                <a:solidFill>
                  <a:srgbClr val="54823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02199219-E853-E926-38D5-C53E22BFC873}"/>
                    </a:ext>
                  </a:extLst>
                </p:cNvPr>
                <p:cNvSpPr/>
                <p:nvPr/>
              </p:nvSpPr>
              <p:spPr>
                <a:xfrm>
                  <a:off x="5819168" y="2363036"/>
                  <a:ext cx="124117" cy="114765"/>
                </a:xfrm>
                <a:prstGeom prst="ellipse">
                  <a:avLst/>
                </a:prstGeom>
                <a:solidFill>
                  <a:srgbClr val="54823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4D47F3DD-DFDC-DE8F-E6A5-1CB1701ABC31}"/>
                    </a:ext>
                  </a:extLst>
                </p:cNvPr>
                <p:cNvSpPr/>
                <p:nvPr/>
              </p:nvSpPr>
              <p:spPr>
                <a:xfrm>
                  <a:off x="3293894" y="1859761"/>
                  <a:ext cx="124117" cy="114765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6D819188-E789-5CDC-A538-9C21DADC9CD5}"/>
                    </a:ext>
                  </a:extLst>
                </p:cNvPr>
                <p:cNvSpPr/>
                <p:nvPr/>
              </p:nvSpPr>
              <p:spPr>
                <a:xfrm>
                  <a:off x="3533098" y="2477801"/>
                  <a:ext cx="124117" cy="114765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F56D44A1-C054-3C39-2773-6D46CC576F5F}"/>
                    </a:ext>
                  </a:extLst>
                </p:cNvPr>
                <p:cNvSpPr/>
                <p:nvPr/>
              </p:nvSpPr>
              <p:spPr>
                <a:xfrm>
                  <a:off x="3846509" y="3064784"/>
                  <a:ext cx="124117" cy="114765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F21C6FC8-9062-A759-A301-B01D0A80E289}"/>
                    </a:ext>
                  </a:extLst>
                </p:cNvPr>
                <p:cNvSpPr/>
                <p:nvPr/>
              </p:nvSpPr>
              <p:spPr>
                <a:xfrm>
                  <a:off x="4217195" y="3314235"/>
                  <a:ext cx="124117" cy="114765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67E92363-4005-3405-99F8-D23A6236723C}"/>
                    </a:ext>
                  </a:extLst>
                </p:cNvPr>
                <p:cNvSpPr/>
                <p:nvPr/>
              </p:nvSpPr>
              <p:spPr>
                <a:xfrm>
                  <a:off x="4326715" y="3371617"/>
                  <a:ext cx="124117" cy="114765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DE3D9DCE-B621-96CC-CF00-534D41288777}"/>
                    </a:ext>
                  </a:extLst>
                </p:cNvPr>
                <p:cNvSpPr/>
                <p:nvPr/>
              </p:nvSpPr>
              <p:spPr>
                <a:xfrm>
                  <a:off x="4602111" y="3287812"/>
                  <a:ext cx="124117" cy="114765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F838AFF0-4922-97A9-61B5-E59D7661A5E4}"/>
                    </a:ext>
                  </a:extLst>
                </p:cNvPr>
                <p:cNvSpPr/>
                <p:nvPr/>
              </p:nvSpPr>
              <p:spPr>
                <a:xfrm>
                  <a:off x="5353066" y="2759459"/>
                  <a:ext cx="124117" cy="114765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697D3C5C-C0BB-99A9-266D-D8385C9A5463}"/>
                    </a:ext>
                  </a:extLst>
                </p:cNvPr>
                <p:cNvSpPr/>
                <p:nvPr/>
              </p:nvSpPr>
              <p:spPr>
                <a:xfrm>
                  <a:off x="5909259" y="2514661"/>
                  <a:ext cx="124117" cy="114765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1F190BA3-E08A-620A-4033-5A660359A322}"/>
                    </a:ext>
                  </a:extLst>
                </p:cNvPr>
                <p:cNvSpPr/>
                <p:nvPr/>
              </p:nvSpPr>
              <p:spPr>
                <a:xfrm>
                  <a:off x="6354483" y="2592566"/>
                  <a:ext cx="124117" cy="114765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3" name="TextBox 402">
                      <a:extLst>
                        <a:ext uri="{FF2B5EF4-FFF2-40B4-BE49-F238E27FC236}">
                          <a16:creationId xmlns:a16="http://schemas.microsoft.com/office/drawing/2014/main" id="{EDAD4E74-7D85-72CA-1B3E-3F6C70E019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95156" y="1638550"/>
                      <a:ext cx="1714893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oMath>
                        </m:oMathPara>
                      </a14:m>
                      <a:endParaRPr lang="en-US" b="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=2, </m:t>
                            </m:r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0" name="TextBox 109">
                      <a:extLst>
                        <a:ext uri="{FF2B5EF4-FFF2-40B4-BE49-F238E27FC236}">
                          <a16:creationId xmlns:a16="http://schemas.microsoft.com/office/drawing/2014/main" id="{8CB602E7-0CB6-A492-112D-05D295E2089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95156" y="1638550"/>
                      <a:ext cx="1714893" cy="646331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75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712237BC-DBD0-9C57-7631-B4F330E0A2B2}"/>
                </a:ext>
              </a:extLst>
            </p:cNvPr>
            <p:cNvSpPr/>
            <p:nvPr/>
          </p:nvSpPr>
          <p:spPr>
            <a:xfrm>
              <a:off x="4339309" y="1071229"/>
              <a:ext cx="4513442" cy="556215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336" name="Arrow: Down 335">
            <a:extLst>
              <a:ext uri="{FF2B5EF4-FFF2-40B4-BE49-F238E27FC236}">
                <a16:creationId xmlns:a16="http://schemas.microsoft.com/office/drawing/2014/main" id="{139CD37A-29E6-1FAC-76B7-79D39CD925DE}"/>
              </a:ext>
            </a:extLst>
          </p:cNvPr>
          <p:cNvSpPr/>
          <p:nvPr/>
        </p:nvSpPr>
        <p:spPr>
          <a:xfrm rot="10800000">
            <a:off x="3445535" y="714461"/>
            <a:ext cx="533767" cy="395299"/>
          </a:xfrm>
          <a:prstGeom prst="downArrow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BD31A-59BA-D204-400F-3267FA34F384}"/>
              </a:ext>
            </a:extLst>
          </p:cNvPr>
          <p:cNvSpPr txBox="1"/>
          <p:nvPr/>
        </p:nvSpPr>
        <p:spPr>
          <a:xfrm>
            <a:off x="10318212" y="4708909"/>
            <a:ext cx="18737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115937.</a:t>
            </a:r>
          </a:p>
        </p:txBody>
      </p:sp>
      <p:sp>
        <p:nvSpPr>
          <p:cNvPr id="361" name="Arrow: Right 360">
            <a:extLst>
              <a:ext uri="{FF2B5EF4-FFF2-40B4-BE49-F238E27FC236}">
                <a16:creationId xmlns:a16="http://schemas.microsoft.com/office/drawing/2014/main" id="{DD086677-EA2E-1166-D3C8-1EE38514FB81}"/>
              </a:ext>
            </a:extLst>
          </p:cNvPr>
          <p:cNvSpPr/>
          <p:nvPr/>
        </p:nvSpPr>
        <p:spPr>
          <a:xfrm rot="10800000">
            <a:off x="6296275" y="3467740"/>
            <a:ext cx="626871" cy="5341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804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748A42-93D4-C68C-5C5F-60E61C7F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EBA6E-A630-9D0C-7253-7E7043AACC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Challenges in </a:t>
            </a:r>
            <a:r>
              <a:rPr lang="en-US" dirty="0" err="1"/>
              <a:t>mfbo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C7B568-46E9-22B3-B0F0-AB9A5762313D}"/>
              </a:ext>
            </a:extLst>
          </p:cNvPr>
          <p:cNvSpPr txBox="1"/>
          <p:nvPr/>
        </p:nvSpPr>
        <p:spPr>
          <a:xfrm>
            <a:off x="158435" y="429880"/>
            <a:ext cx="11875129" cy="25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Multiple </a:t>
            </a:r>
            <a:r>
              <a:rPr lang="en-US" sz="2800" b="1" dirty="0"/>
              <a:t>coexisting</a:t>
            </a:r>
            <a:r>
              <a:rPr lang="en-US" sz="2800" dirty="0"/>
              <a:t> uncertainty sources: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(1)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Lack of high-fidelity data   </a:t>
            </a:r>
            <a:r>
              <a:rPr lang="en-US" sz="2800" b="1" dirty="0">
                <a:solidFill>
                  <a:srgbClr val="FF0000"/>
                </a:solidFill>
              </a:rPr>
              <a:t>(2)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Stochastic nature of the data sources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(3) </a:t>
            </a:r>
            <a:r>
              <a:rPr lang="en-US" sz="2800" dirty="0"/>
              <a:t>Mixed feature space: Non-differentiable qualitative inputs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(4) </a:t>
            </a:r>
            <a:r>
              <a:rPr lang="en-US" sz="2800" dirty="0"/>
              <a:t>Bias of low-fidelity data: Convergence to incorrect optima</a:t>
            </a:r>
          </a:p>
        </p:txBody>
      </p:sp>
      <p:pic>
        <p:nvPicPr>
          <p:cNvPr id="12" name="Picture 11" descr="A picture containing text, line, diagram, plot&#10;&#10;Description automatically generated">
            <a:extLst>
              <a:ext uri="{FF2B5EF4-FFF2-40B4-BE49-F238E27FC236}">
                <a16:creationId xmlns:a16="http://schemas.microsoft.com/office/drawing/2014/main" id="{97238128-E186-45D7-AEA2-2906AE30E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121" y="2950036"/>
            <a:ext cx="6019322" cy="3511271"/>
          </a:xfrm>
          <a:prstGeom prst="rect">
            <a:avLst/>
          </a:prstGeom>
        </p:spPr>
      </p:pic>
      <p:pic>
        <p:nvPicPr>
          <p:cNvPr id="14" name="Picture 13" descr="A picture containing diagram, line, plot&#10;&#10;Description automatically generated">
            <a:extLst>
              <a:ext uri="{FF2B5EF4-FFF2-40B4-BE49-F238E27FC236}">
                <a16:creationId xmlns:a16="http://schemas.microsoft.com/office/drawing/2014/main" id="{8B25E047-52A8-B477-03AC-F9807F3B9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5" y="2950036"/>
            <a:ext cx="6001704" cy="3500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42CFC0-3AFD-7FD4-6191-12A31BA5F722}"/>
              </a:ext>
            </a:extLst>
          </p:cNvPr>
          <p:cNvSpPr txBox="1"/>
          <p:nvPr/>
        </p:nvSpPr>
        <p:spPr>
          <a:xfrm>
            <a:off x="2530125" y="6166510"/>
            <a:ext cx="10159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115937.</a:t>
            </a:r>
          </a:p>
        </p:txBody>
      </p:sp>
    </p:spTree>
    <p:extLst>
      <p:ext uri="{BB962C8B-B14F-4D97-AF65-F5344CB8AC3E}">
        <p14:creationId xmlns:p14="http://schemas.microsoft.com/office/powerpoint/2010/main" val="80773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F6AA89-144F-43FD-A80D-057B71D8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35E06-87BC-4BB2-AA1D-AA285438A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Gaussian processes (GP</a:t>
            </a:r>
            <a:r>
              <a:rPr lang="en-US" sz="2800" dirty="0"/>
              <a:t>s</a:t>
            </a:r>
            <a:r>
              <a:rPr lang="en-US" dirty="0"/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D93814-8A41-4CF4-8D5E-37DEA560CB23}"/>
              </a:ext>
            </a:extLst>
          </p:cNvPr>
          <p:cNvSpPr/>
          <p:nvPr/>
        </p:nvSpPr>
        <p:spPr>
          <a:xfrm>
            <a:off x="158436" y="756593"/>
            <a:ext cx="8630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</a:rPr>
              <a:t>Completely characterized by mean and covariance functions:</a:t>
            </a:r>
            <a:endParaRPr lang="en-US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DDCB03-66DC-421F-B0F9-79D4084B34F7}"/>
                  </a:ext>
                </a:extLst>
              </p:cNvPr>
              <p:cNvSpPr txBox="1"/>
              <p:nvPr/>
            </p:nvSpPr>
            <p:spPr>
              <a:xfrm>
                <a:off x="575655" y="1757521"/>
                <a:ext cx="35324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𝐺𝑃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DDCB03-66DC-421F-B0F9-79D4084B3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55" y="1757521"/>
                <a:ext cx="3532442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E779BDF-6B2E-4208-AEFB-0CB0FBB7594E}"/>
              </a:ext>
            </a:extLst>
          </p:cNvPr>
          <p:cNvSpPr/>
          <p:nvPr/>
        </p:nvSpPr>
        <p:spPr>
          <a:xfrm>
            <a:off x="3928023" y="1329493"/>
            <a:ext cx="2688908" cy="369332"/>
          </a:xfrm>
          <a:prstGeom prst="rect">
            <a:avLst/>
          </a:prstGeom>
          <a:ln w="158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j-lt"/>
                <a:ea typeface="Times New Roman" panose="02020603050405020304" pitchFamily="18" charset="0"/>
              </a:rPr>
              <a:t>Mean Function</a:t>
            </a:r>
            <a:endParaRPr lang="en-US" b="1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33E02-32AB-4600-AA67-17A64F5159E4}"/>
              </a:ext>
            </a:extLst>
          </p:cNvPr>
          <p:cNvSpPr/>
          <p:nvPr/>
        </p:nvSpPr>
        <p:spPr>
          <a:xfrm>
            <a:off x="3928023" y="2300281"/>
            <a:ext cx="2688908" cy="369332"/>
          </a:xfrm>
          <a:prstGeom prst="rect">
            <a:avLst/>
          </a:prstGeom>
          <a:ln w="158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j-lt"/>
              </a:rPr>
              <a:t>Covariance Function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A8E678-BC53-44EB-BB7C-6B2DCFF9A4F2}"/>
              </a:ext>
            </a:extLst>
          </p:cNvPr>
          <p:cNvSpPr/>
          <p:nvPr/>
        </p:nvSpPr>
        <p:spPr>
          <a:xfrm>
            <a:off x="158436" y="2788982"/>
            <a:ext cx="85317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+mj-lt"/>
              </a:rPr>
              <a:t>Parametric forms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mean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 and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covariance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 functions: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F3CF58B-2343-4428-8385-3A61AB15AA65}"/>
                  </a:ext>
                </a:extLst>
              </p:cNvPr>
              <p:cNvSpPr/>
              <p:nvPr/>
            </p:nvSpPr>
            <p:spPr>
              <a:xfrm>
                <a:off x="575655" y="3343004"/>
                <a:ext cx="7261924" cy="8785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𝑒𝑥𝑝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l-G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𝜴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b="1" i="1" dirty="0"/>
                  <a:t> 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F3CF58B-2343-4428-8385-3A61AB15A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55" y="3343004"/>
                <a:ext cx="7261924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49DF40E-AF3C-4571-AEF4-AC069B2D68B9}"/>
              </a:ext>
            </a:extLst>
          </p:cNvPr>
          <p:cNvCxnSpPr>
            <a:cxnSpLocks/>
            <a:stCxn id="19" idx="1"/>
            <a:endCxn id="18" idx="0"/>
          </p:cNvCxnSpPr>
          <p:nvPr/>
        </p:nvCxnSpPr>
        <p:spPr>
          <a:xfrm rot="10800000" flipV="1">
            <a:off x="2341877" y="1514159"/>
            <a:ext cx="1586147" cy="243362"/>
          </a:xfrm>
          <a:prstGeom prst="bentConnector2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500C3A4-C219-404A-B188-1C77F1D30789}"/>
              </a:ext>
            </a:extLst>
          </p:cNvPr>
          <p:cNvCxnSpPr>
            <a:cxnSpLocks/>
            <a:stCxn id="20" idx="1"/>
            <a:endCxn id="18" idx="2"/>
          </p:cNvCxnSpPr>
          <p:nvPr/>
        </p:nvCxnSpPr>
        <p:spPr>
          <a:xfrm rot="10800000">
            <a:off x="3379383" y="2219187"/>
            <a:ext cx="548640" cy="265761"/>
          </a:xfrm>
          <a:prstGeom prst="bentConnector2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8450AD-90EB-44F6-B8A4-7B34190962F6}"/>
              </a:ext>
            </a:extLst>
          </p:cNvPr>
          <p:cNvSpPr txBox="1"/>
          <p:nvPr/>
        </p:nvSpPr>
        <p:spPr>
          <a:xfrm>
            <a:off x="158436" y="4578793"/>
            <a:ext cx="10950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</a:rPr>
              <a:t>Prediction upon fitting: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0092765-776C-41B3-81A6-BEACCB82DABB}"/>
                  </a:ext>
                </a:extLst>
              </p:cNvPr>
              <p:cNvSpPr/>
              <p:nvPr/>
            </p:nvSpPr>
            <p:spPr>
              <a:xfrm>
                <a:off x="417612" y="4845329"/>
                <a:ext cx="11356776" cy="1454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0092765-776C-41B3-81A6-BEACCB82D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12" y="4845329"/>
                <a:ext cx="11356776" cy="14541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FB532398-4595-48BC-A28E-C19C5E5F0881}"/>
              </a:ext>
            </a:extLst>
          </p:cNvPr>
          <p:cNvSpPr txBox="1"/>
          <p:nvPr/>
        </p:nvSpPr>
        <p:spPr>
          <a:xfrm>
            <a:off x="2543495" y="6368604"/>
            <a:ext cx="96485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2060"/>
                </a:solidFill>
              </a:rPr>
              <a:t>Planas</a:t>
            </a:r>
            <a:r>
              <a:rPr lang="en-US" sz="1400" dirty="0">
                <a:solidFill>
                  <a:srgbClr val="002060"/>
                </a:solidFill>
              </a:rPr>
              <a:t>, R., N. </a:t>
            </a:r>
            <a:r>
              <a:rPr lang="en-US" sz="1400" dirty="0" err="1">
                <a:solidFill>
                  <a:srgbClr val="002060"/>
                </a:solidFill>
              </a:rPr>
              <a:t>Oune</a:t>
            </a:r>
            <a:r>
              <a:rPr lang="en-US" sz="1400" dirty="0">
                <a:solidFill>
                  <a:srgbClr val="002060"/>
                </a:solidFill>
              </a:rPr>
              <a:t>, and R. Bostanabad, Evolutionary Gaussian Processes. Journal of the Mechanical Design, 2021.</a:t>
            </a:r>
          </a:p>
        </p:txBody>
      </p:sp>
      <p:pic>
        <p:nvPicPr>
          <p:cNvPr id="1026" name="Picture 2" descr="高斯过程回归_从高斯过程回顾线性回归_weixin_39643338的博客-程序员宅基地- 程序员宅基地">
            <a:extLst>
              <a:ext uri="{FF2B5EF4-FFF2-40B4-BE49-F238E27FC236}">
                <a16:creationId xmlns:a16="http://schemas.microsoft.com/office/drawing/2014/main" id="{665CB8EE-A095-7F4F-20BD-4A8B7BD1D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131" y="1269258"/>
            <a:ext cx="4282502" cy="287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1FFA6C-4C00-F4A0-CCFB-531444481850}"/>
              </a:ext>
            </a:extLst>
          </p:cNvPr>
          <p:cNvCxnSpPr/>
          <p:nvPr/>
        </p:nvCxnSpPr>
        <p:spPr>
          <a:xfrm>
            <a:off x="9164320" y="2075186"/>
            <a:ext cx="0" cy="288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9885B5-15A9-448F-D679-11056181E642}"/>
              </a:ext>
            </a:extLst>
          </p:cNvPr>
          <p:cNvCxnSpPr/>
          <p:nvPr/>
        </p:nvCxnSpPr>
        <p:spPr>
          <a:xfrm flipV="1">
            <a:off x="9174480" y="3400331"/>
            <a:ext cx="0" cy="288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E41517-05D4-2214-3453-508DB4CBF87E}"/>
              </a:ext>
            </a:extLst>
          </p:cNvPr>
          <p:cNvSpPr txBox="1"/>
          <p:nvPr/>
        </p:nvSpPr>
        <p:spPr>
          <a:xfrm>
            <a:off x="9173568" y="3359665"/>
            <a:ext cx="152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Uncertainty</a:t>
            </a:r>
            <a:endParaRPr lang="en-CA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43EAE3-1A2E-17B8-4BF3-FAD18115DCB8}"/>
              </a:ext>
            </a:extLst>
          </p:cNvPr>
          <p:cNvCxnSpPr>
            <a:cxnSpLocks/>
          </p:cNvCxnSpPr>
          <p:nvPr/>
        </p:nvCxnSpPr>
        <p:spPr>
          <a:xfrm flipH="1">
            <a:off x="11180198" y="2308983"/>
            <a:ext cx="173602" cy="1759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C68BE70-D0AD-C6DA-4F8E-B71BFC59C1A9}"/>
              </a:ext>
            </a:extLst>
          </p:cNvPr>
          <p:cNvSpPr txBox="1"/>
          <p:nvPr/>
        </p:nvSpPr>
        <p:spPr>
          <a:xfrm>
            <a:off x="10722817" y="2484947"/>
            <a:ext cx="91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</a:t>
            </a:r>
            <a:endParaRPr lang="en-CA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54A4B70-7CFE-A59D-EABE-AF3C9052117E}"/>
              </a:ext>
            </a:extLst>
          </p:cNvPr>
          <p:cNvGrpSpPr/>
          <p:nvPr/>
        </p:nvGrpSpPr>
        <p:grpSpPr>
          <a:xfrm>
            <a:off x="8158480" y="1402080"/>
            <a:ext cx="2173691" cy="646331"/>
            <a:chOff x="8158480" y="1402080"/>
            <a:chExt cx="2173691" cy="64633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93EB298-A67C-8339-4B4B-BD486B18765D}"/>
                </a:ext>
              </a:extLst>
            </p:cNvPr>
            <p:cNvSpPr txBox="1"/>
            <p:nvPr/>
          </p:nvSpPr>
          <p:spPr>
            <a:xfrm>
              <a:off x="8158480" y="1402080"/>
              <a:ext cx="21736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Observation</a:t>
              </a:r>
            </a:p>
            <a:p>
              <a:r>
                <a:rPr lang="en-CA" dirty="0"/>
                <a:t>Realizations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1D69E21-9F14-C28A-CC05-5B3246FE09CC}"/>
                </a:ext>
              </a:extLst>
            </p:cNvPr>
            <p:cNvSpPr/>
            <p:nvPr/>
          </p:nvSpPr>
          <p:spPr>
            <a:xfrm>
              <a:off x="9791106" y="1525797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FB9F518-8EC0-D660-9149-F3A16D7B3B32}"/>
                </a:ext>
              </a:extLst>
            </p:cNvPr>
            <p:cNvGrpSpPr/>
            <p:nvPr/>
          </p:nvGrpSpPr>
          <p:grpSpPr>
            <a:xfrm>
              <a:off x="9643854" y="1783819"/>
              <a:ext cx="438503" cy="248876"/>
              <a:chOff x="8350821" y="1904926"/>
              <a:chExt cx="438503" cy="248876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E071E41-4483-51C6-803F-EA26BA573EBC}"/>
                  </a:ext>
                </a:extLst>
              </p:cNvPr>
              <p:cNvCxnSpPr/>
              <p:nvPr/>
            </p:nvCxnSpPr>
            <p:spPr>
              <a:xfrm>
                <a:off x="8350821" y="1904926"/>
                <a:ext cx="438501" cy="0"/>
              </a:xfrm>
              <a:prstGeom prst="line">
                <a:avLst/>
              </a:prstGeom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0C3C04F6-59B4-9123-BF1E-946775744107}"/>
                  </a:ext>
                </a:extLst>
              </p:cNvPr>
              <p:cNvCxnSpPr/>
              <p:nvPr/>
            </p:nvCxnSpPr>
            <p:spPr>
              <a:xfrm>
                <a:off x="8350823" y="1988353"/>
                <a:ext cx="438501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DF0D161-73F8-C224-F55F-634665A7D74E}"/>
                  </a:ext>
                </a:extLst>
              </p:cNvPr>
              <p:cNvCxnSpPr/>
              <p:nvPr/>
            </p:nvCxnSpPr>
            <p:spPr>
              <a:xfrm>
                <a:off x="8350822" y="2076485"/>
                <a:ext cx="438501" cy="0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4567F5B-0E3C-81BC-06A8-0AC50255A9F7}"/>
                  </a:ext>
                </a:extLst>
              </p:cNvPr>
              <p:cNvCxnSpPr/>
              <p:nvPr/>
            </p:nvCxnSpPr>
            <p:spPr>
              <a:xfrm>
                <a:off x="8350821" y="2153802"/>
                <a:ext cx="438501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1346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CCDA11-17E8-4F91-9899-AA49CCA5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4BDA9-FE9B-4F2D-980E-7DDC9C2AEE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GPs: The good, The bad, the ugly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B69E0-12EA-4D76-834F-137CEADB0F81}"/>
              </a:ext>
            </a:extLst>
          </p:cNvPr>
          <p:cNvSpPr txBox="1"/>
          <p:nvPr/>
        </p:nvSpPr>
        <p:spPr>
          <a:xfrm>
            <a:off x="214236" y="700618"/>
            <a:ext cx="11827351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+mj-lt"/>
              </a:rPr>
              <a:t>Advantages:</a:t>
            </a:r>
            <a:r>
              <a:rPr lang="en-US" sz="2800" dirty="0">
                <a:latin typeface="+mj-lt"/>
              </a:rPr>
              <a:t> Uncertainty quantification, interpretable, fast, robust to overfitting and noise,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AF3770-1879-4BE3-A5A5-6AF3470098C2}"/>
              </a:ext>
            </a:extLst>
          </p:cNvPr>
          <p:cNvSpPr txBox="1"/>
          <p:nvPr/>
        </p:nvSpPr>
        <p:spPr>
          <a:xfrm>
            <a:off x="214236" y="2491558"/>
            <a:ext cx="11827351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Disadvantages:</a:t>
            </a:r>
            <a:r>
              <a:rPr lang="en-US" sz="2800" dirty="0">
                <a:latin typeface="+mj-lt"/>
              </a:rPr>
              <a:t> Scalability, non-Gaussian uncertainties, reversion to the mean, handling categorical/qualitative inputs, 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0097C-8BDF-4923-85E5-9CE204B18212}"/>
              </a:ext>
            </a:extLst>
          </p:cNvPr>
          <p:cNvSpPr txBox="1"/>
          <p:nvPr/>
        </p:nvSpPr>
        <p:spPr>
          <a:xfrm>
            <a:off x="214236" y="4792162"/>
            <a:ext cx="119777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US" sz="1400" dirty="0" err="1">
                <a:solidFill>
                  <a:srgbClr val="002060"/>
                </a:solidFill>
              </a:rPr>
              <a:t>Planas</a:t>
            </a:r>
            <a:r>
              <a:rPr lang="en-US" sz="1400" dirty="0">
                <a:solidFill>
                  <a:srgbClr val="002060"/>
                </a:solidFill>
              </a:rPr>
              <a:t>, R., N. </a:t>
            </a:r>
            <a:r>
              <a:rPr lang="en-US" sz="1400" dirty="0" err="1">
                <a:solidFill>
                  <a:srgbClr val="002060"/>
                </a:solidFill>
              </a:rPr>
              <a:t>Oune</a:t>
            </a:r>
            <a:r>
              <a:rPr lang="en-US" sz="1400" dirty="0">
                <a:solidFill>
                  <a:srgbClr val="002060"/>
                </a:solidFill>
              </a:rPr>
              <a:t>, and R. Bostanabad, Evolutionary Gaussian Processes. Journal of the Mechanical Design, 2021.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400" dirty="0">
                <a:solidFill>
                  <a:srgbClr val="002060"/>
                </a:solidFill>
              </a:rPr>
              <a:t>Bostanabad, R., et al. "Leveraging the Nugget Parameter for Efficient Gaussian Process Modeling." International Journal for Numerical Methods in Engineering 114.5 (2018): 501-16. Print.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400" dirty="0">
                <a:solidFill>
                  <a:srgbClr val="002060"/>
                </a:solidFill>
              </a:rPr>
              <a:t>Bostanabad, R., Y.C. Chan, L.W. Wang, P. Zhu, and W. Chen, Globally approximate gaussian processes for big data with application to data-driven metamaterials design. Journal of Mechanical Design, 2019. 141(11).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400" dirty="0">
                <a:solidFill>
                  <a:srgbClr val="002060"/>
                </a:solidFill>
              </a:rPr>
              <a:t>Zhang, </a:t>
            </a:r>
            <a:r>
              <a:rPr lang="en-US" sz="1400" dirty="0" err="1">
                <a:solidFill>
                  <a:srgbClr val="002060"/>
                </a:solidFill>
              </a:rPr>
              <a:t>Yichi</a:t>
            </a:r>
            <a:r>
              <a:rPr lang="en-US" sz="1400" dirty="0">
                <a:solidFill>
                  <a:srgbClr val="002060"/>
                </a:solidFill>
              </a:rPr>
              <a:t>, </a:t>
            </a:r>
            <a:r>
              <a:rPr lang="en-US" sz="1400" dirty="0" err="1">
                <a:solidFill>
                  <a:srgbClr val="002060"/>
                </a:solidFill>
              </a:rPr>
              <a:t>Siyu</a:t>
            </a:r>
            <a:r>
              <a:rPr lang="en-US" sz="1400" dirty="0">
                <a:solidFill>
                  <a:srgbClr val="002060"/>
                </a:solidFill>
              </a:rPr>
              <a:t> Tao, Wei Chen, and Daniel W. </a:t>
            </a:r>
            <a:r>
              <a:rPr lang="en-US" sz="1400" dirty="0" err="1">
                <a:solidFill>
                  <a:srgbClr val="002060"/>
                </a:solidFill>
              </a:rPr>
              <a:t>Apley</a:t>
            </a:r>
            <a:r>
              <a:rPr lang="en-US" sz="1400" dirty="0">
                <a:solidFill>
                  <a:srgbClr val="002060"/>
                </a:solidFill>
              </a:rPr>
              <a:t>. "A Latent Variable Approach to Gaussian Process Modeling with Qualitative and Quantitative Factors.". </a:t>
            </a:r>
            <a:r>
              <a:rPr lang="en-US" sz="1400" dirty="0" err="1">
                <a:solidFill>
                  <a:srgbClr val="002060"/>
                </a:solidFill>
              </a:rPr>
              <a:t>Technometrics</a:t>
            </a:r>
            <a:r>
              <a:rPr lang="en-US" sz="1400" dirty="0">
                <a:solidFill>
                  <a:srgbClr val="002060"/>
                </a:solidFill>
              </a:rPr>
              <a:t> 62, no. 3 (Aug 17 2019): 291-302.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05BEEB-DA08-40BC-B242-6667733509DB}"/>
              </a:ext>
            </a:extLst>
          </p:cNvPr>
          <p:cNvSpPr/>
          <p:nvPr/>
        </p:nvSpPr>
        <p:spPr>
          <a:xfrm>
            <a:off x="1343024" y="3212967"/>
            <a:ext cx="6143625" cy="6504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32C6B-5537-232A-6350-A6D2D8888034}"/>
              </a:ext>
            </a:extLst>
          </p:cNvPr>
          <p:cNvSpPr txBox="1"/>
          <p:nvPr/>
        </p:nvSpPr>
        <p:spPr>
          <a:xfrm>
            <a:off x="5657553" y="4217499"/>
            <a:ext cx="51219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Why focus on this issue?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A113675-5478-7C64-010A-A99A0C29F9C3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 rot="16200000" flipH="1">
            <a:off x="4712951" y="3565284"/>
            <a:ext cx="646489" cy="124271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686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081C3F-0B58-86AF-DCEC-23828708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4BC12-1B72-1FD2-7E8D-E5F017E698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Latent map gaussian process (LMGP)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B287FC2-39B1-F96C-D145-03D9B9766796}"/>
              </a:ext>
            </a:extLst>
          </p:cNvPr>
          <p:cNvSpPr txBox="1"/>
          <p:nvPr/>
        </p:nvSpPr>
        <p:spPr>
          <a:xfrm>
            <a:off x="158436" y="5252460"/>
            <a:ext cx="117152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All</a:t>
            </a:r>
            <a:r>
              <a:rPr lang="en-US" sz="2800" dirty="0"/>
              <a:t> parameters are </a:t>
            </a:r>
            <a:r>
              <a:rPr lang="en-US" sz="2800" b="1" dirty="0"/>
              <a:t>jointly</a:t>
            </a:r>
            <a:r>
              <a:rPr lang="en-US" sz="2800" dirty="0"/>
              <a:t> learned via MLE or MAP. </a:t>
            </a:r>
            <a:r>
              <a:rPr lang="en-US" sz="2800" b="1" dirty="0"/>
              <a:t>Or</a:t>
            </a:r>
            <a:r>
              <a:rPr lang="en-US" sz="2800" dirty="0"/>
              <a:t> (var) Bayesian!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Can have multiple posterior space (i.e., manifolds).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EA659-DF59-23C4-45F9-4BCC278DC55B}"/>
              </a:ext>
            </a:extLst>
          </p:cNvPr>
          <p:cNvSpPr txBox="1"/>
          <p:nvPr/>
        </p:nvSpPr>
        <p:spPr>
          <a:xfrm>
            <a:off x="2578245" y="6189420"/>
            <a:ext cx="9565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2060"/>
                </a:solidFill>
              </a:rPr>
              <a:t>Oune</a:t>
            </a:r>
            <a:r>
              <a:rPr lang="en-US" sz="1400" dirty="0">
                <a:solidFill>
                  <a:srgbClr val="002060"/>
                </a:solidFill>
              </a:rPr>
              <a:t>, N., &amp; Bostanabad, R. (2021). Latent map Gaussian processes for mixed variable metamodeling. Computer Methods in Applied Mechanics and Engineering, 387, 114128.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9E46F0-CF63-B0AA-47AB-81BA3079C26C}"/>
              </a:ext>
            </a:extLst>
          </p:cNvPr>
          <p:cNvGrpSpPr/>
          <p:nvPr/>
        </p:nvGrpSpPr>
        <p:grpSpPr>
          <a:xfrm>
            <a:off x="412818" y="2326344"/>
            <a:ext cx="11620746" cy="1723513"/>
            <a:chOff x="412818" y="2326344"/>
            <a:chExt cx="11620746" cy="172351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2216293-2EEA-693C-4EA6-18B77C1D3F62}"/>
                </a:ext>
              </a:extLst>
            </p:cNvPr>
            <p:cNvSpPr/>
            <p:nvPr/>
          </p:nvSpPr>
          <p:spPr>
            <a:xfrm>
              <a:off x="4401861" y="2500614"/>
              <a:ext cx="2409159" cy="13749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+mj-lt"/>
                  <a:cs typeface="Times New Roman" panose="02020603050405020304" pitchFamily="18" charset="0"/>
                </a:rPr>
                <a:t>Parametric </a:t>
              </a:r>
            </a:p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+mj-lt"/>
                  <a:cs typeface="Times New Roman" panose="02020603050405020304" pitchFamily="18" charset="0"/>
                </a:rPr>
                <a:t>Mean Function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C7B2998E-3E08-BE0F-115B-B513DE6A230D}"/>
                    </a:ext>
                  </a:extLst>
                </p:cNvPr>
                <p:cNvSpPr/>
                <p:nvPr/>
              </p:nvSpPr>
              <p:spPr>
                <a:xfrm>
                  <a:off x="412818" y="2758422"/>
                  <a:ext cx="926600" cy="859358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US" sz="4400" b="1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C7B2998E-3E08-BE0F-115B-B513DE6A23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818" y="2758422"/>
                  <a:ext cx="926600" cy="859358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386A6DDD-B53F-F443-5E9D-E78ED2BC8E62}"/>
                    </a:ext>
                  </a:extLst>
                </p:cNvPr>
                <p:cNvSpPr/>
                <p:nvPr/>
              </p:nvSpPr>
              <p:spPr>
                <a:xfrm>
                  <a:off x="9118534" y="2758422"/>
                  <a:ext cx="2915030" cy="8593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d>
                        <m:dPr>
                          <m:ctrlPr>
                            <a:rPr lang="en-US" sz="4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4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4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4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4400" b="1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386A6DDD-B53F-F443-5E9D-E78ED2BC8E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8534" y="2758422"/>
                  <a:ext cx="2915030" cy="859358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A78353C-8D52-40FF-7941-CB8D563BEF93}"/>
                </a:ext>
              </a:extLst>
            </p:cNvPr>
            <p:cNvCxnSpPr>
              <a:cxnSpLocks/>
              <a:stCxn id="28" idx="3"/>
              <a:endCxn id="34" idx="1"/>
            </p:cNvCxnSpPr>
            <p:nvPr/>
          </p:nvCxnSpPr>
          <p:spPr>
            <a:xfrm>
              <a:off x="1339418" y="3188101"/>
              <a:ext cx="284493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EF66AF3-33B2-1E49-E5F1-20B3C45013DE}"/>
                </a:ext>
              </a:extLst>
            </p:cNvPr>
            <p:cNvCxnSpPr>
              <a:cxnSpLocks/>
              <a:stCxn id="34" idx="3"/>
              <a:endCxn id="30" idx="1"/>
            </p:cNvCxnSpPr>
            <p:nvPr/>
          </p:nvCxnSpPr>
          <p:spPr>
            <a:xfrm>
              <a:off x="7026920" y="3188101"/>
              <a:ext cx="209161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C7EB382-90A6-5466-8D6F-BC72C47C8C79}"/>
                </a:ext>
              </a:extLst>
            </p:cNvPr>
            <p:cNvSpPr/>
            <p:nvPr/>
          </p:nvSpPr>
          <p:spPr>
            <a:xfrm>
              <a:off x="4184354" y="2326344"/>
              <a:ext cx="2842566" cy="17235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EB269F7-C583-B920-45D8-F23855DF27A7}"/>
              </a:ext>
            </a:extLst>
          </p:cNvPr>
          <p:cNvSpPr/>
          <p:nvPr/>
        </p:nvSpPr>
        <p:spPr>
          <a:xfrm>
            <a:off x="48126" y="653143"/>
            <a:ext cx="12095748" cy="45993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F7E34C-BADA-60EC-D1E5-4F00FF6E798C}"/>
              </a:ext>
            </a:extLst>
          </p:cNvPr>
          <p:cNvGrpSpPr/>
          <p:nvPr/>
        </p:nvGrpSpPr>
        <p:grpSpPr>
          <a:xfrm>
            <a:off x="125139" y="745024"/>
            <a:ext cx="12066861" cy="1875166"/>
            <a:chOff x="125139" y="745024"/>
            <a:chExt cx="12066861" cy="187516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031589-5374-6135-5E54-8396B75F04B7}"/>
                </a:ext>
              </a:extLst>
            </p:cNvPr>
            <p:cNvSpPr/>
            <p:nvPr/>
          </p:nvSpPr>
          <p:spPr>
            <a:xfrm>
              <a:off x="5652546" y="1245217"/>
              <a:ext cx="2409159" cy="13749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+mj-lt"/>
                  <a:cs typeface="Times New Roman" panose="02020603050405020304" pitchFamily="18" charset="0"/>
                </a:rPr>
                <a:t>Parametric Encoder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C87E850-D675-71A0-C642-B3AFE528A611}"/>
                </a:ext>
              </a:extLst>
            </p:cNvPr>
            <p:cNvCxnSpPr>
              <a:cxnSpLocks/>
              <a:endCxn id="91" idx="1"/>
            </p:cNvCxnSpPr>
            <p:nvPr/>
          </p:nvCxnSpPr>
          <p:spPr>
            <a:xfrm>
              <a:off x="1057058" y="1932703"/>
              <a:ext cx="67643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F88E86F-7A21-73AF-4D7B-0924FFC08B81}"/>
                </a:ext>
              </a:extLst>
            </p:cNvPr>
            <p:cNvCxnSpPr>
              <a:cxnSpLocks/>
              <a:stCxn id="91" idx="3"/>
              <a:endCxn id="15" idx="1"/>
            </p:cNvCxnSpPr>
            <p:nvPr/>
          </p:nvCxnSpPr>
          <p:spPr>
            <a:xfrm>
              <a:off x="4976113" y="1932703"/>
              <a:ext cx="67643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D5CC00-35FF-3FAA-2206-C4851655074B}"/>
                </a:ext>
              </a:extLst>
            </p:cNvPr>
            <p:cNvSpPr txBox="1"/>
            <p:nvPr/>
          </p:nvSpPr>
          <p:spPr>
            <a:xfrm>
              <a:off x="8043107" y="745024"/>
              <a:ext cx="4148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+mj-lt"/>
                  <a:cs typeface="Times New Roman" panose="02020603050405020304" pitchFamily="18" charset="0"/>
                </a:rPr>
                <a:t>Low Dimensional Posterior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4B7AAF1-085A-A380-6AD4-DA0E3BECD9CC}"/>
                </a:ext>
              </a:extLst>
            </p:cNvPr>
            <p:cNvGrpSpPr/>
            <p:nvPr/>
          </p:nvGrpSpPr>
          <p:grpSpPr>
            <a:xfrm>
              <a:off x="125139" y="745024"/>
              <a:ext cx="11773995" cy="1875165"/>
              <a:chOff x="125139" y="745024"/>
              <a:chExt cx="11773995" cy="1875165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03105B0A-6374-9CED-1FCF-8BBC5DC33922}"/>
                  </a:ext>
                </a:extLst>
              </p:cNvPr>
              <p:cNvCxnSpPr>
                <a:cxnSpLocks/>
                <a:stCxn id="15" idx="3"/>
                <a:endCxn id="24" idx="1"/>
              </p:cNvCxnSpPr>
              <p:nvPr/>
            </p:nvCxnSpPr>
            <p:spPr>
              <a:xfrm>
                <a:off x="8061705" y="1932703"/>
                <a:ext cx="5948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8CC19B8-F589-56B9-62E6-7ABE1A2E4F52}"/>
                  </a:ext>
                </a:extLst>
              </p:cNvPr>
              <p:cNvGrpSpPr/>
              <p:nvPr/>
            </p:nvGrpSpPr>
            <p:grpSpPr>
              <a:xfrm>
                <a:off x="1538570" y="745024"/>
                <a:ext cx="3584636" cy="1875165"/>
                <a:chOff x="1548009" y="748656"/>
                <a:chExt cx="3537440" cy="1995270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99317761-18C0-F0D7-F786-7D094A16E4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79377" y="2241211"/>
                  <a:ext cx="45720" cy="4572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B28738D6-C88D-7256-5BCB-ADEED0574A13}"/>
                    </a:ext>
                  </a:extLst>
                </p:cNvPr>
                <p:cNvCxnSpPr>
                  <a:cxnSpLocks/>
                  <a:stCxn id="80" idx="0"/>
                </p:cNvCxnSpPr>
                <p:nvPr/>
              </p:nvCxnSpPr>
              <p:spPr>
                <a:xfrm flipV="1">
                  <a:off x="2402237" y="1763788"/>
                  <a:ext cx="0" cy="477423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84444CB1-7858-28D0-CE76-EC3F4BA95CFE}"/>
                    </a:ext>
                  </a:extLst>
                </p:cNvPr>
                <p:cNvCxnSpPr>
                  <a:cxnSpLocks/>
                  <a:stCxn id="80" idx="6"/>
                </p:cNvCxnSpPr>
                <p:nvPr/>
              </p:nvCxnSpPr>
              <p:spPr>
                <a:xfrm>
                  <a:off x="2425097" y="2264071"/>
                  <a:ext cx="515299" cy="0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EC9A4414-BD15-E187-3817-47CACF14E7CA}"/>
                    </a:ext>
                  </a:extLst>
                </p:cNvPr>
                <p:cNvCxnSpPr>
                  <a:cxnSpLocks/>
                  <a:stCxn id="80" idx="5"/>
                </p:cNvCxnSpPr>
                <p:nvPr/>
              </p:nvCxnSpPr>
              <p:spPr>
                <a:xfrm flipH="1" flipV="1">
                  <a:off x="2019801" y="1933646"/>
                  <a:ext cx="398600" cy="346589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37705D8E-B622-217A-E7F0-F97E0D6E982D}"/>
                    </a:ext>
                  </a:extLst>
                </p:cNvPr>
                <p:cNvCxnSpPr>
                  <a:cxnSpLocks/>
                  <a:stCxn id="80" idx="3"/>
                </p:cNvCxnSpPr>
                <p:nvPr/>
              </p:nvCxnSpPr>
              <p:spPr>
                <a:xfrm flipH="1">
                  <a:off x="1927578" y="2280235"/>
                  <a:ext cx="458495" cy="353285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5A9A4313-9488-6F5C-00FD-27758CADF32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209838" y="2241211"/>
                  <a:ext cx="45720" cy="457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0FFDD20D-CE20-FFEF-25D0-E18D56D2A1BF}"/>
                    </a:ext>
                  </a:extLst>
                </p:cNvPr>
                <p:cNvCxnSpPr>
                  <a:cxnSpLocks/>
                  <a:stCxn id="86" idx="0"/>
                </p:cNvCxnSpPr>
                <p:nvPr/>
              </p:nvCxnSpPr>
              <p:spPr>
                <a:xfrm flipV="1">
                  <a:off x="4232698" y="1763788"/>
                  <a:ext cx="0" cy="477423"/>
                </a:xfrm>
                <a:prstGeom prst="straightConnector1">
                  <a:avLst/>
                </a:prstGeom>
                <a:ln w="127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C5AD3449-338D-44F6-185B-46A0091C03A5}"/>
                    </a:ext>
                  </a:extLst>
                </p:cNvPr>
                <p:cNvCxnSpPr>
                  <a:cxnSpLocks/>
                  <a:stCxn id="86" idx="6"/>
                </p:cNvCxnSpPr>
                <p:nvPr/>
              </p:nvCxnSpPr>
              <p:spPr>
                <a:xfrm>
                  <a:off x="4255558" y="2264071"/>
                  <a:ext cx="515299" cy="0"/>
                </a:xfrm>
                <a:prstGeom prst="straightConnector1">
                  <a:avLst/>
                </a:prstGeom>
                <a:ln w="127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FE7894E1-84AA-1C9A-736D-EA443336C22E}"/>
                    </a:ext>
                  </a:extLst>
                </p:cNvPr>
                <p:cNvCxnSpPr>
                  <a:cxnSpLocks/>
                  <a:stCxn id="86" idx="5"/>
                </p:cNvCxnSpPr>
                <p:nvPr/>
              </p:nvCxnSpPr>
              <p:spPr>
                <a:xfrm flipH="1" flipV="1">
                  <a:off x="3850262" y="1933646"/>
                  <a:ext cx="398600" cy="346589"/>
                </a:xfrm>
                <a:prstGeom prst="straightConnector1">
                  <a:avLst/>
                </a:prstGeom>
                <a:ln w="127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F47E73D7-E328-52B1-F48A-DF45DABBDDE6}"/>
                    </a:ext>
                  </a:extLst>
                </p:cNvPr>
                <p:cNvCxnSpPr>
                  <a:cxnSpLocks/>
                  <a:stCxn id="86" idx="3"/>
                </p:cNvCxnSpPr>
                <p:nvPr/>
              </p:nvCxnSpPr>
              <p:spPr>
                <a:xfrm flipH="1">
                  <a:off x="3758039" y="2280235"/>
                  <a:ext cx="458495" cy="353285"/>
                </a:xfrm>
                <a:prstGeom prst="straightConnector1">
                  <a:avLst/>
                </a:prstGeom>
                <a:ln w="127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B8D09D40-2C9A-3803-67FA-8113D86D74E1}"/>
                    </a:ext>
                  </a:extLst>
                </p:cNvPr>
                <p:cNvSpPr/>
                <p:nvPr/>
              </p:nvSpPr>
              <p:spPr>
                <a:xfrm>
                  <a:off x="1740362" y="1280886"/>
                  <a:ext cx="3199931" cy="14630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b="1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79B64EE2-7CEB-2DF1-CD2D-BB57B66364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63454" y="1229549"/>
                      <a:ext cx="506320" cy="4625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094A9FF2-2766-CE02-CFAE-D002681A791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3454" y="1229549"/>
                      <a:ext cx="506320" cy="46259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6B631356-7209-A7D8-3EAE-DC5A199163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93915" y="1235498"/>
                      <a:ext cx="613829" cy="4625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BA710A36-424B-ECAA-A41F-261939B8123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93915" y="1235498"/>
                      <a:ext cx="613829" cy="46259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6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A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3C96644A-B194-F6D8-2934-7CC5B08832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11349" y="1913262"/>
                      <a:ext cx="708847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a14:m>
                      <a:r>
                        <a:rPr lang="en-US" sz="3600" b="1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01" name="TextBox 100">
                      <a:extLst>
                        <a:ext uri="{FF2B5EF4-FFF2-40B4-BE49-F238E27FC236}">
                          <a16:creationId xmlns:a16="http://schemas.microsoft.com/office/drawing/2014/main" id="{73EED4C2-C232-2E3A-7B7F-EF4D03344FA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11349" y="1913262"/>
                      <a:ext cx="708847" cy="64633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F5542ACF-178F-F530-DD46-029409F0ED8E}"/>
                    </a:ext>
                  </a:extLst>
                </p:cNvPr>
                <p:cNvSpPr txBox="1"/>
                <p:nvPr/>
              </p:nvSpPr>
              <p:spPr>
                <a:xfrm>
                  <a:off x="1548009" y="748656"/>
                  <a:ext cx="3537440" cy="4912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+mj-lt"/>
                      <a:cs typeface="Times New Roman" panose="02020603050405020304" pitchFamily="18" charset="0"/>
                    </a:rPr>
                    <a:t>High Dimensional Prior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94A7F08E-FF99-C1E8-0118-2F300C8D4664}"/>
                        </a:ext>
                      </a:extLst>
                    </p:cNvPr>
                    <p:cNvSpPr txBox="1"/>
                    <p:nvPr/>
                  </p:nvSpPr>
                  <p:spPr>
                    <a:xfrm rot="19736948">
                      <a:off x="4067322" y="2161283"/>
                      <a:ext cx="53251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a14:m>
                      <a:r>
                        <a:rPr lang="en-US" sz="2400" b="1" dirty="0">
                          <a:solidFill>
                            <a:srgbClr val="0000FF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12" name="TextBox 111">
                      <a:extLst>
                        <a:ext uri="{FF2B5EF4-FFF2-40B4-BE49-F238E27FC236}">
                          <a16:creationId xmlns:a16="http://schemas.microsoft.com/office/drawing/2014/main" id="{95522F16-9507-0A48-6EEC-FEDA9379F93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736948">
                      <a:off x="4067322" y="2161283"/>
                      <a:ext cx="532518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TextBox 96">
                      <a:extLst>
                        <a:ext uri="{FF2B5EF4-FFF2-40B4-BE49-F238E27FC236}">
                          <a16:creationId xmlns:a16="http://schemas.microsoft.com/office/drawing/2014/main" id="{9DE76E12-C886-4BF1-97FD-39B554AA7824}"/>
                        </a:ext>
                      </a:extLst>
                    </p:cNvPr>
                    <p:cNvSpPr txBox="1"/>
                    <p:nvPr/>
                  </p:nvSpPr>
                  <p:spPr>
                    <a:xfrm rot="19736948">
                      <a:off x="2244365" y="2157449"/>
                      <a:ext cx="53251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a14:m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13" name="TextBox 112">
                      <a:extLst>
                        <a:ext uri="{FF2B5EF4-FFF2-40B4-BE49-F238E27FC236}">
                          <a16:creationId xmlns:a16="http://schemas.microsoft.com/office/drawing/2014/main" id="{6FCB61A3-32DE-CA71-0AF3-8C7988713E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736948">
                      <a:off x="2244365" y="2157449"/>
                      <a:ext cx="532518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5E6360E-8BF0-3FC4-22DF-F927A0AE45A0}"/>
                  </a:ext>
                </a:extLst>
              </p:cNvPr>
              <p:cNvGrpSpPr/>
              <p:nvPr/>
            </p:nvGrpSpPr>
            <p:grpSpPr>
              <a:xfrm>
                <a:off x="8656510" y="1212037"/>
                <a:ext cx="3242624" cy="1408152"/>
                <a:chOff x="8572233" y="1245581"/>
                <a:chExt cx="3199931" cy="1498345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D5DCFE4-938B-B611-5604-335F2A45F76A}"/>
                    </a:ext>
                  </a:extLst>
                </p:cNvPr>
                <p:cNvSpPr/>
                <p:nvPr/>
              </p:nvSpPr>
              <p:spPr>
                <a:xfrm>
                  <a:off x="8572233" y="1280886"/>
                  <a:ext cx="3199931" cy="14630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b="1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BC39158-2DE2-199E-A020-9D34B6F42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24900" y="2559593"/>
                  <a:ext cx="2628900" cy="0"/>
                </a:xfrm>
                <a:prstGeom prst="straightConnector1">
                  <a:avLst/>
                </a:prstGeom>
                <a:ln w="25400">
                  <a:solidFill>
                    <a:srgbClr val="00B050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5CC0B584-ED88-5322-22F2-A73529A997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19590" y="1487268"/>
                  <a:ext cx="0" cy="1156787"/>
                </a:xfrm>
                <a:prstGeom prst="straightConnector1">
                  <a:avLst/>
                </a:prstGeom>
                <a:ln w="25400">
                  <a:solidFill>
                    <a:srgbClr val="00B050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3E9172C-E3B2-C02F-D472-C934BF0E75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79891" y="1502916"/>
                  <a:ext cx="182880" cy="18288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1C18CF1A-C2E5-B9E2-AE0C-534B7F8D9D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44602" y="1825559"/>
                  <a:ext cx="182880" cy="18288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F84C1CDB-8F62-6F85-5022-013C3E6C7D3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29972" y="1772042"/>
                  <a:ext cx="182880" cy="18288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8D8F30F2-008C-81AA-253D-97150241D3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36284" y="1903486"/>
                  <a:ext cx="182880" cy="18288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04411B0F-5606-FC72-67EC-0CF0834F6A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2829" y="2254721"/>
                  <a:ext cx="182880" cy="18288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667EC9A7-1DC9-D650-4B56-0B6E66A23F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27249" y="2106940"/>
                  <a:ext cx="182880" cy="18288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3CD8BD9C-E960-AC83-CE8A-7C86F33F1C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130450" y="1959458"/>
                      <a:ext cx="64171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590452A0-3C25-C8A4-F885-63CBA6CF1A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130450" y="1959458"/>
                      <a:ext cx="641714" cy="52322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D2189C84-E07C-3801-43BB-991CAD9A3D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06990" y="1245581"/>
                      <a:ext cx="64998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51A9A13D-E05D-1925-C171-50673C8D02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06990" y="1245581"/>
                      <a:ext cx="649985" cy="52322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: Rounded Corners 22">
                    <a:extLst>
                      <a:ext uri="{FF2B5EF4-FFF2-40B4-BE49-F238E27FC236}">
                        <a16:creationId xmlns:a16="http://schemas.microsoft.com/office/drawing/2014/main" id="{6FB35AD2-B779-1FD6-2AF6-F142DADE6A77}"/>
                      </a:ext>
                    </a:extLst>
                  </p:cNvPr>
                  <p:cNvSpPr/>
                  <p:nvPr/>
                </p:nvSpPr>
                <p:spPr>
                  <a:xfrm>
                    <a:off x="125139" y="1493307"/>
                    <a:ext cx="926600" cy="859358"/>
                  </a:xfrm>
                  <a:prstGeom prst="round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4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a14:m>
                    <a:r>
                      <a:rPr lang="en-US" sz="4400" b="1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77" name="Rectangle: Rounded Corners 76">
                    <a:extLst>
                      <a:ext uri="{FF2B5EF4-FFF2-40B4-BE49-F238E27FC236}">
                        <a16:creationId xmlns:a16="http://schemas.microsoft.com/office/drawing/2014/main" id="{2130C906-C26F-0621-7B45-9837023238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139" y="1493307"/>
                    <a:ext cx="926600" cy="859358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254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A3E2B58-30BC-EDE1-225D-7E518E9CF1C0}"/>
              </a:ext>
            </a:extLst>
          </p:cNvPr>
          <p:cNvGrpSpPr/>
          <p:nvPr/>
        </p:nvGrpSpPr>
        <p:grpSpPr>
          <a:xfrm>
            <a:off x="130458" y="2620190"/>
            <a:ext cx="11875128" cy="2295940"/>
            <a:chOff x="130458" y="2620190"/>
            <a:chExt cx="11875128" cy="2295940"/>
          </a:xfrm>
        </p:grpSpPr>
        <p:cxnSp>
          <p:nvCxnSpPr>
            <p:cNvPr id="138" name="Connector: Elbow 137">
              <a:extLst>
                <a:ext uri="{FF2B5EF4-FFF2-40B4-BE49-F238E27FC236}">
                  <a16:creationId xmlns:a16="http://schemas.microsoft.com/office/drawing/2014/main" id="{9E01F161-E4CB-2E44-5019-C11E5B7471C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90342" y="305138"/>
              <a:ext cx="572428" cy="520253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A83C77F-9024-C346-1ABD-8E91D0E84EA7}"/>
                </a:ext>
              </a:extLst>
            </p:cNvPr>
            <p:cNvSpPr/>
            <p:nvPr/>
          </p:nvSpPr>
          <p:spPr>
            <a:xfrm>
              <a:off x="2304452" y="3366887"/>
              <a:ext cx="2409159" cy="13749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+mj-lt"/>
                  <a:cs typeface="Times New Roman" panose="02020603050405020304" pitchFamily="18" charset="0"/>
                </a:rPr>
                <a:t>Parametric </a:t>
              </a:r>
            </a:p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+mj-lt"/>
                  <a:cs typeface="Times New Roman" panose="02020603050405020304" pitchFamily="18" charset="0"/>
                </a:rPr>
                <a:t>Mean Function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15B5F9FE-51E7-F9C4-4F80-D3C8E6BF5B10}"/>
                </a:ext>
              </a:extLst>
            </p:cNvPr>
            <p:cNvSpPr/>
            <p:nvPr/>
          </p:nvSpPr>
          <p:spPr>
            <a:xfrm>
              <a:off x="5436968" y="3366887"/>
              <a:ext cx="2409159" cy="13749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+mj-lt"/>
                  <a:cs typeface="Times New Roman" panose="02020603050405020304" pitchFamily="18" charset="0"/>
                </a:rPr>
                <a:t>Parametric </a:t>
              </a:r>
            </a:p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+mj-lt"/>
                  <a:cs typeface="Times New Roman" panose="02020603050405020304" pitchFamily="18" charset="0"/>
                </a:rPr>
                <a:t>Kernel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C3570781-8DA7-C6FB-1383-1273FAAAC1FA}"/>
                    </a:ext>
                  </a:extLst>
                </p:cNvPr>
                <p:cNvSpPr/>
                <p:nvPr/>
              </p:nvSpPr>
              <p:spPr>
                <a:xfrm>
                  <a:off x="130458" y="3624695"/>
                  <a:ext cx="926600" cy="859358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US" sz="4400" b="1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C3570781-8DA7-C6FB-1383-1273FAAAC1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458" y="3624695"/>
                  <a:ext cx="926600" cy="859358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23A97252-8E17-663F-205B-3D057DC355A1}"/>
                    </a:ext>
                  </a:extLst>
                </p:cNvPr>
                <p:cNvSpPr/>
                <p:nvPr/>
              </p:nvSpPr>
              <p:spPr>
                <a:xfrm>
                  <a:off x="9090556" y="3624695"/>
                  <a:ext cx="2915030" cy="8593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d>
                        <m:dPr>
                          <m:ctrlPr>
                            <a:rPr lang="en-US" sz="4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4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4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4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4400" b="1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23A97252-8E17-663F-205B-3D057DC355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0556" y="3624695"/>
                  <a:ext cx="2915030" cy="859358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B576C813-69D3-80A3-A83B-C9CC2FD87CD5}"/>
                </a:ext>
              </a:extLst>
            </p:cNvPr>
            <p:cNvCxnSpPr>
              <a:cxnSpLocks/>
              <a:stCxn id="141" idx="3"/>
              <a:endCxn id="145" idx="1"/>
            </p:cNvCxnSpPr>
            <p:nvPr/>
          </p:nvCxnSpPr>
          <p:spPr>
            <a:xfrm>
              <a:off x="1057058" y="4054374"/>
              <a:ext cx="102988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A915B656-9484-2983-6003-38FD6C7164C5}"/>
                </a:ext>
              </a:extLst>
            </p:cNvPr>
            <p:cNvCxnSpPr>
              <a:cxnSpLocks/>
              <a:stCxn id="145" idx="3"/>
              <a:endCxn id="142" idx="1"/>
            </p:cNvCxnSpPr>
            <p:nvPr/>
          </p:nvCxnSpPr>
          <p:spPr>
            <a:xfrm>
              <a:off x="8063635" y="4054374"/>
              <a:ext cx="102692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F41ECAD-7A9B-44C1-3F52-70F8F6D6EFD9}"/>
                </a:ext>
              </a:extLst>
            </p:cNvPr>
            <p:cNvSpPr/>
            <p:nvPr/>
          </p:nvSpPr>
          <p:spPr>
            <a:xfrm>
              <a:off x="2086944" y="3192617"/>
              <a:ext cx="5976691" cy="17235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727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DFD16A-070B-4B78-A86F-8B3A6EC7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BAFE9-F378-4377-AB1F-087AF3B10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Multi-fidelity modeling with LMGP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B27E4-CDAA-44F4-B184-0653424A5413}"/>
              </a:ext>
            </a:extLst>
          </p:cNvPr>
          <p:cNvSpPr txBox="1"/>
          <p:nvPr/>
        </p:nvSpPr>
        <p:spPr>
          <a:xfrm>
            <a:off x="706794" y="778352"/>
            <a:ext cx="10123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Augment Inputs with Data Source Index </a:t>
            </a:r>
            <a:r>
              <a:rPr lang="en-US" sz="2400" dirty="0"/>
              <a:t>(assuming 4 sources)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BA3E67-F9C9-4382-B762-234CE8A82BB4}"/>
              </a:ext>
            </a:extLst>
          </p:cNvPr>
          <p:cNvSpPr txBox="1"/>
          <p:nvPr/>
        </p:nvSpPr>
        <p:spPr>
          <a:xfrm>
            <a:off x="6181702" y="1335996"/>
            <a:ext cx="4531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Fit LMGP to the </a:t>
            </a:r>
            <a:r>
              <a:rPr lang="en-US" sz="2400" b="1" dirty="0">
                <a:solidFill>
                  <a:srgbClr val="FF0000"/>
                </a:solidFill>
              </a:rPr>
              <a:t>ALL</a:t>
            </a:r>
            <a:r>
              <a:rPr lang="en-US" sz="2400" b="1" dirty="0"/>
              <a:t>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6F73B9-AC52-4B11-9E0F-7B263EB9C09D}"/>
                  </a:ext>
                </a:extLst>
              </p:cNvPr>
              <p:cNvSpPr txBox="1"/>
              <p:nvPr/>
            </p:nvSpPr>
            <p:spPr>
              <a:xfrm>
                <a:off x="5741697" y="2213487"/>
                <a:ext cx="6073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6F73B9-AC52-4B11-9E0F-7B263EB9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697" y="2213487"/>
                <a:ext cx="60730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7F1009-BA63-4EE8-BE0E-2342CAF27DEA}"/>
                  </a:ext>
                </a:extLst>
              </p:cNvPr>
              <p:cNvSpPr txBox="1"/>
              <p:nvPr/>
            </p:nvSpPr>
            <p:spPr>
              <a:xfrm>
                <a:off x="8758810" y="2213488"/>
                <a:ext cx="564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7F1009-BA63-4EE8-BE0E-2342CAF27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810" y="2213488"/>
                <a:ext cx="564052" cy="461665"/>
              </a:xfrm>
              <a:prstGeom prst="rect">
                <a:avLst/>
              </a:prstGeom>
              <a:blipFill>
                <a:blip r:embed="rId4"/>
                <a:stretch>
                  <a:fillRect l="-3261" t="-1316" r="-64130" b="-1315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835731-4B5B-4F62-9770-2A934886396C}"/>
              </a:ext>
            </a:extLst>
          </p:cNvPr>
          <p:cNvSpPr/>
          <p:nvPr/>
        </p:nvSpPr>
        <p:spPr>
          <a:xfrm>
            <a:off x="6876711" y="2030540"/>
            <a:ext cx="1346886" cy="82756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LMGP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8D98D4-BBD9-429A-ACE6-D64344A8FB9D}"/>
              </a:ext>
            </a:extLst>
          </p:cNvPr>
          <p:cNvCxnSpPr>
            <a:cxnSpLocks/>
            <a:stCxn id="16" idx="3"/>
            <a:endCxn id="13" idx="1"/>
          </p:cNvCxnSpPr>
          <p:nvPr/>
        </p:nvCxnSpPr>
        <p:spPr>
          <a:xfrm flipV="1">
            <a:off x="8223597" y="2444321"/>
            <a:ext cx="535213" cy="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3B665A8-9B22-42C2-8A14-BD1E85E298CC}"/>
              </a:ext>
            </a:extLst>
          </p:cNvPr>
          <p:cNvSpPr/>
          <p:nvPr/>
        </p:nvSpPr>
        <p:spPr>
          <a:xfrm>
            <a:off x="102608" y="797453"/>
            <a:ext cx="457200" cy="4572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D0F15C7-ED58-405C-ABEF-7ACBA9C236D9}"/>
              </a:ext>
            </a:extLst>
          </p:cNvPr>
          <p:cNvSpPr/>
          <p:nvPr/>
        </p:nvSpPr>
        <p:spPr>
          <a:xfrm>
            <a:off x="5724502" y="1357383"/>
            <a:ext cx="457200" cy="4572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7E502D-0B84-4148-9816-D4670590AAC3}"/>
              </a:ext>
            </a:extLst>
          </p:cNvPr>
          <p:cNvSpPr txBox="1"/>
          <p:nvPr/>
        </p:nvSpPr>
        <p:spPr>
          <a:xfrm>
            <a:off x="2574435" y="6189420"/>
            <a:ext cx="9617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</a:rPr>
              <a:t>Eweis-Labolle, J. T., </a:t>
            </a:r>
            <a:r>
              <a:rPr lang="en-US" sz="1400" dirty="0" err="1">
                <a:solidFill>
                  <a:srgbClr val="002060"/>
                </a:solidFill>
              </a:rPr>
              <a:t>Oune</a:t>
            </a:r>
            <a:r>
              <a:rPr lang="en-US" sz="1400" dirty="0">
                <a:solidFill>
                  <a:srgbClr val="002060"/>
                </a:solidFill>
              </a:rPr>
              <a:t>, N. &amp; Bostanabad, R. Data Fusion With Latent Map Gaussian Processes. Journal of Mechanical Design 144, 1-41.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E7AC36-5B9A-197E-C07D-E9A4D4EC1588}"/>
              </a:ext>
            </a:extLst>
          </p:cNvPr>
          <p:cNvCxnSpPr>
            <a:cxnSpLocks/>
          </p:cNvCxnSpPr>
          <p:nvPr/>
        </p:nvCxnSpPr>
        <p:spPr>
          <a:xfrm>
            <a:off x="6348998" y="2422508"/>
            <a:ext cx="527713" cy="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771023D-39A8-2F74-3D75-18528A0AC829}"/>
              </a:ext>
            </a:extLst>
          </p:cNvPr>
          <p:cNvGrpSpPr/>
          <p:nvPr/>
        </p:nvGrpSpPr>
        <p:grpSpPr>
          <a:xfrm>
            <a:off x="-177817" y="1335996"/>
            <a:ext cx="3691849" cy="2696072"/>
            <a:chOff x="-177817" y="1335996"/>
            <a:chExt cx="3691849" cy="269607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50FE97C-CC02-3AF2-57D0-B1C0858D80DD}"/>
                </a:ext>
              </a:extLst>
            </p:cNvPr>
            <p:cNvGrpSpPr/>
            <p:nvPr/>
          </p:nvGrpSpPr>
          <p:grpSpPr>
            <a:xfrm>
              <a:off x="-177817" y="1335996"/>
              <a:ext cx="3691849" cy="2077878"/>
              <a:chOff x="615636" y="1698724"/>
              <a:chExt cx="3691849" cy="20778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D309301-F3E5-4313-ABB0-2C44E31536B2}"/>
                      </a:ext>
                    </a:extLst>
                  </p:cNvPr>
                  <p:cNvSpPr txBox="1"/>
                  <p:nvPr/>
                </p:nvSpPr>
                <p:spPr>
                  <a:xfrm>
                    <a:off x="615636" y="1708321"/>
                    <a:ext cx="1217262" cy="51982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D309301-F3E5-4313-ABB0-2C44E31536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5636" y="1708321"/>
                    <a:ext cx="1217262" cy="51982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Arrow: Right 6">
                <a:extLst>
                  <a:ext uri="{FF2B5EF4-FFF2-40B4-BE49-F238E27FC236}">
                    <a16:creationId xmlns:a16="http://schemas.microsoft.com/office/drawing/2014/main" id="{DE12B649-25C2-4876-8141-76386D56DC9B}"/>
                  </a:ext>
                </a:extLst>
              </p:cNvPr>
              <p:cNvSpPr/>
              <p:nvPr/>
            </p:nvSpPr>
            <p:spPr>
              <a:xfrm>
                <a:off x="1826145" y="1777895"/>
                <a:ext cx="637224" cy="313962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E1B1406E-7B6B-4ADE-A5E2-745F54833421}"/>
                      </a:ext>
                    </a:extLst>
                  </p:cNvPr>
                  <p:cNvSpPr txBox="1"/>
                  <p:nvPr/>
                </p:nvSpPr>
                <p:spPr>
                  <a:xfrm>
                    <a:off x="2228060" y="1698724"/>
                    <a:ext cx="2035512" cy="48167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2400" b="1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E1B1406E-7B6B-4ADE-A5E2-745F548334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28060" y="1698724"/>
                    <a:ext cx="2035512" cy="48167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266"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4AA098C-9558-48F1-BAB4-C770FBC141AE}"/>
                      </a:ext>
                    </a:extLst>
                  </p:cNvPr>
                  <p:cNvSpPr txBox="1"/>
                  <p:nvPr/>
                </p:nvSpPr>
                <p:spPr>
                  <a:xfrm>
                    <a:off x="615636" y="2249294"/>
                    <a:ext cx="1217262" cy="5343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2400" b="1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4AA098C-9558-48F1-BAB4-C770FBC14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5636" y="2249294"/>
                    <a:ext cx="1217262" cy="5343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B65B9A35-857B-455D-BF26-594C5F9D31FF}"/>
                  </a:ext>
                </a:extLst>
              </p:cNvPr>
              <p:cNvSpPr/>
              <p:nvPr/>
            </p:nvSpPr>
            <p:spPr>
              <a:xfrm>
                <a:off x="1832898" y="2374129"/>
                <a:ext cx="637224" cy="313962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7ED5F0E-BD7E-44D0-B3C8-D4A2818525CD}"/>
                      </a:ext>
                    </a:extLst>
                  </p:cNvPr>
                  <p:cNvSpPr txBox="1"/>
                  <p:nvPr/>
                </p:nvSpPr>
                <p:spPr>
                  <a:xfrm>
                    <a:off x="615636" y="2885717"/>
                    <a:ext cx="1217262" cy="8908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2400" b="1" dirty="0"/>
                  </a:p>
                  <a:p>
                    <a:endParaRPr lang="en-US" sz="2400" b="1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7ED5F0E-BD7E-44D0-B3C8-D4A2818525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5636" y="2885717"/>
                    <a:ext cx="1217262" cy="89088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9C215757-76ED-303F-17C5-6E3BB096DCFC}"/>
                  </a:ext>
                </a:extLst>
              </p:cNvPr>
              <p:cNvSpPr/>
              <p:nvPr/>
            </p:nvSpPr>
            <p:spPr>
              <a:xfrm>
                <a:off x="1821515" y="2937958"/>
                <a:ext cx="637224" cy="313962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2E303B1-9619-03A6-CE8A-CBCDE8386BA7}"/>
                      </a:ext>
                    </a:extLst>
                  </p:cNvPr>
                  <p:cNvSpPr txBox="1"/>
                  <p:nvPr/>
                </p:nvSpPr>
                <p:spPr>
                  <a:xfrm>
                    <a:off x="2271973" y="2846409"/>
                    <a:ext cx="2035512" cy="8527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2400" b="1" dirty="0"/>
                  </a:p>
                  <a:p>
                    <a:endParaRPr lang="en-US" sz="2400" b="1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2E303B1-9619-03A6-CE8A-CBCDE8386B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1973" y="2846409"/>
                    <a:ext cx="2035512" cy="85273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C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3E96A6D-2AEF-FA0C-8F42-4AFD719BE31D}"/>
                    </a:ext>
                  </a:extLst>
                </p:cNvPr>
                <p:cNvSpPr txBox="1"/>
                <p:nvPr/>
              </p:nvSpPr>
              <p:spPr>
                <a:xfrm>
                  <a:off x="1448660" y="1926037"/>
                  <a:ext cx="2035512" cy="4816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3E96A6D-2AEF-FA0C-8F42-4AFD719BE3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660" y="1926037"/>
                  <a:ext cx="2035512" cy="48167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542423-BF95-9113-1DD3-54B5DC120C6B}"/>
                    </a:ext>
                  </a:extLst>
                </p:cNvPr>
                <p:cNvSpPr txBox="1"/>
                <p:nvPr/>
              </p:nvSpPr>
              <p:spPr>
                <a:xfrm>
                  <a:off x="-177817" y="2522989"/>
                  <a:ext cx="1217262" cy="5343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542423-BF95-9113-1DD3-54B5DC120C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7817" y="2522989"/>
                  <a:ext cx="1217262" cy="5343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2E30E6B-2F2A-FC1F-77CE-BFE19A88ABFD}"/>
                    </a:ext>
                  </a:extLst>
                </p:cNvPr>
                <p:cNvSpPr txBox="1"/>
                <p:nvPr/>
              </p:nvSpPr>
              <p:spPr>
                <a:xfrm>
                  <a:off x="-177817" y="3101939"/>
                  <a:ext cx="1217262" cy="5343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2E30E6B-2F2A-FC1F-77CE-BFE19A88A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7817" y="3101939"/>
                  <a:ext cx="1217262" cy="5343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77C68623-86B8-ADC1-48C6-B25E1A8B1DE0}"/>
                </a:ext>
              </a:extLst>
            </p:cNvPr>
            <p:cNvSpPr/>
            <p:nvPr/>
          </p:nvSpPr>
          <p:spPr>
            <a:xfrm>
              <a:off x="1023842" y="3278248"/>
              <a:ext cx="637224" cy="313962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CF1EAA1-F61E-A6E2-0991-4955EAE6310F}"/>
                    </a:ext>
                  </a:extLst>
                </p:cNvPr>
                <p:cNvSpPr txBox="1"/>
                <p:nvPr/>
              </p:nvSpPr>
              <p:spPr>
                <a:xfrm>
                  <a:off x="1448660" y="3153558"/>
                  <a:ext cx="2035512" cy="8785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400" b="1" dirty="0"/>
                </a:p>
                <a:p>
                  <a:endParaRPr lang="en-US" sz="2400" b="1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CF1EAA1-F61E-A6E2-0991-4955EAE63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660" y="3153558"/>
                  <a:ext cx="2035512" cy="8785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301FDC6-3295-61BC-3DC8-785F7A726868}"/>
              </a:ext>
            </a:extLst>
          </p:cNvPr>
          <p:cNvSpPr txBox="1"/>
          <p:nvPr/>
        </p:nvSpPr>
        <p:spPr>
          <a:xfrm>
            <a:off x="706794" y="4037162"/>
            <a:ext cx="4611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Concatenate Datasets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7415FDF-5A79-6522-4B77-2EFB0BC6FEB7}"/>
                  </a:ext>
                </a:extLst>
              </p:cNvPr>
              <p:cNvSpPr txBox="1"/>
              <p:nvPr/>
            </p:nvSpPr>
            <p:spPr>
              <a:xfrm>
                <a:off x="331208" y="4542677"/>
                <a:ext cx="3667512" cy="1672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7415FDF-5A79-6522-4B77-2EFB0BC6F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08" y="4542677"/>
                <a:ext cx="3667512" cy="16728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93B5001-4F69-EC3B-1F4A-6A65DD0E25E0}"/>
                  </a:ext>
                </a:extLst>
              </p:cNvPr>
              <p:cNvSpPr txBox="1"/>
              <p:nvPr/>
            </p:nvSpPr>
            <p:spPr>
              <a:xfrm>
                <a:off x="2860091" y="4594296"/>
                <a:ext cx="2002895" cy="1477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93B5001-4F69-EC3B-1F4A-6A65DD0E2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091" y="4594296"/>
                <a:ext cx="2002895" cy="147739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7063825D-5401-E059-1623-FF5FDA24788D}"/>
              </a:ext>
            </a:extLst>
          </p:cNvPr>
          <p:cNvSpPr/>
          <p:nvPr/>
        </p:nvSpPr>
        <p:spPr>
          <a:xfrm>
            <a:off x="102608" y="4001103"/>
            <a:ext cx="457200" cy="4572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CF4FA0-893A-75B4-F1AC-71AF58D80FC5}"/>
              </a:ext>
            </a:extLst>
          </p:cNvPr>
          <p:cNvSpPr txBox="1"/>
          <p:nvPr/>
        </p:nvSpPr>
        <p:spPr>
          <a:xfrm>
            <a:off x="4862986" y="3495316"/>
            <a:ext cx="738226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Fuse any number of data</a:t>
            </a:r>
            <a:r>
              <a:rPr lang="en-AE" sz="2400" dirty="0"/>
              <a:t> sources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AE" sz="2400" dirty="0"/>
              <a:t>No assumptions on discrepancies of data sources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AE" sz="2400" dirty="0"/>
              <a:t>No assumption on the hierarchy of data sources</a:t>
            </a:r>
          </a:p>
        </p:txBody>
      </p:sp>
    </p:spTree>
    <p:extLst>
      <p:ext uri="{BB962C8B-B14F-4D97-AF65-F5344CB8AC3E}">
        <p14:creationId xmlns:p14="http://schemas.microsoft.com/office/powerpoint/2010/main" val="255680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10" grpId="0"/>
      <p:bldP spid="13" grpId="0"/>
      <p:bldP spid="16" grpId="0" animBg="1"/>
      <p:bldP spid="37" grpId="0" animBg="1"/>
      <p:bldP spid="41" grpId="0" animBg="1"/>
      <p:bldP spid="15" grpId="0"/>
      <p:bldP spid="31" grpId="0"/>
      <p:bldP spid="33" grpId="0"/>
      <p:bldP spid="34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742CFC0-3AFD-7FD4-6191-12A31BA5F722}"/>
              </a:ext>
            </a:extLst>
          </p:cNvPr>
          <p:cNvSpPr txBox="1"/>
          <p:nvPr/>
        </p:nvSpPr>
        <p:spPr>
          <a:xfrm>
            <a:off x="2514337" y="6179143"/>
            <a:ext cx="9677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748A42-93D4-C68C-5C5F-60E61C7F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EBA6E-A630-9D0C-7253-7E7043AACC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C7B568-46E9-22B3-B0F0-AB9A5762313D}"/>
              </a:ext>
            </a:extLst>
          </p:cNvPr>
          <p:cNvSpPr txBox="1"/>
          <p:nvPr/>
        </p:nvSpPr>
        <p:spPr>
          <a:xfrm>
            <a:off x="158435" y="436328"/>
            <a:ext cx="11875129" cy="25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Multiple </a:t>
            </a:r>
            <a:r>
              <a:rPr lang="en-US" sz="2800" b="1" dirty="0"/>
              <a:t>coexisting</a:t>
            </a:r>
            <a:r>
              <a:rPr lang="en-US" sz="2800" dirty="0"/>
              <a:t> uncertainty sources: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(1)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00B050"/>
                </a:solidFill>
              </a:rPr>
              <a:t>Lack of high-fidelity data</a:t>
            </a:r>
            <a:r>
              <a:rPr lang="en-US" sz="2800" dirty="0"/>
              <a:t>	</a:t>
            </a:r>
            <a:r>
              <a:rPr lang="en-US" sz="2800" b="1" dirty="0">
                <a:solidFill>
                  <a:srgbClr val="FF0000"/>
                </a:solidFill>
              </a:rPr>
              <a:t>(2)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00B050"/>
                </a:solidFill>
              </a:rPr>
              <a:t>Stochastic nature of the data sources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(3) </a:t>
            </a:r>
            <a:r>
              <a:rPr lang="en-US" sz="2800" dirty="0">
                <a:solidFill>
                  <a:srgbClr val="00B050"/>
                </a:solidFill>
              </a:rPr>
              <a:t>Mixed feature space: Non-differentiable qualitative inputs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(4) </a:t>
            </a:r>
            <a:r>
              <a:rPr lang="en-US" sz="2800" dirty="0"/>
              <a:t>Bias of low-fidelity data: Convergence to incorrect optima</a:t>
            </a:r>
          </a:p>
        </p:txBody>
      </p:sp>
      <p:pic>
        <p:nvPicPr>
          <p:cNvPr id="7" name="Picture 6" descr="A picture containing text, line, diagram, plot&#10;&#10;Description automatically generated">
            <a:extLst>
              <a:ext uri="{FF2B5EF4-FFF2-40B4-BE49-F238E27FC236}">
                <a16:creationId xmlns:a16="http://schemas.microsoft.com/office/drawing/2014/main" id="{A6989D90-FA6F-9EE1-1CC1-C30EC3A23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924" y="3044432"/>
            <a:ext cx="5415758" cy="3159192"/>
          </a:xfrm>
          <a:prstGeom prst="rect">
            <a:avLst/>
          </a:prstGeom>
        </p:spPr>
      </p:pic>
      <p:pic>
        <p:nvPicPr>
          <p:cNvPr id="8" name="Picture 7" descr="A picture containing diagram, line, plot&#10;&#10;Description automatically generated">
            <a:extLst>
              <a:ext uri="{FF2B5EF4-FFF2-40B4-BE49-F238E27FC236}">
                <a16:creationId xmlns:a16="http://schemas.microsoft.com/office/drawing/2014/main" id="{C837C60E-2B74-533B-9C22-22ACC8C33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70" y="3029197"/>
            <a:ext cx="5399907" cy="314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78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72C83-2AF9-18D4-7428-838FAE31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92920-6FA7-7C34-72DE-D5473AF785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developed acquisition function (AF)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B77B3-E72A-81B6-6FA1-FFA815075B32}"/>
              </a:ext>
            </a:extLst>
          </p:cNvPr>
          <p:cNvSpPr txBox="1"/>
          <p:nvPr/>
        </p:nvSpPr>
        <p:spPr>
          <a:xfrm>
            <a:off x="48127" y="547964"/>
            <a:ext cx="11875128" cy="1381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400" b="1" dirty="0"/>
              <a:t>Our idea:</a:t>
            </a:r>
            <a:r>
              <a:rPr lang="en-US" sz="2400" dirty="0"/>
              <a:t> Expected utility of low- and high-fidelity data should be measured differently!</a:t>
            </a:r>
          </a:p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0000"/>
                </a:solidFill>
              </a:rPr>
              <a:t>Low-fidelity: Exploration</a:t>
            </a:r>
          </a:p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0000"/>
                </a:solidFill>
              </a:rPr>
              <a:t>High-fidelity: Exploitation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0A849B-7578-CAF3-C638-A82041AF7A3E}"/>
              </a:ext>
            </a:extLst>
          </p:cNvPr>
          <p:cNvSpPr txBox="1"/>
          <p:nvPr/>
        </p:nvSpPr>
        <p:spPr>
          <a:xfrm>
            <a:off x="2522001" y="6186665"/>
            <a:ext cx="101068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25C35-C20E-3F29-2DB9-535AE85CD450}"/>
              </a:ext>
            </a:extLst>
          </p:cNvPr>
          <p:cNvSpPr txBox="1"/>
          <p:nvPr/>
        </p:nvSpPr>
        <p:spPr>
          <a:xfrm>
            <a:off x="149138" y="1772538"/>
            <a:ext cx="11875128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Low-fidelity: </a:t>
            </a:r>
            <a:r>
              <a:rPr lang="en-US" sz="2400" dirty="0"/>
              <a:t>Use the exploration part of expected improvement (EI)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b="1" dirty="0"/>
              <a:t>High-fidelity:</a:t>
            </a:r>
            <a:r>
              <a:rPr lang="en-US" sz="2400" dirty="0"/>
              <a:t> Use probability of improvement (PI)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b="1" dirty="0"/>
              <a:t>Final acquisition function (AF):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87CC74-FFD4-3EB5-4505-9B24717ADAA2}"/>
                  </a:ext>
                </a:extLst>
              </p:cNvPr>
              <p:cNvSpPr txBox="1"/>
              <p:nvPr/>
            </p:nvSpPr>
            <p:spPr>
              <a:xfrm>
                <a:off x="6279164" y="2259981"/>
                <a:ext cx="6362986" cy="79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E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E" sz="2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AE" sz="2000" i="1">
                              <a:latin typeface="Cambria Math" panose="02040503050406030204" pitchFamily="18" charset="0"/>
                            </a:rPr>
                            <m:t>𝐿𝐹</m:t>
                          </m:r>
                        </m:sub>
                      </m:sSub>
                      <m:d>
                        <m:dPr>
                          <m:ctrlPr>
                            <a:rPr lang="en-AE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E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AE" sz="2000" b="0" i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AE" sz="20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AE" sz="2000" b="0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AE" sz="20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E" sz="20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AE" sz="20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E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AE" sz="2000" b="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E" sz="20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AE" sz="2000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E" sz="20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E" sz="2000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AE" sz="2000" b="0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AE" sz="2000" b="0" i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AE" sz="2000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E" sz="2000" b="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AE" sz="2000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AE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E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AE" sz="2000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E" sz="20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AE" sz="2000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AE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E" sz="20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AE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87CC74-FFD4-3EB5-4505-9B24717AD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164" y="2259981"/>
                <a:ext cx="6362986" cy="7958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0FCAE2A-6E59-BD82-2DD5-8701C1C23D5C}"/>
                  </a:ext>
                </a:extLst>
              </p:cNvPr>
              <p:cNvSpPr/>
              <p:nvPr/>
            </p:nvSpPr>
            <p:spPr>
              <a:xfrm>
                <a:off x="7266039" y="3121671"/>
                <a:ext cx="4389235" cy="11266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E" sz="2000" i="1" kern="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𝐻𝐹</m:t>
                          </m:r>
                        </m:sub>
                      </m:sSub>
                      <m:d>
                        <m:dPr>
                          <m:ctrlPr>
                            <a:rPr lang="en-AE" sz="20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𝒖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𝜓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n-AE" sz="2000" i="1" ker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AE" sz="2000" i="1" ker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𝒖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bSup>
                            <m:sSubSupPr>
                              <m:ctrlPr>
                                <a:rPr lang="en-AE" sz="2000" i="1" ker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AE" sz="2000" i="1" ker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𝒖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0FCAE2A-6E59-BD82-2DD5-8701C1C23D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039" y="3121671"/>
                <a:ext cx="4389235" cy="11266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205A2A-5AFC-09F4-7BBC-BDD8126C9B47}"/>
                  </a:ext>
                </a:extLst>
              </p:cNvPr>
              <p:cNvSpPr txBox="1"/>
              <p:nvPr/>
            </p:nvSpPr>
            <p:spPr>
              <a:xfrm>
                <a:off x="2658274" y="4400176"/>
                <a:ext cx="7495898" cy="17727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50240" indent="-241935" algn="just" hangingPunct="0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E" sz="2400" i="1" kern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sSub>
                            <m:sSubPr>
                              <m:ctrlPr>
                                <a:rPr lang="en-AE" sz="2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𝑀𝐹𝐵𝑂</m:t>
                              </m:r>
                            </m:e>
                            <m:sub>
                              <m:r>
                                <a:rPr lang="en-US" sz="2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𝛽</m:t>
                              </m:r>
                            </m:sub>
                          </m:sSub>
                        </m:sub>
                      </m:sSub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𝒖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;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𝑗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AE" sz="2400" i="1" ker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E" sz="2400" i="1" ker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AE" sz="2400" i="1" ker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AE" sz="2400" i="1" ker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𝐿𝐹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AE" sz="2400" i="1" ker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𝒖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  <m:d>
                                    <m:dPr>
                                      <m:ctrlPr>
                                        <a:rPr lang="en-AE" sz="2400" i="1" ker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 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=1,…,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𝑑𝑠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&amp; &amp;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𝑎𝑛𝑑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AE" sz="2400" i="1" ker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AE" sz="2400" i="1" ker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𝐻𝐹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AE" sz="2400" i="1" ker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𝒖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                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E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205A2A-5AFC-09F4-7BBC-BDD8126C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274" y="4400176"/>
                <a:ext cx="7495898" cy="17727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83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72C83-2AF9-18D4-7428-838FAE31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92920-6FA7-7C34-72DE-D5473AF785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developed acquisition function (AF)</a:t>
            </a:r>
          </a:p>
        </p:txBody>
      </p:sp>
      <p:pic>
        <p:nvPicPr>
          <p:cNvPr id="8" name="Picture 7" descr="A picture containing text, line, plot, diagram&#10;&#10;Description automatically generated">
            <a:extLst>
              <a:ext uri="{FF2B5EF4-FFF2-40B4-BE49-F238E27FC236}">
                <a16:creationId xmlns:a16="http://schemas.microsoft.com/office/drawing/2014/main" id="{728A5AF6-08B0-8940-AA0A-56BF6DC3D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092" y="1347481"/>
            <a:ext cx="8923096" cy="52051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2B0E33-8805-3AA0-A7F5-01A4F29009AF}"/>
              </a:ext>
            </a:extLst>
          </p:cNvPr>
          <p:cNvSpPr txBox="1"/>
          <p:nvPr/>
        </p:nvSpPr>
        <p:spPr>
          <a:xfrm>
            <a:off x="0" y="584775"/>
            <a:ext cx="12273280" cy="107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Our AF samples LF sources where they are more </a:t>
            </a:r>
            <a:r>
              <a:rPr lang="en-US" sz="2800" b="1" dirty="0"/>
              <a:t>correlated</a:t>
            </a:r>
            <a:r>
              <a:rPr lang="en-US" sz="2800" dirty="0"/>
              <a:t> with the HF and are </a:t>
            </a:r>
            <a:r>
              <a:rPr lang="en-US" sz="2800" b="1" dirty="0"/>
              <a:t>more informative</a:t>
            </a:r>
            <a:r>
              <a:rPr lang="en-US" sz="2800" dirty="0"/>
              <a:t>. </a:t>
            </a:r>
            <a:endParaRPr lang="en-CA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70B5D-50F9-4956-41A5-CC92EDD51040}"/>
              </a:ext>
            </a:extLst>
          </p:cNvPr>
          <p:cNvSpPr txBox="1"/>
          <p:nvPr/>
        </p:nvSpPr>
        <p:spPr>
          <a:xfrm>
            <a:off x="2488212" y="6183775"/>
            <a:ext cx="9703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115937.</a:t>
            </a:r>
          </a:p>
        </p:txBody>
      </p:sp>
    </p:spTree>
    <p:extLst>
      <p:ext uri="{BB962C8B-B14F-4D97-AF65-F5344CB8AC3E}">
        <p14:creationId xmlns:p14="http://schemas.microsoft.com/office/powerpoint/2010/main" val="2387186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10AFA7-DC5B-4A70-BDE8-4C904D62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D7FAA-6BF6-4CC8-A9B1-1EE9194B42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Optimum data collection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EE1D1-C184-4795-8889-2EA934580AAD}"/>
              </a:ext>
            </a:extLst>
          </p:cNvPr>
          <p:cNvSpPr txBox="1"/>
          <p:nvPr/>
        </p:nvSpPr>
        <p:spPr>
          <a:xfrm>
            <a:off x="2563979" y="6198832"/>
            <a:ext cx="96280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</a:rPr>
              <a:t>Zhou, Y.C., H.Y. Dong, X.H. Wang, and S.Q. Chen, Electronic structure of the layered ternary carbides ti2snc and ti2gec. Journal of Physics: Condensed Matter, 2000. 12(46): p. 9617.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2BD83B6-9296-4D74-9E13-CC4F3CDE1F2D}"/>
                  </a:ext>
                </a:extLst>
              </p:cNvPr>
              <p:cNvSpPr/>
              <p:nvPr/>
            </p:nvSpPr>
            <p:spPr>
              <a:xfrm>
                <a:off x="97557" y="538117"/>
                <a:ext cx="11875128" cy="13051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dirty="0">
                    <a:effectLst/>
                  </a:rPr>
                  <a:t>Design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8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800" dirty="0">
                    <a:latin typeface="+mj-lt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+mj-lt"/>
                  </a:rPr>
                  <a:t>nanolaminate ternary alloys that exhibit many of the beneficial properties of both ceramic and metallic materials: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2BD83B6-9296-4D74-9E13-CC4F3CDE1F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7" y="538117"/>
                <a:ext cx="11875128" cy="1305165"/>
              </a:xfrm>
              <a:prstGeom prst="rect">
                <a:avLst/>
              </a:prstGeom>
              <a:blipFill>
                <a:blip r:embed="rId3"/>
                <a:stretch>
                  <a:fillRect l="-1027" r="-1078" b="-1215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9D5BB95-5505-4C71-8A22-D6D63AB5934C}"/>
              </a:ext>
            </a:extLst>
          </p:cNvPr>
          <p:cNvSpPr txBox="1"/>
          <p:nvPr/>
        </p:nvSpPr>
        <p:spPr>
          <a:xfrm>
            <a:off x="120505" y="3484111"/>
            <a:ext cx="56356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Q.1. How can we find the composition with the largest bulk modulus without running 240 expensive DFT simulations?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400" b="1" dirty="0"/>
          </a:p>
          <a:p>
            <a:pPr algn="just"/>
            <a:r>
              <a:rPr lang="en-US" sz="2400" b="1" dirty="0"/>
              <a:t>Q.2. Can we use inaccurate but cheap simulations?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0FE79C3-B122-4E0E-8342-75ADD5F24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900" y="3869256"/>
            <a:ext cx="5281366" cy="20680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E4E367-0A80-484F-8B91-4B51F5EA6101}"/>
                  </a:ext>
                </a:extLst>
              </p:cNvPr>
              <p:cNvSpPr txBox="1"/>
              <p:nvPr/>
            </p:nvSpPr>
            <p:spPr>
              <a:xfrm>
                <a:off x="219315" y="1991540"/>
                <a:ext cx="10722358" cy="1271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An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early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transition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metal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24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𝑆𝑐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𝑇𝑖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𝐶𝑟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𝑍𝑟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𝑁𝑏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𝑀𝑜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𝐻𝑓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𝑇𝑎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𝑊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  →  10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main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group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element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𝐴𝑙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𝑆𝑖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𝐺𝑎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𝐺𝑒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𝐴𝑠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𝐶𝑑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𝐼𝑛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𝑆𝑛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𝑇𝑙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𝑃𝑏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→  12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Either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carbon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nitrogen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                                                            →  2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E4E367-0A80-484F-8B91-4B51F5EA6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15" y="1991540"/>
                <a:ext cx="10722358" cy="12714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706B73-A2D6-4D20-85A9-71BC5375FFAB}"/>
                  </a:ext>
                </a:extLst>
              </p:cNvPr>
              <p:cNvSpPr txBox="1"/>
              <p:nvPr/>
            </p:nvSpPr>
            <p:spPr>
              <a:xfrm>
                <a:off x="10726831" y="2243493"/>
                <a:ext cx="124585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𝟐𝟒𝟎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706B73-A2D6-4D20-85A9-71BC5375F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831" y="2243493"/>
                <a:ext cx="1245854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902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CE1493-F407-5746-E47A-BF28B961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FC903-03E7-8405-054E-954A42A2AD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Results: composition design application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336FF1-22FC-33F9-26B4-31F692DE440F}"/>
              </a:ext>
            </a:extLst>
          </p:cNvPr>
          <p:cNvSpPr/>
          <p:nvPr/>
        </p:nvSpPr>
        <p:spPr>
          <a:xfrm>
            <a:off x="158436" y="560210"/>
            <a:ext cx="11875128" cy="2239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Dimension: 10 (3 categorical and 7 numerical features)</a:t>
            </a:r>
            <a:endParaRPr lang="en-US" sz="2400" dirty="0">
              <a:effectLst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Cost ratio of HF/LF: 10/1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Initialization:1</a:t>
            </a:r>
            <a:r>
              <a:rPr lang="en-US" sz="2400" dirty="0">
                <a:effectLst/>
              </a:rPr>
              <a:t>0HF/20LF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15 repetitions</a:t>
            </a:r>
          </a:p>
        </p:txBody>
      </p:sp>
      <p:pic>
        <p:nvPicPr>
          <p:cNvPr id="6" name="Picture 5" descr="A picture containing text, line, diagram, screenshot&#10;&#10;Description automatically generated">
            <a:extLst>
              <a:ext uri="{FF2B5EF4-FFF2-40B4-BE49-F238E27FC236}">
                <a16:creationId xmlns:a16="http://schemas.microsoft.com/office/drawing/2014/main" id="{7E3EEF2A-6DF9-46C7-6D22-278738D22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118" y="2000893"/>
            <a:ext cx="6445346" cy="4296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53440B-CDF1-D745-8B72-9FF7AFC466B0}"/>
              </a:ext>
            </a:extLst>
          </p:cNvPr>
          <p:cNvSpPr txBox="1"/>
          <p:nvPr/>
        </p:nvSpPr>
        <p:spPr>
          <a:xfrm>
            <a:off x="2550159" y="6189420"/>
            <a:ext cx="9641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</a:t>
            </a:r>
            <a:endParaRPr lang="en-CA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2F0F5-007C-8B74-80A5-3E1B1804032A}"/>
              </a:ext>
            </a:extLst>
          </p:cNvPr>
          <p:cNvSpPr txBox="1"/>
          <p:nvPr/>
        </p:nvSpPr>
        <p:spPr>
          <a:xfrm>
            <a:off x="6368527" y="1770060"/>
            <a:ext cx="5665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Convergence vs Cost</a:t>
            </a:r>
            <a:endParaRPr lang="en-CA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973C2-8E89-F6E1-3321-D06EC2FB7185}"/>
              </a:ext>
            </a:extLst>
          </p:cNvPr>
          <p:cNvSpPr txBox="1"/>
          <p:nvPr/>
        </p:nvSpPr>
        <p:spPr>
          <a:xfrm>
            <a:off x="96253" y="3974141"/>
            <a:ext cx="609600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effectLst/>
              </a:rPr>
              <a:t>Multi-fidelity BO converges much faster</a:t>
            </a:r>
          </a:p>
        </p:txBody>
      </p:sp>
    </p:spTree>
    <p:extLst>
      <p:ext uri="{BB962C8B-B14F-4D97-AF65-F5344CB8AC3E}">
        <p14:creationId xmlns:p14="http://schemas.microsoft.com/office/powerpoint/2010/main" val="3662698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CE1493-F407-5746-E47A-BF28B961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FC903-03E7-8405-054E-954A42A2AD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Results: composition design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FF926-1EF3-6F15-8F08-B018EECAD8E7}"/>
              </a:ext>
            </a:extLst>
          </p:cNvPr>
          <p:cNvSpPr/>
          <p:nvPr/>
        </p:nvSpPr>
        <p:spPr>
          <a:xfrm>
            <a:off x="158436" y="670834"/>
            <a:ext cx="11875128" cy="1305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Total number of iterations are comparable across </a:t>
            </a:r>
            <a:r>
              <a:rPr lang="en-US" sz="2800" dirty="0"/>
              <a:t>different methods.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Our multi-fidelity BO samples more from low-fidelity source.</a:t>
            </a:r>
          </a:p>
        </p:txBody>
      </p:sp>
      <p:pic>
        <p:nvPicPr>
          <p:cNvPr id="6" name="Picture 5" descr="A picture containing text, diagram, screenshot, plot&#10;&#10;Description automatically generated">
            <a:extLst>
              <a:ext uri="{FF2B5EF4-FFF2-40B4-BE49-F238E27FC236}">
                <a16:creationId xmlns:a16="http://schemas.microsoft.com/office/drawing/2014/main" id="{98F8AD76-7DB3-89F1-F621-167306575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5309"/>
            <a:ext cx="6172200" cy="4114800"/>
          </a:xfrm>
          <a:prstGeom prst="rect">
            <a:avLst/>
          </a:prstGeom>
        </p:spPr>
      </p:pic>
      <p:pic>
        <p:nvPicPr>
          <p:cNvPr id="7" name="Picture 6" descr="A picture containing text, screenshot, diagram, plot&#10;&#10;Description automatically generated">
            <a:extLst>
              <a:ext uri="{FF2B5EF4-FFF2-40B4-BE49-F238E27FC236}">
                <a16:creationId xmlns:a16="http://schemas.microsoft.com/office/drawing/2014/main" id="{65FE5FEB-D5C4-B927-A6AF-95DE86756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072741"/>
            <a:ext cx="6172200" cy="42182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0B0C82-97DB-B489-DA6E-B7F524C84616}"/>
              </a:ext>
            </a:extLst>
          </p:cNvPr>
          <p:cNvSpPr txBox="1"/>
          <p:nvPr/>
        </p:nvSpPr>
        <p:spPr>
          <a:xfrm>
            <a:off x="2598502" y="6189420"/>
            <a:ext cx="97458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696563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7E3F24-CC1C-E733-DC90-3C129C34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ECBC9-ABA8-8018-B15E-0C3B5A284B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Learnt manifolds: Data source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96EEEA-A802-A048-79F2-161C68D12652}"/>
              </a:ext>
            </a:extLst>
          </p:cNvPr>
          <p:cNvSpPr/>
          <p:nvPr/>
        </p:nvSpPr>
        <p:spPr>
          <a:xfrm>
            <a:off x="743726" y="1411452"/>
            <a:ext cx="50211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Using initial data</a:t>
            </a:r>
            <a:endParaRPr lang="en-US" sz="2800" b="1" dirty="0"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534C68-6424-6BEB-3089-D2252F702FF5}"/>
              </a:ext>
            </a:extLst>
          </p:cNvPr>
          <p:cNvSpPr/>
          <p:nvPr/>
        </p:nvSpPr>
        <p:spPr>
          <a:xfrm>
            <a:off x="7259550" y="1411452"/>
            <a:ext cx="40942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ffectLst/>
              </a:rPr>
              <a:t>Using all the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D0A7D5-C4A1-5AA5-2547-B7CB50C028A4}"/>
                  </a:ext>
                </a:extLst>
              </p:cNvPr>
              <p:cNvSpPr txBox="1"/>
              <p:nvPr/>
            </p:nvSpPr>
            <p:spPr>
              <a:xfrm>
                <a:off x="1768132" y="5524075"/>
                <a:ext cx="295484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~1</m:t>
                          </m:r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D0A7D5-C4A1-5AA5-2547-B7CB50C02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132" y="5524075"/>
                <a:ext cx="29548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973E71-FC3E-89D4-F33E-1046589974BE}"/>
                  </a:ext>
                </a:extLst>
              </p:cNvPr>
              <p:cNvSpPr txBox="1"/>
              <p:nvPr/>
            </p:nvSpPr>
            <p:spPr>
              <a:xfrm>
                <a:off x="7829506" y="5564360"/>
                <a:ext cx="295484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~1</m:t>
                          </m:r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973E71-FC3E-89D4-F33E-104658997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506" y="5564360"/>
                <a:ext cx="295484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3BE8E5FC-B2FA-E383-0C10-E86967DA0172}"/>
              </a:ext>
            </a:extLst>
          </p:cNvPr>
          <p:cNvSpPr/>
          <p:nvPr/>
        </p:nvSpPr>
        <p:spPr>
          <a:xfrm>
            <a:off x="160404" y="5000855"/>
            <a:ext cx="118711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effectLst/>
              </a:rPr>
              <a:t>Cross-source correlation based on </a:t>
            </a:r>
            <a:r>
              <a:rPr lang="en-US" sz="2800" b="1" u="sng" dirty="0">
                <a:effectLst/>
              </a:rPr>
              <a:t>nonlinearly learnt </a:t>
            </a:r>
            <a:r>
              <a:rPr lang="en-US" sz="2800" b="1" dirty="0">
                <a:effectLst/>
              </a:rPr>
              <a:t>latent variable: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06F56-861E-E13F-4C25-1E5ADE90A334}"/>
              </a:ext>
            </a:extLst>
          </p:cNvPr>
          <p:cNvSpPr txBox="1"/>
          <p:nvPr/>
        </p:nvSpPr>
        <p:spPr>
          <a:xfrm>
            <a:off x="158436" y="626622"/>
            <a:ext cx="5749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learnt manifold of M2AX</a:t>
            </a:r>
            <a:endParaRPr lang="en-CA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99DD8-393B-B5EC-D2D1-0DE44BF4C43D}"/>
              </a:ext>
            </a:extLst>
          </p:cNvPr>
          <p:cNvSpPr txBox="1"/>
          <p:nvPr/>
        </p:nvSpPr>
        <p:spPr>
          <a:xfrm>
            <a:off x="2489201" y="6189420"/>
            <a:ext cx="970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</a:t>
            </a:r>
            <a:endParaRPr lang="en-CA" sz="1400" dirty="0"/>
          </a:p>
        </p:txBody>
      </p:sp>
      <p:pic>
        <p:nvPicPr>
          <p:cNvPr id="7" name="Picture 6" descr="A picture containing text, screenshot, font, diagram&#10;&#10;Description automatically generated">
            <a:extLst>
              <a:ext uri="{FF2B5EF4-FFF2-40B4-BE49-F238E27FC236}">
                <a16:creationId xmlns:a16="http://schemas.microsoft.com/office/drawing/2014/main" id="{57C5459F-30F9-18F4-AA63-8B35A8CF7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71" y="1914375"/>
            <a:ext cx="5233370" cy="3052800"/>
          </a:xfrm>
          <a:prstGeom prst="rect">
            <a:avLst/>
          </a:prstGeom>
        </p:spPr>
      </p:pic>
      <p:pic>
        <p:nvPicPr>
          <p:cNvPr id="9" name="Picture 8" descr="A picture containing text, screenshot, diagram, font&#10;&#10;Description automatically generated">
            <a:extLst>
              <a:ext uri="{FF2B5EF4-FFF2-40B4-BE49-F238E27FC236}">
                <a16:creationId xmlns:a16="http://schemas.microsoft.com/office/drawing/2014/main" id="{B597712D-3096-DBA3-B31C-D4C6E76CE0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504" y="1914375"/>
            <a:ext cx="5230178" cy="305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24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15D4E6-70C9-3276-E8E1-61A20DBD63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C8CA3-20D2-EB41-DD89-66B5A37C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372" y="938817"/>
            <a:ext cx="10407256" cy="4209594"/>
          </a:xfrm>
        </p:spPr>
        <p:txBody>
          <a:bodyPr/>
          <a:lstStyle/>
          <a:p>
            <a:pPr algn="ctr"/>
            <a:r>
              <a:rPr lang="en-US" sz="8800" b="1" dirty="0">
                <a:solidFill>
                  <a:srgbClr val="FFFF00"/>
                </a:solidFill>
              </a:rPr>
              <a:t>Will</a:t>
            </a:r>
            <a:r>
              <a:rPr lang="en-US" sz="8800" b="1" dirty="0">
                <a:solidFill>
                  <a:schemeClr val="bg1"/>
                </a:solidFill>
              </a:rPr>
              <a:t> Multi-fidelity BO </a:t>
            </a:r>
            <a:r>
              <a:rPr lang="en-US" sz="8800" b="1" dirty="0">
                <a:solidFill>
                  <a:srgbClr val="FFFF00"/>
                </a:solidFill>
              </a:rPr>
              <a:t>always </a:t>
            </a:r>
            <a:r>
              <a:rPr lang="en-US" sz="8800" b="1" dirty="0">
                <a:solidFill>
                  <a:schemeClr val="bg1"/>
                </a:solidFill>
              </a:rPr>
              <a:t>outperform Single-fidelity BO?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EC863-BD87-4650-A30A-36BD842E8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94AF64-FC92-4E4E-9E42-CF08351F977D}" type="slidenum">
              <a:rPr lang="en-US" altLang="zh-CN" smtClean="0">
                <a:solidFill>
                  <a:schemeClr val="bg1"/>
                </a:solidFill>
              </a:rPr>
              <a:pPr/>
              <a:t>19</a:t>
            </a:fld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BF786-40AC-284D-D9AA-F1B66BD8DE19}"/>
              </a:ext>
            </a:extLst>
          </p:cNvPr>
          <p:cNvSpPr txBox="1"/>
          <p:nvPr/>
        </p:nvSpPr>
        <p:spPr>
          <a:xfrm>
            <a:off x="164504" y="5949300"/>
            <a:ext cx="118629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 err="1">
                <a:solidFill>
                  <a:schemeClr val="bg1"/>
                </a:solidFill>
              </a:rPr>
              <a:t>Zanjani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Foumani</a:t>
            </a:r>
            <a:r>
              <a:rPr lang="en-US" sz="2000" dirty="0">
                <a:solidFill>
                  <a:schemeClr val="bg1"/>
                </a:solidFill>
              </a:rPr>
              <a:t>, Z., et al., Multi-fidelity cost-aware Bayesian optimization. Computer Methods in Applied Mechanics and Engineering, 2023. 407: p. 115937.</a:t>
            </a:r>
          </a:p>
        </p:txBody>
      </p:sp>
    </p:spTree>
    <p:extLst>
      <p:ext uri="{BB962C8B-B14F-4D97-AF65-F5344CB8AC3E}">
        <p14:creationId xmlns:p14="http://schemas.microsoft.com/office/powerpoint/2010/main" val="3904851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D94A1B-11C9-7421-24D9-FF652999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AD830-F658-ADC3-B34C-6462A71CC5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Hybrid Organic-Inorganic Perovskite (HOIP)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1F01FF5-652D-0AEF-E7D3-44630DADD39F}"/>
                  </a:ext>
                </a:extLst>
              </p:cNvPr>
              <p:cNvSpPr/>
              <p:nvPr/>
            </p:nvSpPr>
            <p:spPr>
              <a:xfrm>
                <a:off x="158436" y="616896"/>
                <a:ext cx="11914397" cy="7397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b="1" dirty="0">
                    <a:effectLst/>
                  </a:rPr>
                  <a:t>HOIPs are crystals with the structural formula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effectLst/>
                        <a:latin typeface="Cambria Math" panose="02040503050406030204" pitchFamily="18" charset="0"/>
                      </a:rPr>
                      <m:t>𝑨𝑩</m:t>
                    </m:r>
                    <m:sSub>
                      <m:sSubPr>
                        <m:ctrlPr>
                          <a:rPr lang="en-US" sz="32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effectLst/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3200" b="1" i="1" smtClean="0"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sz="3200" b="1" dirty="0">
                    <a:effectLst/>
                  </a:rPr>
                  <a:t>: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1F01FF5-652D-0AEF-E7D3-44630DADD3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36" y="616896"/>
                <a:ext cx="11914397" cy="739754"/>
              </a:xfrm>
              <a:prstGeom prst="rect">
                <a:avLst/>
              </a:prstGeom>
              <a:blipFill>
                <a:blip r:embed="rId3"/>
                <a:stretch>
                  <a:fillRect l="-1331" b="-25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F40B338-4468-A127-34E0-EDE837301017}"/>
                  </a:ext>
                </a:extLst>
              </p:cNvPr>
              <p:cNvSpPr/>
              <p:nvPr/>
            </p:nvSpPr>
            <p:spPr>
              <a:xfrm>
                <a:off x="158436" y="1558603"/>
                <a:ext cx="3723557" cy="19514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→10</m:t>
                    </m:r>
                  </m:oMath>
                </a14:m>
                <a:r>
                  <a:rPr lang="en-US" sz="2800" dirty="0">
                    <a:effectLst/>
                  </a:rPr>
                  <a:t> levels</a:t>
                </a:r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→3</m:t>
                    </m:r>
                  </m:oMath>
                </a14:m>
                <a:r>
                  <a:rPr lang="en-US" sz="2800" dirty="0">
                    <a:effectLst/>
                  </a:rPr>
                  <a:t> levels</a:t>
                </a:r>
                <a:endParaRPr lang="en-US" sz="2800" dirty="0"/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→16</m:t>
                    </m:r>
                  </m:oMath>
                </a14:m>
                <a:r>
                  <a:rPr lang="en-US" sz="2800" dirty="0">
                    <a:effectLst/>
                  </a:rPr>
                  <a:t> levels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F40B338-4468-A127-34E0-EDE8373010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36" y="1558603"/>
                <a:ext cx="3723557" cy="1951496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91B6492-9ADF-84C9-2EFC-A6514EA1D674}"/>
                  </a:ext>
                </a:extLst>
              </p:cNvPr>
              <p:cNvSpPr/>
              <p:nvPr/>
            </p:nvSpPr>
            <p:spPr>
              <a:xfrm>
                <a:off x="158436" y="4044687"/>
                <a:ext cx="4641697" cy="20884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effectLst/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3200" dirty="0">
                    <a:effectLst/>
                  </a:rPr>
                  <a:t> data sources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Initial data:</a:t>
                </a:r>
                <a:r>
                  <a:rPr lang="en-US" sz="2800" dirty="0"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15−20−15</m:t>
                    </m:r>
                  </m:oMath>
                </a14:m>
                <a:endParaRPr lang="en-US" sz="2800" dirty="0">
                  <a:effectLst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Cost: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15−10−5</m:t>
                    </m:r>
                  </m:oMath>
                </a14:m>
                <a:endParaRPr lang="en-US" sz="2800" dirty="0">
                  <a:effectLst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Repetitions: 20</a:t>
                </a:r>
                <a:endParaRPr lang="en-US" sz="2800" dirty="0">
                  <a:effectLst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91B6492-9ADF-84C9-2EFC-A6514EA1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36" y="4044687"/>
                <a:ext cx="4641697" cy="2088457"/>
              </a:xfrm>
              <a:prstGeom prst="rect">
                <a:avLst/>
              </a:prstGeom>
              <a:blipFill>
                <a:blip r:embed="rId5"/>
                <a:stretch>
                  <a:fillRect l="-2760" t="-3790" b="-699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5DF6C2D-A33E-7EDE-4EFB-50CCD01F37C8}"/>
              </a:ext>
            </a:extLst>
          </p:cNvPr>
          <p:cNvSpPr txBox="1"/>
          <p:nvPr/>
        </p:nvSpPr>
        <p:spPr>
          <a:xfrm>
            <a:off x="2540000" y="6189420"/>
            <a:ext cx="965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</a:t>
            </a:r>
            <a:endParaRPr lang="en-CA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EECB36-81BE-77B4-3276-DD8E4AA94ACE}"/>
              </a:ext>
            </a:extLst>
          </p:cNvPr>
          <p:cNvSpPr/>
          <p:nvPr/>
        </p:nvSpPr>
        <p:spPr>
          <a:xfrm>
            <a:off x="2295599" y="3809003"/>
            <a:ext cx="63704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400" b="1" dirty="0">
              <a:effectLst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E3A1CC-012F-1D49-A44E-3FFA8B4081FC}"/>
              </a:ext>
            </a:extLst>
          </p:cNvPr>
          <p:cNvGrpSpPr/>
          <p:nvPr/>
        </p:nvGrpSpPr>
        <p:grpSpPr>
          <a:xfrm>
            <a:off x="5430795" y="1356650"/>
            <a:ext cx="6761205" cy="3629675"/>
            <a:chOff x="609600" y="2813312"/>
            <a:chExt cx="6791821" cy="3816087"/>
          </a:xfrm>
        </p:grpSpPr>
        <p:pic>
          <p:nvPicPr>
            <p:cNvPr id="5" name="Picture 4" descr="A picture containing text, screenshot, diagram, line&#10;&#10;Description automatically generated">
              <a:extLst>
                <a:ext uri="{FF2B5EF4-FFF2-40B4-BE49-F238E27FC236}">
                  <a16:creationId xmlns:a16="http://schemas.microsoft.com/office/drawing/2014/main" id="{AC601962-1FA5-9DAE-65BA-1A240029C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2813312"/>
              <a:ext cx="6541863" cy="381608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549D07-FA4C-72CB-AE86-61C7B6BD319B}"/>
                </a:ext>
              </a:extLst>
            </p:cNvPr>
            <p:cNvSpPr txBox="1"/>
            <p:nvPr/>
          </p:nvSpPr>
          <p:spPr>
            <a:xfrm>
              <a:off x="2066974" y="4946242"/>
              <a:ext cx="5334447" cy="949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effectLst/>
                </a:rPr>
                <a:t>Fidelity manifold via initial data</a:t>
              </a:r>
            </a:p>
            <a:p>
              <a:endParaRPr lang="en-CA" sz="2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142155B-6246-B152-E59A-B6FEA2EEB4A5}"/>
              </a:ext>
            </a:extLst>
          </p:cNvPr>
          <p:cNvGrpSpPr/>
          <p:nvPr/>
        </p:nvGrpSpPr>
        <p:grpSpPr>
          <a:xfrm>
            <a:off x="5928838" y="4367820"/>
            <a:ext cx="4641697" cy="1771602"/>
            <a:chOff x="5756118" y="4150522"/>
            <a:chExt cx="4641697" cy="177160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1A50FB8-EA0B-C4E9-53E6-029F39ADB54E}"/>
                </a:ext>
              </a:extLst>
            </p:cNvPr>
            <p:cNvSpPr/>
            <p:nvPr/>
          </p:nvSpPr>
          <p:spPr>
            <a:xfrm>
              <a:off x="5756118" y="4844906"/>
              <a:ext cx="4641697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F0000"/>
                  </a:solidFill>
                  <a:effectLst/>
                </a:rPr>
                <a:t>Low-fidelity sources will NOT help!</a:t>
              </a: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E2EC5642-A312-25C1-D42B-31DEBF9409CB}"/>
                </a:ext>
              </a:extLst>
            </p:cNvPr>
            <p:cNvSpPr/>
            <p:nvPr/>
          </p:nvSpPr>
          <p:spPr>
            <a:xfrm>
              <a:off x="7790443" y="4150522"/>
              <a:ext cx="443175" cy="493664"/>
            </a:xfrm>
            <a:prstGeom prst="downArrow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235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C400A-F6C9-9E5B-5AAB-2354DFBD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FC00C-ED3E-A661-0CBB-5A848C32D7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BO convergence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003774-621A-A25F-9DDC-60F3B18FA37D}"/>
              </a:ext>
            </a:extLst>
          </p:cNvPr>
          <p:cNvSpPr/>
          <p:nvPr/>
        </p:nvSpPr>
        <p:spPr>
          <a:xfrm>
            <a:off x="119167" y="543727"/>
            <a:ext cx="11914397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effectLst/>
              </a:rPr>
              <a:t>As expected, single-fidelity outperforms multi-fidelity BO!</a:t>
            </a:r>
          </a:p>
        </p:txBody>
      </p:sp>
      <p:pic>
        <p:nvPicPr>
          <p:cNvPr id="6" name="Picture 5" descr="A picture containing text, diagram, line, screenshot&#10;&#10;Description automatically generated">
            <a:extLst>
              <a:ext uri="{FF2B5EF4-FFF2-40B4-BE49-F238E27FC236}">
                <a16:creationId xmlns:a16="http://schemas.microsoft.com/office/drawing/2014/main" id="{CBD7075A-D859-FAC1-7D33-1F1451FA3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1" y="1242433"/>
            <a:ext cx="7790121" cy="53101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90A5CC-6983-7711-80C7-09B753F01938}"/>
              </a:ext>
            </a:extLst>
          </p:cNvPr>
          <p:cNvSpPr txBox="1"/>
          <p:nvPr/>
        </p:nvSpPr>
        <p:spPr>
          <a:xfrm>
            <a:off x="2540000" y="6214456"/>
            <a:ext cx="965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666235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839B74-A0F9-B35C-D87C-063F534F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AF52B-7B86-1100-B5AC-D2D5BC0804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Comparison studies on analytic functions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77CC22-8B17-A80E-3B56-578FF21D7C12}"/>
              </a:ext>
            </a:extLst>
          </p:cNvPr>
          <p:cNvGrpSpPr/>
          <p:nvPr/>
        </p:nvGrpSpPr>
        <p:grpSpPr>
          <a:xfrm>
            <a:off x="1220273" y="949732"/>
            <a:ext cx="4525512" cy="2639882"/>
            <a:chOff x="3208" y="945378"/>
            <a:chExt cx="4525512" cy="2639882"/>
          </a:xfrm>
        </p:grpSpPr>
        <p:pic>
          <p:nvPicPr>
            <p:cNvPr id="5" name="Picture 4" descr="A picture containing text, screenshot, line, diagram&#10;&#10;Description automatically generated">
              <a:extLst>
                <a:ext uri="{FF2B5EF4-FFF2-40B4-BE49-F238E27FC236}">
                  <a16:creationId xmlns:a16="http://schemas.microsoft.com/office/drawing/2014/main" id="{7EE1274C-CEAD-2AF0-C6BC-09C025C4A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8" y="945378"/>
              <a:ext cx="4525512" cy="263988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0D63AB-8CE5-7521-A452-024A0EA52952}"/>
                </a:ext>
              </a:extLst>
            </p:cNvPr>
            <p:cNvSpPr txBox="1"/>
            <p:nvPr/>
          </p:nvSpPr>
          <p:spPr>
            <a:xfrm>
              <a:off x="2005632" y="1732825"/>
              <a:ext cx="4961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1D</a:t>
              </a:r>
              <a:endParaRPr lang="en-AE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F6B403-AC22-37F5-2125-130FC29BAAF0}"/>
              </a:ext>
            </a:extLst>
          </p:cNvPr>
          <p:cNvGrpSpPr/>
          <p:nvPr/>
        </p:nvGrpSpPr>
        <p:grpSpPr>
          <a:xfrm>
            <a:off x="5756118" y="887560"/>
            <a:ext cx="4698283" cy="2842635"/>
            <a:chOff x="6273444" y="961473"/>
            <a:chExt cx="4698283" cy="2842635"/>
          </a:xfrm>
        </p:grpSpPr>
        <p:pic>
          <p:nvPicPr>
            <p:cNvPr id="7" name="Picture 6" descr="A picture containing text, diagram, screenshot, line&#10;&#10;Description automatically generated">
              <a:extLst>
                <a:ext uri="{FF2B5EF4-FFF2-40B4-BE49-F238E27FC236}">
                  <a16:creationId xmlns:a16="http://schemas.microsoft.com/office/drawing/2014/main" id="{404A557E-29B8-EC07-A31A-442B6B59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3444" y="961473"/>
              <a:ext cx="4698283" cy="284263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CC34F5-5D93-FC70-75B9-3846B7AB9BDD}"/>
                </a:ext>
              </a:extLst>
            </p:cNvPr>
            <p:cNvSpPr txBox="1"/>
            <p:nvPr/>
          </p:nvSpPr>
          <p:spPr>
            <a:xfrm>
              <a:off x="8472861" y="1828792"/>
              <a:ext cx="4950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2D</a:t>
              </a:r>
              <a:endParaRPr lang="en-CA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15DA3E-6D40-0A08-2494-FEFFD70B2DB3}"/>
              </a:ext>
            </a:extLst>
          </p:cNvPr>
          <p:cNvGrpSpPr/>
          <p:nvPr/>
        </p:nvGrpSpPr>
        <p:grpSpPr>
          <a:xfrm>
            <a:off x="1198877" y="3326497"/>
            <a:ext cx="4528720" cy="2975779"/>
            <a:chOff x="3172748" y="3742991"/>
            <a:chExt cx="4370284" cy="2739263"/>
          </a:xfrm>
        </p:grpSpPr>
        <p:pic>
          <p:nvPicPr>
            <p:cNvPr id="8" name="Picture 7" descr="A picture containing text, screenshot, diagram, line&#10;&#10;Description automatically generated">
              <a:extLst>
                <a:ext uri="{FF2B5EF4-FFF2-40B4-BE49-F238E27FC236}">
                  <a16:creationId xmlns:a16="http://schemas.microsoft.com/office/drawing/2014/main" id="{A64636AD-8643-6371-3D6F-EB4D9647C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2748" y="3742991"/>
              <a:ext cx="4370284" cy="273926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149361-A49F-4137-03D4-49DD5A779C51}"/>
                </a:ext>
              </a:extLst>
            </p:cNvPr>
            <p:cNvSpPr txBox="1"/>
            <p:nvPr/>
          </p:nvSpPr>
          <p:spPr>
            <a:xfrm>
              <a:off x="5117259" y="4543671"/>
              <a:ext cx="4812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8D</a:t>
              </a:r>
              <a:endParaRPr lang="en-CA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6A3D2D-32BD-94E8-A6C8-389708C5530E}"/>
              </a:ext>
            </a:extLst>
          </p:cNvPr>
          <p:cNvGrpSpPr/>
          <p:nvPr/>
        </p:nvGrpSpPr>
        <p:grpSpPr>
          <a:xfrm>
            <a:off x="5692707" y="3479329"/>
            <a:ext cx="4795545" cy="2975779"/>
            <a:chOff x="7680278" y="3692747"/>
            <a:chExt cx="4353286" cy="2739263"/>
          </a:xfrm>
        </p:grpSpPr>
        <p:pic>
          <p:nvPicPr>
            <p:cNvPr id="10" name="Picture 9" descr="A picture containing text, line, diagram, screenshot&#10;&#10;Description automatically generated">
              <a:extLst>
                <a:ext uri="{FF2B5EF4-FFF2-40B4-BE49-F238E27FC236}">
                  <a16:creationId xmlns:a16="http://schemas.microsoft.com/office/drawing/2014/main" id="{DF0B7C07-886A-4191-5C38-D3DDB9C46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0278" y="3692747"/>
              <a:ext cx="4353286" cy="273926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CA7FCF-5979-4A44-6D45-C56685768F6F}"/>
                </a:ext>
              </a:extLst>
            </p:cNvPr>
            <p:cNvSpPr txBox="1"/>
            <p:nvPr/>
          </p:nvSpPr>
          <p:spPr>
            <a:xfrm>
              <a:off x="9578817" y="4497140"/>
              <a:ext cx="6875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10D</a:t>
              </a:r>
              <a:endParaRPr lang="en-CA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6B2DF63-7BF4-3DE3-6D20-677F752A2784}"/>
              </a:ext>
            </a:extLst>
          </p:cNvPr>
          <p:cNvSpPr txBox="1"/>
          <p:nvPr/>
        </p:nvSpPr>
        <p:spPr>
          <a:xfrm>
            <a:off x="2501809" y="6205067"/>
            <a:ext cx="9690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011D5-F456-90D3-9E1F-021BF890E7E6}"/>
              </a:ext>
            </a:extLst>
          </p:cNvPr>
          <p:cNvSpPr txBox="1"/>
          <p:nvPr/>
        </p:nvSpPr>
        <p:spPr>
          <a:xfrm>
            <a:off x="1412737" y="555724"/>
            <a:ext cx="8800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Our method outperforms </a:t>
            </a:r>
            <a:r>
              <a:rPr lang="en-US" sz="2800" dirty="0">
                <a:solidFill>
                  <a:srgbClr val="C00000"/>
                </a:solidFill>
              </a:rPr>
              <a:t>BoTorch</a:t>
            </a:r>
            <a:r>
              <a:rPr lang="en-US" sz="2800" dirty="0"/>
              <a:t> which is look-ahead.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696973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8943F3-F8FA-4641-94B2-85A065CC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2666D-43AE-4E92-BEDA-5844AABB56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Concluding remarks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2BA8-923F-49B2-6760-E38FB1BBDF46}"/>
              </a:ext>
            </a:extLst>
          </p:cNvPr>
          <p:cNvSpPr/>
          <p:nvPr/>
        </p:nvSpPr>
        <p:spPr>
          <a:xfrm>
            <a:off x="158437" y="714293"/>
            <a:ext cx="115989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Our Multi-Fidelity Cost-Aware Bayesian Optimization: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CB8D78-C51C-43BA-C46A-E5AF74AEEA93}"/>
              </a:ext>
            </a:extLst>
          </p:cNvPr>
          <p:cNvSpPr txBox="1"/>
          <p:nvPr/>
        </p:nvSpPr>
        <p:spPr>
          <a:xfrm>
            <a:off x="158436" y="1456966"/>
            <a:ext cx="11598979" cy="334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Reduces the need to do lots of </a:t>
            </a:r>
            <a:r>
              <a:rPr lang="en-US" sz="2400" b="1" dirty="0"/>
              <a:t>expensive</a:t>
            </a:r>
            <a:r>
              <a:rPr lang="en-US" sz="2400" dirty="0"/>
              <a:t> simulations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Handles lack of </a:t>
            </a:r>
            <a:r>
              <a:rPr lang="en-US" sz="2400" b="1" dirty="0"/>
              <a:t>high-fidelity data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Emulates multiple data sources with </a:t>
            </a:r>
            <a:r>
              <a:rPr lang="en-US" sz="2400" b="1" dirty="0"/>
              <a:t>unknown fidelities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Provides a </a:t>
            </a:r>
            <a:r>
              <a:rPr lang="en-US" sz="2400" b="1" dirty="0"/>
              <a:t>metric</a:t>
            </a:r>
            <a:r>
              <a:rPr lang="en-US" sz="2400" dirty="0"/>
              <a:t> for the correlation of the data sources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Handles </a:t>
            </a:r>
            <a:r>
              <a:rPr lang="en-US" sz="2400" b="1" dirty="0"/>
              <a:t>categorical</a:t>
            </a:r>
            <a:r>
              <a:rPr lang="en-US" sz="2400" dirty="0"/>
              <a:t> data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Manages </a:t>
            </a:r>
            <a:r>
              <a:rPr lang="en-US" sz="2400" b="1" dirty="0"/>
              <a:t>biased</a:t>
            </a:r>
            <a:r>
              <a:rPr lang="en-US" sz="2400" dirty="0"/>
              <a:t> data 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B0496-54DC-BD9D-E43E-58EB570EEC94}"/>
              </a:ext>
            </a:extLst>
          </p:cNvPr>
          <p:cNvSpPr txBox="1"/>
          <p:nvPr/>
        </p:nvSpPr>
        <p:spPr>
          <a:xfrm>
            <a:off x="5957925" y="4526079"/>
            <a:ext cx="6112042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The open-source code will be available by the end of this summer.</a:t>
            </a:r>
            <a:endParaRPr lang="en-AE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590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8E2A42-54E2-43A9-827F-46A2C23D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5862A-27F7-4AD6-B1D1-4EDFCF41C2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acknowledgment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45C50-7A76-45A1-8B5B-76ED64F7E054}"/>
              </a:ext>
            </a:extLst>
          </p:cNvPr>
          <p:cNvSpPr txBox="1"/>
          <p:nvPr/>
        </p:nvSpPr>
        <p:spPr>
          <a:xfrm>
            <a:off x="1" y="556997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Thank you! Questions?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95D2E-1EE1-379C-4D1E-252BEA8BE77C}"/>
              </a:ext>
            </a:extLst>
          </p:cNvPr>
          <p:cNvSpPr txBox="1"/>
          <p:nvPr/>
        </p:nvSpPr>
        <p:spPr>
          <a:xfrm>
            <a:off x="1324034" y="1389955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Mehdi </a:t>
            </a:r>
            <a:r>
              <a:rPr lang="en-US" b="1" dirty="0" err="1"/>
              <a:t>Shishehbor</a:t>
            </a:r>
            <a:endParaRPr lang="en-US" b="1" dirty="0"/>
          </a:p>
          <a:p>
            <a:pPr algn="ctr"/>
            <a:r>
              <a:rPr lang="en-US" dirty="0"/>
              <a:t>Postdoc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65C87D-9822-86D3-E72C-3B38D0C82A96}"/>
              </a:ext>
            </a:extLst>
          </p:cNvPr>
          <p:cNvSpPr txBox="1"/>
          <p:nvPr/>
        </p:nvSpPr>
        <p:spPr>
          <a:xfrm>
            <a:off x="4415409" y="1374719"/>
            <a:ext cx="2086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Amin </a:t>
            </a:r>
            <a:r>
              <a:rPr lang="en-US" b="1" dirty="0" err="1"/>
              <a:t>Yousefpour</a:t>
            </a:r>
            <a:endParaRPr lang="en-US" b="1" dirty="0"/>
          </a:p>
          <a:p>
            <a:pPr algn="ctr"/>
            <a:r>
              <a:rPr lang="en-US" dirty="0"/>
              <a:t>PhD Student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53B98C-96C8-5246-3AD1-B3CC6102E17C}"/>
              </a:ext>
            </a:extLst>
          </p:cNvPr>
          <p:cNvSpPr txBox="1"/>
          <p:nvPr/>
        </p:nvSpPr>
        <p:spPr>
          <a:xfrm>
            <a:off x="7648968" y="1389954"/>
            <a:ext cx="2668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Tammer</a:t>
            </a:r>
            <a:r>
              <a:rPr lang="en-US" b="1" dirty="0"/>
              <a:t> </a:t>
            </a:r>
            <a:r>
              <a:rPr lang="en-US" b="1" dirty="0" err="1"/>
              <a:t>Eweis-Labolle</a:t>
            </a:r>
            <a:endParaRPr lang="en-US" b="1" dirty="0"/>
          </a:p>
          <a:p>
            <a:pPr algn="ctr"/>
            <a:r>
              <a:rPr lang="en-US" dirty="0"/>
              <a:t>PhD Student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B8ACEC-4176-E8A5-F055-897D75DB878B}"/>
              </a:ext>
            </a:extLst>
          </p:cNvPr>
          <p:cNvSpPr/>
          <p:nvPr/>
        </p:nvSpPr>
        <p:spPr>
          <a:xfrm>
            <a:off x="187934" y="629187"/>
            <a:ext cx="11693367" cy="658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effectLst/>
              </a:rPr>
              <a:t>Collaborators:</a:t>
            </a:r>
            <a:endParaRPr lang="en-US" sz="2800" b="1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02F490-9AD5-4C50-EBC0-D177C2C4D4C1}"/>
              </a:ext>
            </a:extLst>
          </p:cNvPr>
          <p:cNvSpPr/>
          <p:nvPr/>
        </p:nvSpPr>
        <p:spPr>
          <a:xfrm>
            <a:off x="187933" y="2167395"/>
            <a:ext cx="11693367" cy="658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effectLst/>
              </a:rPr>
              <a:t>Funding:</a:t>
            </a:r>
            <a:endParaRPr lang="en-US" sz="2800" b="1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836A8-2773-7D94-30A0-E313B3822E30}"/>
              </a:ext>
            </a:extLst>
          </p:cNvPr>
          <p:cNvSpPr txBox="1"/>
          <p:nvPr/>
        </p:nvSpPr>
        <p:spPr>
          <a:xfrm>
            <a:off x="1705205" y="2826227"/>
            <a:ext cx="3753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UC National Laboratory Fees Research Program of the University of California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819A0A-1549-2768-F8A2-79F5596F44F4}"/>
              </a:ext>
            </a:extLst>
          </p:cNvPr>
          <p:cNvSpPr txBox="1"/>
          <p:nvPr/>
        </p:nvSpPr>
        <p:spPr>
          <a:xfrm>
            <a:off x="5574828" y="2767258"/>
            <a:ext cx="6102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Early Career Faculty grant from NASA’s Space Technology Research Grants Program</a:t>
            </a:r>
          </a:p>
        </p:txBody>
      </p:sp>
      <p:pic>
        <p:nvPicPr>
          <p:cNvPr id="19" name="Picture 2" descr="NASA">
            <a:extLst>
              <a:ext uri="{FF2B5EF4-FFF2-40B4-BE49-F238E27FC236}">
                <a16:creationId xmlns:a16="http://schemas.microsoft.com/office/drawing/2014/main" id="{0F44304B-136A-4700-291D-03F94385B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717" y="3456572"/>
            <a:ext cx="2447104" cy="193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C2BCA4-BDAB-4C10-ED8E-F86DDAE97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179" y="4125950"/>
            <a:ext cx="2508379" cy="6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49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EDC6FC-30BB-3286-0F53-570DED3D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79C24-7A2D-95E2-8EB6-08B18A6887B8}"/>
              </a:ext>
            </a:extLst>
          </p:cNvPr>
          <p:cNvSpPr txBox="1"/>
          <p:nvPr/>
        </p:nvSpPr>
        <p:spPr>
          <a:xfrm>
            <a:off x="755374" y="2226365"/>
            <a:ext cx="102306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Appendix</a:t>
            </a:r>
            <a:endParaRPr lang="en-AE" sz="96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4309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3D600B-C07E-CDA5-EDB4-49FEAAE9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28185-27D4-A70E-AD02-4BE76309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Learnt manifolds: categorical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FB1337-7E1D-868E-0DDB-9340C30990BC}"/>
              </a:ext>
            </a:extLst>
          </p:cNvPr>
          <p:cNvSpPr txBox="1"/>
          <p:nvPr/>
        </p:nvSpPr>
        <p:spPr>
          <a:xfrm>
            <a:off x="92765" y="1259179"/>
            <a:ext cx="11337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LMGP maps these categorical variables to a lower-dimensional space.</a:t>
            </a:r>
            <a:endParaRPr lang="en-AE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BA84DD-C126-C3C3-AD1A-F7E7697870BA}"/>
              </a:ext>
            </a:extLst>
          </p:cNvPr>
          <p:cNvSpPr txBox="1"/>
          <p:nvPr/>
        </p:nvSpPr>
        <p:spPr>
          <a:xfrm>
            <a:off x="92765" y="704407"/>
            <a:ext cx="11267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M2AX has 3 categorical variables with 10,12, 2 distinct levels.</a:t>
            </a:r>
            <a:endParaRPr lang="en-AE" sz="28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015AB2C-0D3B-F9E8-68DD-98DCAB6DC865}"/>
              </a:ext>
            </a:extLst>
          </p:cNvPr>
          <p:cNvGrpSpPr/>
          <p:nvPr/>
        </p:nvGrpSpPr>
        <p:grpSpPr>
          <a:xfrm>
            <a:off x="1749288" y="1782399"/>
            <a:ext cx="9357396" cy="5075601"/>
            <a:chOff x="2398898" y="2402505"/>
            <a:chExt cx="9368777" cy="5181172"/>
          </a:xfrm>
        </p:grpSpPr>
        <p:pic>
          <p:nvPicPr>
            <p:cNvPr id="15" name="Picture 14" descr="A picture containing screenshot, diagram, colorfulness, text&#10;&#10;Description automatically generated">
              <a:extLst>
                <a:ext uri="{FF2B5EF4-FFF2-40B4-BE49-F238E27FC236}">
                  <a16:creationId xmlns:a16="http://schemas.microsoft.com/office/drawing/2014/main" id="{A9E7A528-4557-C47E-53B9-25A51B4D4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8898" y="2402505"/>
              <a:ext cx="9368777" cy="5181172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A032BFC-035A-BDAE-DCCD-DED21BE28427}"/>
                </a:ext>
              </a:extLst>
            </p:cNvPr>
            <p:cNvGrpSpPr/>
            <p:nvPr/>
          </p:nvGrpSpPr>
          <p:grpSpPr>
            <a:xfrm>
              <a:off x="2955507" y="2402505"/>
              <a:ext cx="8812168" cy="268065"/>
              <a:chOff x="1225826" y="848137"/>
              <a:chExt cx="10407996" cy="29155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558C37A-1857-2214-B3E3-1D8543700258}"/>
                  </a:ext>
                </a:extLst>
              </p:cNvPr>
              <p:cNvSpPr/>
              <p:nvPr/>
            </p:nvSpPr>
            <p:spPr>
              <a:xfrm>
                <a:off x="1225826" y="848139"/>
                <a:ext cx="3213652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Categorical Variable</a:t>
                </a:r>
                <a:endParaRPr lang="en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70A33F2-A6A4-85EB-0742-75BCB88A68C2}"/>
                  </a:ext>
                </a:extLst>
              </p:cNvPr>
              <p:cNvSpPr/>
              <p:nvPr/>
            </p:nvSpPr>
            <p:spPr>
              <a:xfrm>
                <a:off x="4791779" y="848137"/>
                <a:ext cx="3306451" cy="2915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Categorical Variable</a:t>
                </a:r>
                <a:endParaRPr lang="en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18E70E-C48F-4B40-6D8C-65D062E0875E}"/>
                  </a:ext>
                </a:extLst>
              </p:cNvPr>
              <p:cNvSpPr/>
              <p:nvPr/>
            </p:nvSpPr>
            <p:spPr>
              <a:xfrm>
                <a:off x="8420170" y="848137"/>
                <a:ext cx="3213652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Third Categorical Variable</a:t>
                </a:r>
                <a:endParaRPr lang="en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0079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3D600B-C07E-CDA5-EDB4-49FEAAE9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28185-27D4-A70E-AD02-4BE76309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Learnt manifolds: categorical variables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BA84DD-C126-C3C3-AD1A-F7E7697870BA}"/>
              </a:ext>
            </a:extLst>
          </p:cNvPr>
          <p:cNvSpPr txBox="1"/>
          <p:nvPr/>
        </p:nvSpPr>
        <p:spPr>
          <a:xfrm>
            <a:off x="92765" y="704407"/>
            <a:ext cx="11267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HOIP has 3 categorical variables with 10,3,16 distinct levels.</a:t>
            </a:r>
            <a:endParaRPr lang="en-AE" sz="2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5F33ED-6CA2-EB46-9399-16D5AFF9C419}"/>
              </a:ext>
            </a:extLst>
          </p:cNvPr>
          <p:cNvGrpSpPr/>
          <p:nvPr/>
        </p:nvGrpSpPr>
        <p:grpSpPr>
          <a:xfrm>
            <a:off x="954156" y="1347259"/>
            <a:ext cx="9886123" cy="5095875"/>
            <a:chOff x="1991649" y="2057614"/>
            <a:chExt cx="9368777" cy="5181172"/>
          </a:xfrm>
        </p:grpSpPr>
        <p:pic>
          <p:nvPicPr>
            <p:cNvPr id="5" name="Picture 4" descr="A picture containing diagram, colorfulness, screenshot, text&#10;&#10;Description automatically generated">
              <a:extLst>
                <a:ext uri="{FF2B5EF4-FFF2-40B4-BE49-F238E27FC236}">
                  <a16:creationId xmlns:a16="http://schemas.microsoft.com/office/drawing/2014/main" id="{33F9D393-4BED-6C2C-3E1F-4AA21E7D4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1649" y="2057614"/>
              <a:ext cx="9368777" cy="5181172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A032BFC-035A-BDAE-DCCD-DED21BE28427}"/>
                </a:ext>
              </a:extLst>
            </p:cNvPr>
            <p:cNvGrpSpPr/>
            <p:nvPr/>
          </p:nvGrpSpPr>
          <p:grpSpPr>
            <a:xfrm>
              <a:off x="2686185" y="2057616"/>
              <a:ext cx="8584454" cy="267840"/>
              <a:chOff x="1225826" y="848139"/>
              <a:chExt cx="10593978" cy="308103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558C37A-1857-2214-B3E3-1D8543700258}"/>
                  </a:ext>
                </a:extLst>
              </p:cNvPr>
              <p:cNvSpPr/>
              <p:nvPr/>
            </p:nvSpPr>
            <p:spPr>
              <a:xfrm>
                <a:off x="1225826" y="848139"/>
                <a:ext cx="3213652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Categorical Variable</a:t>
                </a:r>
                <a:endParaRPr lang="en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70A33F2-A6A4-85EB-0742-75BCB88A68C2}"/>
                  </a:ext>
                </a:extLst>
              </p:cNvPr>
              <p:cNvSpPr/>
              <p:nvPr/>
            </p:nvSpPr>
            <p:spPr>
              <a:xfrm>
                <a:off x="4903866" y="864692"/>
                <a:ext cx="3420931" cy="2915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Categorical Variable</a:t>
                </a:r>
                <a:endParaRPr lang="en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18E70E-C48F-4B40-6D8C-65D062E0875E}"/>
                  </a:ext>
                </a:extLst>
              </p:cNvPr>
              <p:cNvSpPr/>
              <p:nvPr/>
            </p:nvSpPr>
            <p:spPr>
              <a:xfrm>
                <a:off x="8606152" y="848139"/>
                <a:ext cx="3213652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Third Categorical Variable</a:t>
                </a:r>
                <a:endParaRPr lang="en-A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2941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C400A-F6C9-9E5B-5AAB-2354DFBD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3569-484B-4635-9B22-421E9FC1252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FC00C-ED3E-A661-0CBB-5A848C32D7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BO CONVERGENCE IN HOIP</a:t>
            </a:r>
          </a:p>
        </p:txBody>
      </p:sp>
      <p:pic>
        <p:nvPicPr>
          <p:cNvPr id="5" name="Picture 4" descr="A picture containing text, diagram, screenshot, plot&#10;&#10;Description automatically generated">
            <a:extLst>
              <a:ext uri="{FF2B5EF4-FFF2-40B4-BE49-F238E27FC236}">
                <a16:creationId xmlns:a16="http://schemas.microsoft.com/office/drawing/2014/main" id="{0FE41479-7133-7780-5C98-AF1CED3A6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329" y="1829521"/>
            <a:ext cx="5469671" cy="3807404"/>
          </a:xfrm>
          <a:prstGeom prst="rect">
            <a:avLst/>
          </a:prstGeom>
        </p:spPr>
      </p:pic>
      <p:pic>
        <p:nvPicPr>
          <p:cNvPr id="8" name="Picture 7" descr="A picture containing text, screenshot, diagram, plot&#10;&#10;Description automatically generated">
            <a:extLst>
              <a:ext uri="{FF2B5EF4-FFF2-40B4-BE49-F238E27FC236}">
                <a16:creationId xmlns:a16="http://schemas.microsoft.com/office/drawing/2014/main" id="{BF59D06C-5582-B251-9035-45CF59832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0879"/>
            <a:ext cx="6552054" cy="38074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90A5CC-6983-7711-80C7-09B753F01938}"/>
              </a:ext>
            </a:extLst>
          </p:cNvPr>
          <p:cNvSpPr txBox="1"/>
          <p:nvPr/>
        </p:nvSpPr>
        <p:spPr>
          <a:xfrm>
            <a:off x="2540000" y="6214456"/>
            <a:ext cx="965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2060"/>
                </a:solidFill>
              </a:rPr>
              <a:t>Zanjani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 err="1">
                <a:solidFill>
                  <a:srgbClr val="002060"/>
                </a:solidFill>
              </a:rPr>
              <a:t>Foumani</a:t>
            </a:r>
            <a:r>
              <a:rPr lang="en-US" sz="1400" dirty="0">
                <a:solidFill>
                  <a:srgbClr val="002060"/>
                </a:solidFill>
              </a:rPr>
              <a:t>, Z., et al., Multi-fidelity cost-aware Bayesian optimization. Computer Methods in Applied Mechanics and Engineering, 2023. 407: p. 115937</a:t>
            </a:r>
            <a:endParaRPr lang="en-CA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1A976-E425-D587-0695-07DE6B997FDE}"/>
              </a:ext>
            </a:extLst>
          </p:cNvPr>
          <p:cNvSpPr txBox="1"/>
          <p:nvPr/>
        </p:nvSpPr>
        <p:spPr>
          <a:xfrm>
            <a:off x="158436" y="728770"/>
            <a:ext cx="113987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Lower cost (fewer iterations) is not always good!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Convergence to a suboptimal compound stops BO earlier.</a:t>
            </a:r>
            <a:endParaRPr lang="en-AE" sz="2800" dirty="0"/>
          </a:p>
        </p:txBody>
      </p:sp>
    </p:spTree>
    <p:extLst>
      <p:ext uri="{BB962C8B-B14F-4D97-AF65-F5344CB8AC3E}">
        <p14:creationId xmlns:p14="http://schemas.microsoft.com/office/powerpoint/2010/main" val="260288661"/>
      </p:ext>
    </p:extLst>
  </p:cSld>
  <p:clrMapOvr>
    <a:masterClrMapping/>
  </p:clrMapOvr>
</p:sld>
</file>

<file path=ppt/theme/theme1.xml><?xml version="1.0" encoding="utf-8"?>
<a:theme xmlns:a="http://schemas.openxmlformats.org/drawingml/2006/main" name="UCI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Fon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089821E7FFA409886B3AD0234035C" ma:contentTypeVersion="29" ma:contentTypeDescription="Create a new document." ma:contentTypeScope="" ma:versionID="13bae29414afa2e23293c9ff0a75cff5">
  <xsd:schema xmlns:xsd="http://www.w3.org/2001/XMLSchema" xmlns:xs="http://www.w3.org/2001/XMLSchema" xmlns:p="http://schemas.microsoft.com/office/2006/metadata/properties" xmlns:ns1="http://schemas.microsoft.com/sharepoint/v3" xmlns:ns2="ebcd411e-39d2-437c-921d-5ffc9b96e570" xmlns:ns3="d01ac7e3-0127-46ca-87d1-141033fc51e3" xmlns:ns4="230e9df3-be65-4c73-a93b-d1236ebd677e" targetNamespace="http://schemas.microsoft.com/office/2006/metadata/properties" ma:root="true" ma:fieldsID="c8a41d0551d1dfd2c024d8ab368c767b" ns1:_="" ns2:_="" ns3:_="" ns4:_="">
    <xsd:import namespace="http://schemas.microsoft.com/sharepoint/v3"/>
    <xsd:import namespace="ebcd411e-39d2-437c-921d-5ffc9b96e570"/>
    <xsd:import namespace="d01ac7e3-0127-46ca-87d1-141033fc51e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OneNoteFluid_FileOrder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Comments" minOccurs="0"/>
                <xsd:element ref="ns2:MediaServiceBillingMetadata" minOccurs="0"/>
                <xsd:element ref="ns2:CustomColumn" minOccurs="0"/>
                <xsd:element ref="ns2:mbc8818d814f45ef9cc9d5bfc7ae98b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d411e-39d2-437c-921d-5ffc9b96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Status" ma:index="21" nillable="true" ma:displayName="Status" ma:default="One Pager" ma:format="Dropdown" ma:internalName="Status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neNoteFluid_FileOrder" ma:index="26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8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0" nillable="true" ma:displayName="MediaServiceSystemTags" ma:hidden="true" ma:internalName="MediaServiceSystemTags" ma:readOnly="true">
      <xsd:simpleType>
        <xsd:restriction base="dms:Note"/>
      </xsd:simpleType>
    </xsd:element>
    <xsd:element name="Comments" ma:index="3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  <xsd:element name="CustomColumn" ma:index="33" nillable="true" ma:displayName="CustomColumn" ma:format="Dropdown" ma:indexed="true" ma:internalName="CustomColumn">
      <xsd:simpleType>
        <xsd:restriction base="dms:Text">
          <xsd:maxLength value="255"/>
        </xsd:restriction>
      </xsd:simpleType>
    </xsd:element>
    <xsd:element name="mbc8818d814f45ef9cc9d5bfc7ae98b4" ma:index="35" nillable="true" ma:taxonomy="true" ma:internalName="mbc8818d814f45ef9cc9d5bfc7ae98b4" ma:taxonomyFieldName="categorize" ma:displayName="categorize" ma:default="" ma:fieldId="{6bc8818d-814f-45ef-9cc9-d5bfc7ae98b4}" ma:taxonomyMulti="true" ma:sspId="e385fb40-52d4-4fae-9c5b-3e8ff8a5878e" ma:termSetId="180ed1bd-d8ff-49f1-a51c-decde4118c4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ac7e3-0127-46ca-87d1-141033fc5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cdfba08c-59f0-4ee1-ab25-f66a7261e9a8}" ma:internalName="TaxCatchAll" ma:showField="CatchAllData" ma:web="d01ac7e3-0127-46ca-87d1-141033fc5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bc8818d814f45ef9cc9d5bfc7ae98b4 xmlns="ebcd411e-39d2-437c-921d-5ffc9b96e570">
      <Terms xmlns="http://schemas.microsoft.com/office/infopath/2007/PartnerControls"/>
    </mbc8818d814f45ef9cc9d5bfc7ae98b4>
    <_ip_UnifiedCompliancePolicyProperties xmlns="http://schemas.microsoft.com/sharepoint/v3" xsi:nil="true"/>
    <Comments xmlns="ebcd411e-39d2-437c-921d-5ffc9b96e570" xsi:nil="true"/>
    <Status xmlns="ebcd411e-39d2-437c-921d-5ffc9b96e570">One Pager</Status>
    <OneNoteFluid_FileOrder xmlns="ebcd411e-39d2-437c-921d-5ffc9b96e570" xsi:nil="true"/>
    <CustomColumn xmlns="ebcd411e-39d2-437c-921d-5ffc9b96e570" xsi:nil="true"/>
    <TaxCatchAll xmlns="230e9df3-be65-4c73-a93b-d1236ebd677e" xsi:nil="true"/>
    <lcf76f155ced4ddcb4097134ff3c332f xmlns="ebcd411e-39d2-437c-921d-5ffc9b96e5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4ACFEFD-D774-4CD9-B165-716D57D0C6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cd411e-39d2-437c-921d-5ffc9b96e570"/>
    <ds:schemaRef ds:uri="d01ac7e3-0127-46ca-87d1-141033fc51e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240BC6-B5D0-49F0-9BC4-07F616238D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CA6477-BE44-4BF7-BACB-5750D5B3062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bcd411e-39d2-437c-921d-5ffc9b96e570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11334</TotalTime>
  <Words>1992</Words>
  <Application>Microsoft Office PowerPoint</Application>
  <PresentationFormat>Widescreen</PresentationFormat>
  <Paragraphs>287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 (body)</vt:lpstr>
      <vt:lpstr>SimSun</vt:lpstr>
      <vt:lpstr>Arial</vt:lpstr>
      <vt:lpstr>Calibri</vt:lpstr>
      <vt:lpstr>Cambria Math</vt:lpstr>
      <vt:lpstr>Times New Roman</vt:lpstr>
      <vt:lpstr>Wingdings</vt:lpstr>
      <vt:lpstr>UCI 1</vt:lpstr>
      <vt:lpstr>PowerPoint Presentation</vt:lpstr>
      <vt:lpstr>PowerPoint Presentation</vt:lpstr>
      <vt:lpstr>PowerPoint Presentation</vt:lpstr>
      <vt:lpstr>PowerPoint Presentation</vt:lpstr>
      <vt:lpstr>How Multi-fidelity BO (MFBO) works?  (with categorical data)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Will Multi-fidelity BO always outperform Single-fidelity BO?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Ramin Bostanabad</dc:creator>
  <cp:lastModifiedBy>Nathan Imse</cp:lastModifiedBy>
  <cp:revision>468</cp:revision>
  <dcterms:created xsi:type="dcterms:W3CDTF">2019-07-08T21:27:34Z</dcterms:created>
  <dcterms:modified xsi:type="dcterms:W3CDTF">2025-11-26T22:54:04Z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0x01010061E089821E7FFA409886B3AD0234035C</vt:lpwstr>
  </property>
  <property fmtid="{D5CDD505-2E9C-101B-9397-08002B2CF9AE}" pid="3" name="MediaServiceImageTags">
    <vt:lpwstr/>
  </property>
  <property fmtid="{D5CDD505-2E9C-101B-9397-08002B2CF9AE}" pid="4" name="categorize">
    <vt:lpwstr/>
  </property>
</Properties>
</file>