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3" r:id="rId5"/>
    <p:sldMasterId id="2147483685" r:id="rId6"/>
    <p:sldMasterId id="2147483769" r:id="rId7"/>
  </p:sldMasterIdLst>
  <p:notesMasterIdLst>
    <p:notesMasterId r:id="rId27"/>
  </p:notesMasterIdLst>
  <p:handoutMasterIdLst>
    <p:handoutMasterId r:id="rId28"/>
  </p:handoutMasterIdLst>
  <p:sldIdLst>
    <p:sldId id="498" r:id="rId8"/>
    <p:sldId id="553" r:id="rId9"/>
    <p:sldId id="563" r:id="rId10"/>
    <p:sldId id="565" r:id="rId11"/>
    <p:sldId id="558" r:id="rId12"/>
    <p:sldId id="508" r:id="rId13"/>
    <p:sldId id="564" r:id="rId14"/>
    <p:sldId id="509" r:id="rId15"/>
    <p:sldId id="559" r:id="rId16"/>
    <p:sldId id="510" r:id="rId17"/>
    <p:sldId id="549" r:id="rId18"/>
    <p:sldId id="545" r:id="rId19"/>
    <p:sldId id="546" r:id="rId20"/>
    <p:sldId id="528" r:id="rId21"/>
    <p:sldId id="530" r:id="rId22"/>
    <p:sldId id="532" r:id="rId23"/>
    <p:sldId id="535" r:id="rId24"/>
    <p:sldId id="547" r:id="rId25"/>
    <p:sldId id="561" r:id="rId26"/>
  </p:sldIdLst>
  <p:sldSz cx="9144000" cy="6858000" type="screen4x3"/>
  <p:notesSz cx="6797675" cy="98726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ronica Steyn" initials="VS" lastIdx="1" clrIdx="0">
    <p:extLst>
      <p:ext uri="{19B8F6BF-5375-455C-9EA6-DF929625EA0E}">
        <p15:presenceInfo xmlns:p15="http://schemas.microsoft.com/office/powerpoint/2012/main" userId="S-1-5-21-1701054266-2065958804-2444399980-23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97" autoAdjust="0"/>
    <p:restoredTop sz="94684" autoAdjust="0"/>
  </p:normalViewPr>
  <p:slideViewPr>
    <p:cSldViewPr>
      <p:cViewPr varScale="1">
        <p:scale>
          <a:sx n="96" d="100"/>
          <a:sy n="96" d="100"/>
        </p:scale>
        <p:origin x="184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3-09T14:30:17.087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0" y="2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72" y="2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0FD9FE1-F1B3-4B4C-A0B8-05D56250A6E5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0" y="9377019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72" y="9377019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9ECE410-486A-48F0-ACC9-0C8A03B799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22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0" y="2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72" y="2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DA698C3-1C57-4DA8-8170-0BDFF6E97F21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385" y="4690205"/>
            <a:ext cx="5436908" cy="444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0" y="9377019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72" y="9377019"/>
            <a:ext cx="2946275" cy="4939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4A04B37-CE8C-4B09-8BFE-895D77A3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08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ZA" sz="1100" b="1" u="sng" kern="0" dirty="0">
                <a:solidFill>
                  <a:srgbClr val="000000"/>
                </a:solidFill>
                <a:latin typeface="Arial"/>
              </a:rPr>
              <a:t>Notes</a:t>
            </a:r>
          </a:p>
          <a:p>
            <a:pPr>
              <a:defRPr/>
            </a:pPr>
            <a:endParaRPr lang="en-ZA" sz="1100" b="1" u="sng" kern="0" dirty="0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r>
              <a:rPr lang="en-ZA" altLang="en-US" dirty="0"/>
              <a:t>An emerging trend of an annual deficit is now being observed in all the entities. It was also observed that the surpluses of SAWS year on year has decreased significantly.</a:t>
            </a:r>
            <a:endParaRPr lang="en-ZA"/>
          </a:p>
          <a:p>
            <a:pPr>
              <a:defRPr/>
            </a:pPr>
            <a:endParaRPr lang="en-ZA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575E649-71BC-4EAD-9C30-CF918332FB35}" type="slidenum">
              <a:rPr lang="en-ZA" altLang="en-US" smtClean="0">
                <a:solidFill>
                  <a:prstClr val="black"/>
                </a:solidFill>
              </a:rPr>
              <a:pPr eaLnBrk="1" hangingPunct="1"/>
              <a:t>9</a:t>
            </a:fld>
            <a:endParaRPr lang="en-ZA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068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6C77E-C892-474C-8C82-03F5CCB4BD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5537B-6BDB-4259-858A-0F217E487E1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9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7D00-E682-450F-B4CC-F5B2DE8014F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67DE-CDE8-4D5F-A722-DD21C659923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07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C8D28-259E-497D-92BD-FA466C3846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3BAE-7FD0-4A88-BFDA-16BFF4DB57B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18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56E38-97E1-4F1D-90F6-3314DF73055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9B506-393A-446E-B1E4-783B912C444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73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AB994-68C4-4BCF-9307-D19D2A4693B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47C19-58E5-4B49-A5D6-55CB6A87DE7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50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11044-7571-4795-BEF4-E83BC205E54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C34CE-5F72-4F80-9483-BD277CB7597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29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6E85E-1146-41CA-BED0-7FF25EA133D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E258B-3BB1-47F2-8115-F97443A57D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67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DDDD4-5242-4440-B5A6-F577114F2AB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00999-1ECD-4A8D-AF69-BEAD7DA01A6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652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05088-2210-4800-8016-87D6B5BFA1C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7887F-3179-43CF-A11C-BCE3554FE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88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6789A-00C1-4BE0-95AA-A1592218C27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69BF6-4A25-4E09-9594-29F09DA53E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9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EF1F4-1E0C-4628-91C1-D569CAD1724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1976D-EC4E-4D8A-898C-64DFBDB2AF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7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6C77E-C892-474C-8C82-03F5CCB4BD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5537B-6BDB-4259-858A-0F217E487E1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5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7D00-E682-450F-B4CC-F5B2DE8014F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67DE-CDE8-4D5F-A722-DD21C659923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710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C8D28-259E-497D-92BD-FA466C3846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3BAE-7FD0-4A88-BFDA-16BFF4DB57B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67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56E38-97E1-4F1D-90F6-3314DF73055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9B506-393A-446E-B1E4-783B912C444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255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AB994-68C4-4BCF-9307-D19D2A4693B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47C19-58E5-4B49-A5D6-55CB6A87DE7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008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11044-7571-4795-BEF4-E83BC205E54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C34CE-5F72-4F80-9483-BD277CB7597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93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6E85E-1146-41CA-BED0-7FF25EA133D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E258B-3BB1-47F2-8115-F97443A57D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3003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DDDD4-5242-4440-B5A6-F577114F2AB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00999-1ECD-4A8D-AF69-BEAD7DA01A6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571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05088-2210-4800-8016-87D6B5BFA1C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7887F-3179-43CF-A11C-BCE3554FE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4128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6789A-00C1-4BE0-95AA-A1592218C27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69BF6-4A25-4E09-9594-29F09DA53E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667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EF1F4-1E0C-4628-91C1-D569CAD1724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1976D-EC4E-4D8A-898C-64DFBDB2AF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705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6C77E-C892-474C-8C82-03F5CCB4BD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5537B-6BDB-4259-858A-0F217E487E1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8326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7D00-E682-450F-B4CC-F5B2DE8014F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67DE-CDE8-4D5F-A722-DD21C659923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2156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C8D28-259E-497D-92BD-FA466C3846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3BAE-7FD0-4A88-BFDA-16BFF4DB57B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2628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56E38-97E1-4F1D-90F6-3314DF73055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9B506-393A-446E-B1E4-783B912C444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464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AB994-68C4-4BCF-9307-D19D2A4693B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47C19-58E5-4B49-A5D6-55CB6A87DE7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5112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11044-7571-4795-BEF4-E83BC205E54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C34CE-5F72-4F80-9483-BD277CB7597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9739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6E85E-1146-41CA-BED0-7FF25EA133D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E258B-3BB1-47F2-8115-F97443A57D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6191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DDDD4-5242-4440-B5A6-F577114F2AB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00999-1ECD-4A8D-AF69-BEAD7DA01A6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147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05088-2210-4800-8016-87D6B5BFA1C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7887F-3179-43CF-A11C-BCE3554FE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302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6789A-00C1-4BE0-95AA-A1592218C27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69BF6-4A25-4E09-9594-29F09DA53E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872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EF1F4-1E0C-4628-91C1-D569CAD1724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1976D-EC4E-4D8A-898C-64DFBDB2AF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6346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836F2-96E7-45EF-8D1B-8E0E582646DF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13FDF-35A9-45CA-80E5-4C16B1701A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384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3D710-D8E5-4B19-A596-E48482128D53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BAD10-492E-4C1E-A9E4-584F11F0ABE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5788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FCAA-3B10-455A-A9E4-1BA29BD7A19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39AF4-7EB5-469B-9052-1D257BD4C32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4230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35C81-5349-4196-B99E-7B0E6CF4641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852CF-BC36-4B3D-B5A3-FD29EE23A62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5546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0AAE5-AD2A-48BA-87A2-C8EFD4BA0998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94ABA-A639-4FCF-96D3-C73890197C0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8965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0CCE9-62F4-4D83-AFA2-169AA125AE7A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88707-9BC6-4F80-A87E-D9EF8D38D23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3375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D7C95-5462-4765-9E56-FDF274463E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57947-41CD-4846-A804-549A763A29C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9382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3AE64-FFF4-41E9-8E1F-A95B94B7999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1843B-E8B9-4DB5-93ED-DACA04F64A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3980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550C0-7841-4D45-A0C8-0458368095AD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C6836-7DC2-4C2E-94E8-331536DC4A4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7182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4E7AA-A896-4B8E-AAA3-3404EBEF24E9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5E10-A4E0-4B2D-A768-4E45FE0A628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9442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2AE0B-7843-433C-A0A5-D90A195C923B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426C7-6027-4F84-BC79-AD3E29DF60C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5440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7DF9F-9F4B-4290-9D1A-DBD86B8B3D2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68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fld id="{AE51AA5B-EEB1-4D70-8594-90A8054C634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fld id="{341A7672-2FA2-4D51-A9C7-93CA7B330A7F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64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fld id="{AE51AA5B-EEB1-4D70-8594-90A8054C634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fld id="{341A7672-2FA2-4D51-A9C7-93CA7B330A7F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03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fld id="{AE51AA5B-EEB1-4D70-8594-90A8054C634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defTabSz="457200">
              <a:defRPr/>
            </a:pPr>
            <a:fld id="{341A7672-2FA2-4D51-A9C7-93CA7B330A7F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58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131F5DF-2F91-43A7-9842-4DECBAD86C24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577E7B0-0ABF-430F-A27F-3EAB35923F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45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027113"/>
            <a:ext cx="7772400" cy="1076325"/>
          </a:xfrm>
        </p:spPr>
        <p:txBody>
          <a:bodyPr/>
          <a:lstStyle/>
          <a:p>
            <a:pPr eaLnBrk="1" hangingPunct="1"/>
            <a:br>
              <a:rPr lang="en-US" b="1" dirty="0"/>
            </a:br>
            <a:r>
              <a:rPr lang="en-US" b="1" dirty="0"/>
              <a:t>MTEF ALLOCATIONS</a:t>
            </a:r>
            <a:br>
              <a:rPr lang="en-US" b="1" dirty="0"/>
            </a:br>
            <a:endParaRPr lang="en-US" altLang="en-US" dirty="0"/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>
          <a:xfrm>
            <a:off x="1371600" y="1772816"/>
            <a:ext cx="6400800" cy="1533947"/>
          </a:xfrm>
        </p:spPr>
        <p:txBody>
          <a:bodyPr/>
          <a:lstStyle/>
          <a:p>
            <a:pPr eaLnBrk="1" hangingPunct="1"/>
            <a:endParaRPr lang="en-US" b="1" dirty="0">
              <a:solidFill>
                <a:schemeClr val="tx1"/>
              </a:solidFill>
            </a:endParaRPr>
          </a:p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2017/18 - 2018/19 - 2019/20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2052" name="TextBox 8"/>
          <p:cNvSpPr txBox="1">
            <a:spLocks noChangeArrowheads="1"/>
          </p:cNvSpPr>
          <p:nvPr/>
        </p:nvSpPr>
        <p:spPr bwMode="auto">
          <a:xfrm>
            <a:off x="3203848" y="5011738"/>
            <a:ext cx="367240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cs typeface="Arial" charset="0"/>
              </a:rPr>
              <a:t>Financial Management Services</a:t>
            </a: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prstClr val="black"/>
              </a:solidFill>
              <a:cs typeface="Arial" charset="0"/>
            </a:endParaRP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prstClr val="black"/>
              </a:solidFill>
              <a:cs typeface="Arial" charset="0"/>
            </a:endParaRP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 err="1">
                <a:solidFill>
                  <a:prstClr val="black"/>
                </a:solidFill>
                <a:cs typeface="Arial" charset="0"/>
              </a:rPr>
              <a:t>Nosipho</a:t>
            </a:r>
            <a:r>
              <a:rPr lang="en-US" altLang="en-US" sz="12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altLang="en-US" sz="1200" dirty="0" err="1">
                <a:solidFill>
                  <a:prstClr val="black"/>
                </a:solidFill>
                <a:cs typeface="Arial" charset="0"/>
              </a:rPr>
              <a:t>Ngcaba</a:t>
            </a:r>
            <a:endParaRPr lang="en-US" altLang="en-US" sz="1200" dirty="0">
              <a:solidFill>
                <a:prstClr val="black"/>
              </a:solidFill>
              <a:cs typeface="Arial" charset="0"/>
            </a:endParaRP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prstClr val="black"/>
                </a:solidFill>
                <a:cs typeface="Arial" charset="0"/>
              </a:rPr>
              <a:t>Director-General</a:t>
            </a: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prstClr val="black"/>
                </a:solidFill>
                <a:cs typeface="Arial" charset="0"/>
              </a:rPr>
              <a:t>Portfolio Committee Briefing</a:t>
            </a: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prstClr val="black"/>
                </a:solidFill>
                <a:cs typeface="Arial" charset="0"/>
              </a:rPr>
              <a:t>02 May 2017</a:t>
            </a:r>
          </a:p>
          <a:p>
            <a:pPr defTabSz="457200" eaLnBrk="1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35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350"/>
            <a:ext cx="8640960" cy="706438"/>
          </a:xfrm>
          <a:solidFill>
            <a:schemeClr val="accent3"/>
          </a:solidFill>
        </p:spPr>
        <p:txBody>
          <a:bodyPr/>
          <a:lstStyle/>
          <a:p>
            <a:pPr>
              <a:defRPr/>
            </a:pPr>
            <a:r>
              <a:rPr lang="en-ZA" sz="2800" b="1" dirty="0"/>
              <a:t>MTEF Allocations Per Programme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endParaRPr lang="en-ZA" altLang="en-US" sz="2800" dirty="0"/>
          </a:p>
          <a:p>
            <a:pPr>
              <a:defRPr/>
            </a:pPr>
            <a:endParaRPr lang="en-ZA" altLang="en-US" sz="2800" dirty="0"/>
          </a:p>
          <a:p>
            <a:pPr marL="0" indent="0">
              <a:buFont typeface="Arial" charset="0"/>
              <a:buNone/>
              <a:defRPr/>
            </a:pPr>
            <a:endParaRPr lang="en-ZA" altLang="en-US" dirty="0"/>
          </a:p>
          <a:p>
            <a:pPr marL="0" indent="0">
              <a:buFont typeface="Arial" charset="0"/>
              <a:buNone/>
              <a:defRPr/>
            </a:pPr>
            <a:r>
              <a:rPr lang="en-ZA" altLang="en-US"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10EBF-D2CD-448E-82D4-5F9CCA63C62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566335"/>
              </p:ext>
            </p:extLst>
          </p:nvPr>
        </p:nvGraphicFramePr>
        <p:xfrm>
          <a:off x="179512" y="1196752"/>
          <a:ext cx="8640960" cy="51053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4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7734"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Per Programme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2017/2018</a:t>
                      </a:r>
                    </a:p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2018/2019</a:t>
                      </a:r>
                    </a:p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2019/2020</a:t>
                      </a:r>
                    </a:p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ZA" sz="1800" dirty="0"/>
                        <a:t>Administration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863 045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923 986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1 004 988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2. Legal,</a:t>
                      </a:r>
                      <a:r>
                        <a:rPr lang="en-ZA" sz="1800" baseline="0" dirty="0"/>
                        <a:t> Authorisations and Compliance</a:t>
                      </a:r>
                      <a:endParaRPr lang="en-ZA" sz="180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179 780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189 324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203 471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3. Oceans and Coasts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468 455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491 995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508 054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4. Climate Change and</a:t>
                      </a:r>
                      <a:r>
                        <a:rPr lang="en-ZA" sz="1800" baseline="0" dirty="0"/>
                        <a:t> Air Quality</a:t>
                      </a:r>
                      <a:endParaRPr lang="en-ZA" sz="180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294 872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300 558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311 876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5. Biodiversity and Conservation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696 518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aseline="0" dirty="0"/>
                        <a:t>726 107</a:t>
                      </a:r>
                      <a:endParaRPr lang="en-ZA" sz="180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761 232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6. Environmental Programmes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3 895</a:t>
                      </a:r>
                      <a:r>
                        <a:rPr lang="en-ZA" sz="1800" baseline="0" dirty="0"/>
                        <a:t> 209</a:t>
                      </a:r>
                      <a:endParaRPr lang="en-ZA" sz="180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aseline="0" dirty="0"/>
                        <a:t>3 879 020</a:t>
                      </a:r>
                      <a:endParaRPr lang="en-ZA" sz="180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4 002 847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7. Chemicals and Waste Management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450 335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550 236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585 557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b="1" dirty="0"/>
                        <a:t>Total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6</a:t>
                      </a:r>
                      <a:r>
                        <a:rPr lang="en-ZA" sz="1800" b="1" baseline="0" dirty="0"/>
                        <a:t> 848 214</a:t>
                      </a:r>
                      <a:endParaRPr lang="en-ZA" sz="18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7 061 226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7 378 025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49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350"/>
            <a:ext cx="8784976" cy="706438"/>
          </a:xfrm>
          <a:solidFill>
            <a:schemeClr val="accent3"/>
          </a:solidFill>
        </p:spPr>
        <p:txBody>
          <a:bodyPr/>
          <a:lstStyle/>
          <a:p>
            <a:pPr>
              <a:defRPr/>
            </a:pPr>
            <a:r>
              <a:rPr lang="en-ZA" sz="2800" b="1" dirty="0"/>
              <a:t>MTEF Allocations Per Economical Classification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endParaRPr lang="en-ZA" altLang="en-US" sz="2800" dirty="0"/>
          </a:p>
          <a:p>
            <a:pPr>
              <a:defRPr/>
            </a:pPr>
            <a:endParaRPr lang="en-ZA" altLang="en-US" sz="2800" dirty="0"/>
          </a:p>
          <a:p>
            <a:pPr marL="0" indent="0">
              <a:buFont typeface="Arial" charset="0"/>
              <a:buNone/>
              <a:defRPr/>
            </a:pPr>
            <a:endParaRPr lang="en-ZA" altLang="en-US" dirty="0"/>
          </a:p>
          <a:p>
            <a:pPr marL="0" indent="0">
              <a:buFont typeface="Arial" charset="0"/>
              <a:buNone/>
              <a:defRPr/>
            </a:pPr>
            <a:r>
              <a:rPr lang="en-ZA" altLang="en-US"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10EBF-D2CD-448E-82D4-5F9CCA63C62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998578"/>
              </p:ext>
            </p:extLst>
          </p:nvPr>
        </p:nvGraphicFramePr>
        <p:xfrm>
          <a:off x="179512" y="1196752"/>
          <a:ext cx="8784977" cy="52255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43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7734"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Per Economical Classification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2017/2018</a:t>
                      </a:r>
                    </a:p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2018/2019</a:t>
                      </a:r>
                    </a:p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2019/2020</a:t>
                      </a:r>
                    </a:p>
                    <a:p>
                      <a:pPr algn="ctr"/>
                      <a:r>
                        <a:rPr lang="en-ZA" sz="20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ZA" sz="1800" b="1" dirty="0"/>
                        <a:t>Total Current Payments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2 193 809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2 273 519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2 417 114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Compensation of Employees</a:t>
                      </a:r>
                    </a:p>
                    <a:p>
                      <a:r>
                        <a:rPr lang="en-ZA" sz="1800" dirty="0"/>
                        <a:t>Goods and Services </a:t>
                      </a:r>
                      <a:r>
                        <a:rPr lang="en-ZA" sz="1000" b="1" dirty="0"/>
                        <a:t>(1)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1 035 073</a:t>
                      </a:r>
                    </a:p>
                    <a:p>
                      <a:pPr algn="r"/>
                      <a:r>
                        <a:rPr lang="en-ZA" sz="1800" dirty="0"/>
                        <a:t>1 158 736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1 078 615</a:t>
                      </a:r>
                    </a:p>
                    <a:p>
                      <a:pPr algn="r"/>
                      <a:r>
                        <a:rPr lang="en-ZA" sz="1800" dirty="0"/>
                        <a:t>1 194 904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1 160 842</a:t>
                      </a:r>
                    </a:p>
                    <a:p>
                      <a:pPr algn="r"/>
                      <a:r>
                        <a:rPr lang="en-ZA" sz="1800" dirty="0"/>
                        <a:t>1 256 272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98">
                <a:tc>
                  <a:txBody>
                    <a:bodyPr/>
                    <a:lstStyle/>
                    <a:p>
                      <a:r>
                        <a:rPr lang="en-ZA" sz="1800" b="1" dirty="0"/>
                        <a:t>Total</a:t>
                      </a:r>
                      <a:r>
                        <a:rPr lang="en-ZA" sz="1800" b="1" baseline="0" dirty="0"/>
                        <a:t> Transfer Payments</a:t>
                      </a:r>
                      <a:endParaRPr lang="en-ZA" sz="18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4 488 896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4 609 360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4 770 024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aseline="0" dirty="0"/>
                        <a:t>Expanded Public Works Projects</a:t>
                      </a:r>
                      <a:r>
                        <a:rPr lang="en-ZA" sz="1000" baseline="0" dirty="0"/>
                        <a:t> </a:t>
                      </a:r>
                      <a:r>
                        <a:rPr lang="en-ZA" sz="1000" b="1" baseline="0" dirty="0"/>
                        <a:t>(2)</a:t>
                      </a:r>
                      <a:endParaRPr lang="en-ZA" sz="1000" b="1" dirty="0"/>
                    </a:p>
                    <a:p>
                      <a:r>
                        <a:rPr lang="en-ZA" sz="1800" dirty="0"/>
                        <a:t>Departmental</a:t>
                      </a:r>
                      <a:r>
                        <a:rPr lang="en-ZA" sz="1800" baseline="0" dirty="0"/>
                        <a:t> Agencies and Accounts </a:t>
                      </a:r>
                      <a:r>
                        <a:rPr lang="en-ZA" sz="1000" b="1" baseline="0" dirty="0"/>
                        <a:t>(3)</a:t>
                      </a:r>
                    </a:p>
                    <a:p>
                      <a:r>
                        <a:rPr lang="en-ZA" sz="1800" baseline="0" dirty="0"/>
                        <a:t>Foreign Governments and International (GEF)</a:t>
                      </a:r>
                    </a:p>
                    <a:p>
                      <a:r>
                        <a:rPr lang="en-ZA" sz="1800" baseline="0" dirty="0"/>
                        <a:t>Green Fund Allocation</a:t>
                      </a:r>
                    </a:p>
                    <a:p>
                      <a:r>
                        <a:rPr lang="en-ZA" sz="1800" baseline="0" dirty="0"/>
                        <a:t>Non-Profit Institutions </a:t>
                      </a:r>
                      <a:r>
                        <a:rPr lang="en-ZA" sz="1000" b="1" baseline="0" dirty="0"/>
                        <a:t>(4)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dirty="0"/>
                        <a:t>3 157 437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dirty="0"/>
                        <a:t>1 194</a:t>
                      </a:r>
                      <a:r>
                        <a:rPr lang="en-ZA" sz="1800" baseline="0" dirty="0"/>
                        <a:t> 037</a:t>
                      </a:r>
                      <a:endParaRPr lang="en-ZA" sz="1800" dirty="0"/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dirty="0"/>
                        <a:t>16 000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dirty="0"/>
                        <a:t>110 455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dirty="0"/>
                        <a:t>10 967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3 343 972</a:t>
                      </a:r>
                    </a:p>
                    <a:p>
                      <a:pPr algn="r"/>
                      <a:r>
                        <a:rPr lang="en-ZA" sz="1800" dirty="0"/>
                        <a:t>1 142 045</a:t>
                      </a:r>
                    </a:p>
                    <a:p>
                      <a:pPr algn="r"/>
                      <a:r>
                        <a:rPr lang="en-ZA" sz="1800" dirty="0"/>
                        <a:t>16 928</a:t>
                      </a:r>
                    </a:p>
                    <a:p>
                      <a:pPr algn="r"/>
                      <a:r>
                        <a:rPr lang="en-ZA" sz="1800" dirty="0"/>
                        <a:t>95 000</a:t>
                      </a:r>
                    </a:p>
                    <a:p>
                      <a:pPr algn="r"/>
                      <a:r>
                        <a:rPr lang="en-ZA" sz="1800" dirty="0"/>
                        <a:t>11 415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aseline="0" dirty="0"/>
                        <a:t>3 596 045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aseline="0" dirty="0"/>
                        <a:t>1 144 177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aseline="0" dirty="0"/>
                        <a:t>17 876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aseline="0" dirty="0"/>
                        <a:t>0</a:t>
                      </a:r>
                    </a:p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aseline="0" dirty="0"/>
                        <a:t>11 926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746">
                <a:tc>
                  <a:txBody>
                    <a:bodyPr/>
                    <a:lstStyle/>
                    <a:p>
                      <a:r>
                        <a:rPr lang="en-ZA" sz="1800" b="1" dirty="0"/>
                        <a:t>Total</a:t>
                      </a:r>
                      <a:r>
                        <a:rPr lang="en-ZA" sz="1800" b="1" baseline="0" dirty="0"/>
                        <a:t> Payments for Capital Assets</a:t>
                      </a:r>
                      <a:endParaRPr lang="en-ZA" sz="18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165 509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178 347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190 887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dirty="0"/>
                        <a:t>Unitary</a:t>
                      </a:r>
                      <a:r>
                        <a:rPr lang="en-ZA" sz="1800" baseline="0" dirty="0"/>
                        <a:t> Payments: Environment House (</a:t>
                      </a:r>
                      <a:r>
                        <a:rPr lang="en-ZA" sz="1800" baseline="0" dirty="0" err="1"/>
                        <a:t>Pta</a:t>
                      </a:r>
                      <a:r>
                        <a:rPr lang="en-ZA" sz="1800" baseline="0" dirty="0"/>
                        <a:t>)</a:t>
                      </a:r>
                    </a:p>
                    <a:p>
                      <a:r>
                        <a:rPr lang="en-ZA" sz="1800" baseline="0" dirty="0"/>
                        <a:t>Machinery and Equipment</a:t>
                      </a:r>
                      <a:endParaRPr lang="en-ZA" sz="180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136 901</a:t>
                      </a:r>
                    </a:p>
                    <a:p>
                      <a:pPr algn="r"/>
                      <a:r>
                        <a:rPr lang="en-ZA" sz="1800" dirty="0"/>
                        <a:t>28 608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147 375</a:t>
                      </a:r>
                    </a:p>
                    <a:p>
                      <a:pPr algn="r"/>
                      <a:r>
                        <a:rPr lang="en-ZA" sz="1800" dirty="0"/>
                        <a:t>30 972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158 576</a:t>
                      </a:r>
                    </a:p>
                    <a:p>
                      <a:pPr algn="r"/>
                      <a:r>
                        <a:rPr lang="en-ZA" sz="1800" dirty="0"/>
                        <a:t>32 311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58">
                <a:tc>
                  <a:txBody>
                    <a:bodyPr/>
                    <a:lstStyle/>
                    <a:p>
                      <a:r>
                        <a:rPr lang="en-ZA" sz="1800" b="1" dirty="0"/>
                        <a:t>Total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6 848 214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7 061 226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="1" dirty="0"/>
                        <a:t>7 378 025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89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350"/>
            <a:ext cx="8784976" cy="706438"/>
          </a:xfrm>
          <a:solidFill>
            <a:schemeClr val="accent3"/>
          </a:solidFill>
        </p:spPr>
        <p:txBody>
          <a:bodyPr/>
          <a:lstStyle/>
          <a:p>
            <a:pPr>
              <a:defRPr/>
            </a:pPr>
            <a:r>
              <a:rPr lang="en-ZA" sz="2800" b="1" dirty="0"/>
              <a:t>MTEF Allocations: Compensation of Employees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endParaRPr lang="en-ZA" altLang="en-US" sz="2800" dirty="0"/>
          </a:p>
          <a:p>
            <a:pPr>
              <a:defRPr/>
            </a:pPr>
            <a:endParaRPr lang="en-ZA" altLang="en-US" sz="2800" dirty="0"/>
          </a:p>
          <a:p>
            <a:pPr marL="0" indent="0">
              <a:buFont typeface="Arial" charset="0"/>
              <a:buNone/>
              <a:defRPr/>
            </a:pPr>
            <a:endParaRPr lang="en-ZA" altLang="en-US" dirty="0"/>
          </a:p>
          <a:p>
            <a:pPr marL="0" indent="0">
              <a:buFont typeface="Arial" charset="0"/>
              <a:buNone/>
              <a:defRPr/>
            </a:pPr>
            <a:r>
              <a:rPr lang="en-ZA" altLang="en-US"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10EBF-D2CD-448E-82D4-5F9CCA63C62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247453"/>
              </p:ext>
            </p:extLst>
          </p:nvPr>
        </p:nvGraphicFramePr>
        <p:xfrm>
          <a:off x="107503" y="1196756"/>
          <a:ext cx="8928992" cy="362501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2505"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2016/17</a:t>
                      </a:r>
                    </a:p>
                    <a:p>
                      <a:pPr algn="ctr"/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% Increase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% Increase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% Increase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ZA" sz="1400" b="1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28" marR="91428" marT="45713" marB="45713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ZA" sz="1400" b="1" dirty="0"/>
                        <a:t>Initial Allocation ENE 2016</a:t>
                      </a:r>
                    </a:p>
                    <a:p>
                      <a:pPr marL="0" indent="0">
                        <a:buNone/>
                      </a:pPr>
                      <a:r>
                        <a:rPr lang="en-ZA" sz="1400" b="1" dirty="0"/>
                        <a:t>(Issued: 27/10/2015)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1 001 609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10%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1 101 512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6.8%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1 176 079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7.4%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1 263 109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04">
                <a:tc>
                  <a:txBody>
                    <a:bodyPr/>
                    <a:lstStyle/>
                    <a:p>
                      <a:r>
                        <a:rPr lang="en-ZA" sz="1400" b="0" dirty="0"/>
                        <a:t>Minus: National Treasury implemented cuts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0" dirty="0"/>
                        <a:t>(5 000)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endParaRPr lang="en-ZA" sz="1400" b="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0" dirty="0"/>
                        <a:t>(54 927)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endParaRPr lang="en-ZA" sz="1400" b="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0" dirty="0"/>
                        <a:t>(85 240)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endParaRPr lang="en-ZA" sz="1400" b="0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0" dirty="0"/>
                        <a:t>(111 183)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505">
                <a:tc>
                  <a:txBody>
                    <a:bodyPr/>
                    <a:lstStyle/>
                    <a:p>
                      <a:r>
                        <a:rPr lang="en-ZA" sz="1400" b="1" dirty="0"/>
                        <a:t>Revised</a:t>
                      </a:r>
                      <a:r>
                        <a:rPr lang="en-ZA" sz="1400" b="1" baseline="0" dirty="0"/>
                        <a:t> Allocation ENE 2016 &amp; Compensation Ceiling</a:t>
                      </a:r>
                    </a:p>
                    <a:p>
                      <a:r>
                        <a:rPr lang="en-ZA" sz="1400" b="1" baseline="0" dirty="0"/>
                        <a:t>(Issued: 18/01/2016)</a:t>
                      </a:r>
                      <a:endParaRPr lang="en-ZA" sz="14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996 609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4%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1 046 585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4%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1 090 839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5.6%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1 151 926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604">
                <a:tc>
                  <a:txBody>
                    <a:bodyPr/>
                    <a:lstStyle/>
                    <a:p>
                      <a:r>
                        <a:rPr lang="en-ZA" sz="1400" b="1" dirty="0"/>
                        <a:t>Minus: National Treasury implemented cut ENE</a:t>
                      </a:r>
                      <a:r>
                        <a:rPr lang="en-ZA" sz="1400" b="1" baseline="0" dirty="0"/>
                        <a:t> 2017</a:t>
                      </a:r>
                      <a:endParaRPr lang="en-ZA" sz="14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0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endParaRPr lang="en-ZA" sz="14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(11 512)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endParaRPr lang="en-ZA" sz="14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(12 224)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endParaRPr lang="en-ZA" sz="1400" b="1" dirty="0"/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8 916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65">
                <a:tc>
                  <a:txBody>
                    <a:bodyPr/>
                    <a:lstStyle/>
                    <a:p>
                      <a:r>
                        <a:rPr lang="en-ZA" sz="1400" b="1" dirty="0"/>
                        <a:t>Allocation ENE 2017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996 609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3.8%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1 035 073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4%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1 078 615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7.6%</a:t>
                      </a:r>
                    </a:p>
                  </a:txBody>
                  <a:tcPr marL="91428" marR="91428" marT="45713" marB="4571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400" b="1" dirty="0"/>
                        <a:t>1 160 842</a:t>
                      </a:r>
                    </a:p>
                  </a:txBody>
                  <a:tcPr marL="91428" marR="91428"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4944470"/>
            <a:ext cx="84969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b="1" dirty="0"/>
              <a:t>Note:</a:t>
            </a:r>
          </a:p>
          <a:p>
            <a:r>
              <a:rPr lang="en-ZA" sz="1400" dirty="0"/>
              <a:t>As discussed with National Treasury on 14 July 2016 and 7 December 2016 the above set compensation ceilings might result in a compensation budget overrun, unless DEA substantially downsize the current filled posts.</a:t>
            </a:r>
          </a:p>
          <a:p>
            <a:r>
              <a:rPr lang="en-ZA" sz="1400" dirty="0"/>
              <a:t>The 4% growth is below the projected 7.4% growth per year (refer MTEF 2017 Guidelines)</a:t>
            </a:r>
          </a:p>
        </p:txBody>
      </p:sp>
    </p:spTree>
    <p:extLst>
      <p:ext uri="{BB962C8B-B14F-4D97-AF65-F5344CB8AC3E}">
        <p14:creationId xmlns:p14="http://schemas.microsoft.com/office/powerpoint/2010/main" val="247640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09538"/>
            <a:ext cx="8229600" cy="466725"/>
          </a:xfrm>
        </p:spPr>
        <p:txBody>
          <a:bodyPr/>
          <a:lstStyle/>
          <a:p>
            <a:pPr eaLnBrk="1" hangingPunct="1"/>
            <a:r>
              <a:rPr lang="en-US" altLang="en-US" sz="1000" b="1" dirty="0"/>
              <a:t>(1) </a:t>
            </a:r>
            <a:r>
              <a:rPr lang="en-US" altLang="en-US" sz="2800" b="1" dirty="0"/>
              <a:t>Goods and Services Analysis  per item </a:t>
            </a:r>
            <a:endParaRPr lang="en-US" altLang="en-US" sz="2800" dirty="0">
              <a:solidFill>
                <a:srgbClr val="008000"/>
              </a:solidFill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268603"/>
              </p:ext>
            </p:extLst>
          </p:nvPr>
        </p:nvGraphicFramePr>
        <p:xfrm>
          <a:off x="107505" y="548680"/>
          <a:ext cx="9036495" cy="57912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6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07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+mn-cs"/>
                        </a:rPr>
                        <a:t>Items</a:t>
                      </a:r>
                      <a:endParaRPr kumimoji="0" lang="en-ZA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2017/18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2018/19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 000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2019/20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L="91432" marR="91432"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299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Fixed and Earmarked Allocations: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Phakisa</a:t>
                      </a: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: Oceans Economy Strategy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Office Accommodation: Leases and municipal services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International Membership Fees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Communication Systems and Data lines: SITA 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Auditors: External &amp; Internal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Research and development: Oceans and Coasts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Wildlife Information Management Unit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SA </a:t>
                      </a:r>
                      <a:r>
                        <a:rPr kumimoji="0" lang="en-ZA" altLang="en-US" sz="14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Algoa</a:t>
                      </a: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: Manning and Operating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SA Agulhas II: Manning and Operating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Antarctica &amp; Islands: Fuel, Groceries, Satellite, et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Antarctica &amp; Islands: Helicopter Services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EPWP: Small Projects Alien Vegetation clearing (contractors)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Enforcement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Air Quality Monitoring Stations maintenance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Landfill Site Licencing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85 786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73 000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12 719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35 700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11 854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24 569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4 971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52 920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120 484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23 410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36 269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89 978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41 296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20 000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5 618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96 762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78 000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13 122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36 860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12 597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24 980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5 256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53 785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122 871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24 600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38 445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92 362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43 537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22 000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6 000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104 116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83 928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13 673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44 840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13 400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26 415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5 655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55 873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128 321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25 800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40 367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96 980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46 847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24 000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6 456</a:t>
                      </a:r>
                    </a:p>
                  </a:txBody>
                  <a:tcPr marL="91432" marR="91432"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673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 Fixed and Earmarked Allocation</a:t>
                      </a:r>
                      <a:endParaRPr kumimoji="0" lang="en-ZA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638 574</a:t>
                      </a: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671 177</a:t>
                      </a: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716 671</a:t>
                      </a:r>
                    </a:p>
                  </a:txBody>
                  <a:tcPr marL="91432" marR="91432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505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Budget available for other operational expenses, inspections, personnel development, stationary, travel &amp; subsistence, venues, operational leases, advertising, bursaries, other environmental agreements /stakeholders</a:t>
                      </a:r>
                      <a:endParaRPr kumimoji="0" lang="en-ZA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+mn-cs"/>
                        </a:rPr>
                        <a:t>520 162</a:t>
                      </a:r>
                      <a:endParaRPr kumimoji="0" lang="en-ZA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523 727</a:t>
                      </a: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539 601</a:t>
                      </a:r>
                    </a:p>
                  </a:txBody>
                  <a:tcPr marL="91432" marR="91432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161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 Goods &amp; Services</a:t>
                      </a:r>
                      <a:endParaRPr kumimoji="0" lang="en-ZA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/>
                        <a:t>1 158 736</a:t>
                      </a:r>
                      <a:endParaRPr lang="en-ZA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1 194 904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1 256 272</a:t>
                      </a:r>
                    </a:p>
                  </a:txBody>
                  <a:tcPr marL="91432" marR="91432"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52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9600" cy="420092"/>
          </a:xfrm>
        </p:spPr>
        <p:txBody>
          <a:bodyPr/>
          <a:lstStyle/>
          <a:p>
            <a:pPr eaLnBrk="1" hangingPunct="1"/>
            <a:r>
              <a:rPr lang="en-US" altLang="en-US" sz="1000" b="1" dirty="0">
                <a:solidFill>
                  <a:prstClr val="black"/>
                </a:solidFill>
              </a:rPr>
              <a:t>(2)</a:t>
            </a:r>
            <a:r>
              <a:rPr lang="en-US" altLang="en-US" sz="2800" b="1" dirty="0">
                <a:solidFill>
                  <a:prstClr val="black"/>
                </a:solidFill>
              </a:rPr>
              <a:t>Environmental Sector (EPWP Projects)</a:t>
            </a:r>
            <a:endParaRPr lang="en-US" altLang="en-US" sz="2800" dirty="0">
              <a:solidFill>
                <a:srgbClr val="008000"/>
              </a:solidFill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768350"/>
            <a:ext cx="8229600" cy="4214813"/>
          </a:xfrm>
        </p:spPr>
        <p:txBody>
          <a:bodyPr/>
          <a:lstStyle/>
          <a:p>
            <a:pPr marL="539750" indent="-539750" eaLnBrk="1" hangingPunct="1">
              <a:buFont typeface="Arial" charset="0"/>
              <a:buNone/>
              <a:defRPr/>
            </a:pPr>
            <a:endParaRPr lang="en-US" sz="2800" dirty="0"/>
          </a:p>
          <a:p>
            <a:pPr eaLnBrk="1" hangingPunct="1">
              <a:defRPr/>
            </a:pPr>
            <a:endParaRPr lang="en-US" altLang="en-US" dirty="0">
              <a:solidFill>
                <a:srgbClr val="008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406050"/>
              </p:ext>
            </p:extLst>
          </p:nvPr>
        </p:nvGraphicFramePr>
        <p:xfrm>
          <a:off x="179510" y="625100"/>
          <a:ext cx="8784978" cy="24796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36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679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00" marB="45700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2017/18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T="45700" marB="45700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2018/19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T="45700" marB="457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2019/20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T="45700" marB="4570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/>
                        <a:t>Total Allocation for Projects (EPWP)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3 157 437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3 343 972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3 596 045</a:t>
                      </a: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/>
                        <a:t>Minus: Waste Management Projects under Programme 7: Chemicals</a:t>
                      </a:r>
                      <a:r>
                        <a:rPr lang="en-ZA" sz="1600" b="1" baseline="0" dirty="0"/>
                        <a:t> and Waste Management</a:t>
                      </a:r>
                      <a:endParaRPr lang="en-ZA" sz="1600" b="1" dirty="0"/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(278 000)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(374 000)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(393 760)</a:t>
                      </a: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/>
                        <a:t>Total Allocations for Project (EPWP) under Programme 6: Environmental Programmes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2 879 437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2 969 972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3 202 285</a:t>
                      </a: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70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800" b="1" dirty="0"/>
                    </a:p>
                  </a:txBody>
                  <a:tcPr marL="91454" marR="91454" marT="45722" marB="4572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Down Arrow 5"/>
          <p:cNvSpPr/>
          <p:nvPr/>
        </p:nvSpPr>
        <p:spPr>
          <a:xfrm>
            <a:off x="5508104" y="2721655"/>
            <a:ext cx="175648" cy="308201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Down Arrow 6"/>
          <p:cNvSpPr/>
          <p:nvPr/>
        </p:nvSpPr>
        <p:spPr>
          <a:xfrm>
            <a:off x="6876256" y="2721655"/>
            <a:ext cx="144016" cy="308199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Down Arrow 7"/>
          <p:cNvSpPr/>
          <p:nvPr/>
        </p:nvSpPr>
        <p:spPr>
          <a:xfrm>
            <a:off x="8388424" y="2721655"/>
            <a:ext cx="144016" cy="308199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124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9600" cy="420092"/>
          </a:xfrm>
        </p:spPr>
        <p:txBody>
          <a:bodyPr/>
          <a:lstStyle/>
          <a:p>
            <a:pPr eaLnBrk="1" hangingPunct="1"/>
            <a:r>
              <a:rPr lang="en-US" altLang="en-US" sz="1000" b="1" dirty="0">
                <a:solidFill>
                  <a:prstClr val="black"/>
                </a:solidFill>
              </a:rPr>
              <a:t>(2)</a:t>
            </a:r>
            <a:r>
              <a:rPr lang="en-US" altLang="en-US" sz="2800" b="1" dirty="0">
                <a:solidFill>
                  <a:prstClr val="black"/>
                </a:solidFill>
              </a:rPr>
              <a:t>Environmental Sector (EPWP Projects)</a:t>
            </a:r>
            <a:endParaRPr lang="en-US" altLang="en-US" sz="2800" dirty="0">
              <a:solidFill>
                <a:srgbClr val="008000"/>
              </a:solidFill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768350"/>
            <a:ext cx="8229600" cy="4214813"/>
          </a:xfrm>
        </p:spPr>
        <p:txBody>
          <a:bodyPr/>
          <a:lstStyle/>
          <a:p>
            <a:pPr marL="539750" indent="-539750" eaLnBrk="1" hangingPunct="1">
              <a:buFont typeface="Arial" charset="0"/>
              <a:buNone/>
              <a:defRPr/>
            </a:pPr>
            <a:endParaRPr lang="en-US" sz="2800" dirty="0"/>
          </a:p>
          <a:p>
            <a:pPr eaLnBrk="1" hangingPunct="1">
              <a:defRPr/>
            </a:pPr>
            <a:endParaRPr lang="en-US" altLang="en-US" dirty="0">
              <a:solidFill>
                <a:srgbClr val="008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53497"/>
              </p:ext>
            </p:extLst>
          </p:nvPr>
        </p:nvGraphicFramePr>
        <p:xfrm>
          <a:off x="179510" y="625100"/>
          <a:ext cx="8784978" cy="59003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36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679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00" marB="45700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2017/18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T="45700" marB="45700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2018/19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T="45700" marB="4570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2019/20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T="45700" marB="4570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Environmental Protection and Infrastructure Programme (</a:t>
                      </a:r>
                      <a:r>
                        <a:rPr lang="en-ZA" sz="1600" b="1" dirty="0"/>
                        <a:t>EPIP</a:t>
                      </a:r>
                      <a:r>
                        <a:rPr lang="en-ZA" sz="1600" dirty="0"/>
                        <a:t>)</a:t>
                      </a:r>
                      <a:endParaRPr lang="en-ZA" sz="1600" b="1" dirty="0"/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1 001 579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ZA" sz="1600" b="1" baseline="0" dirty="0">
                          <a:solidFill>
                            <a:schemeClr val="tx1"/>
                          </a:solidFill>
                        </a:rPr>
                        <a:t> 019 420</a:t>
                      </a:r>
                      <a:endParaRPr lang="en-ZA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1 068 748</a:t>
                      </a: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25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ZA" sz="1600" baseline="0" dirty="0"/>
                        <a:t>Projects</a:t>
                      </a:r>
                      <a:r>
                        <a:rPr lang="en-ZA" sz="1600" b="1" baseline="0" dirty="0"/>
                        <a:t> </a:t>
                      </a:r>
                      <a:r>
                        <a:rPr lang="en-ZA" sz="1600" b="0" baseline="0" dirty="0"/>
                        <a:t>Public Entities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ZA" sz="1600" b="0" baseline="0" dirty="0"/>
                        <a:t>  SANPARKS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ZA" sz="1600" b="0" baseline="0" dirty="0"/>
                        <a:t>  </a:t>
                      </a:r>
                      <a:r>
                        <a:rPr lang="en-ZA" sz="1600" b="0" baseline="0" dirty="0" err="1"/>
                        <a:t>iSimangaliso</a:t>
                      </a:r>
                      <a:endParaRPr lang="en-ZA" sz="1600" b="0" baseline="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ZA" sz="1600" b="0" baseline="0" dirty="0"/>
                        <a:t>Projects Private Enterprises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ZA" sz="1600" baseline="0" dirty="0"/>
                        <a:t>Incentives</a:t>
                      </a:r>
                      <a:endParaRPr lang="en-ZA" sz="1600" b="0" dirty="0"/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152 021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19 071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602 036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228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451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147 692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13 247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616 320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242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161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813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026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255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722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0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Natural Resource</a:t>
                      </a:r>
                      <a:r>
                        <a:rPr lang="en-US" sz="1600" baseline="0" dirty="0"/>
                        <a:t> Management (NRM)</a:t>
                      </a:r>
                      <a:endParaRPr lang="en-US" sz="1600" b="1" baseline="0" dirty="0"/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1 877 858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ZA" sz="16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950 552</a:t>
                      </a:r>
                      <a:endParaRPr lang="en-ZA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2 133 537</a:t>
                      </a: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709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600" baseline="0" dirty="0"/>
                        <a:t>Working on Fire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Projects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Incentives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baseline="0" dirty="0"/>
                        <a:t>Working for Water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baseline="0" dirty="0"/>
                        <a:t>-    Projects Public Entities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   SANPARKS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   SANBI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   </a:t>
                      </a:r>
                      <a:r>
                        <a:rPr lang="en-US" sz="1600" baseline="0" dirty="0" err="1"/>
                        <a:t>iSimangaliso</a:t>
                      </a:r>
                      <a:endParaRPr lang="en-US" sz="1600" baseline="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Projects Private Enterprises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/>
                        <a:t>Incentives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527 184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81</a:t>
                      </a:r>
                      <a:r>
                        <a:rPr lang="en-ZA" sz="1600" baseline="0" dirty="0">
                          <a:solidFill>
                            <a:schemeClr val="tx1"/>
                          </a:solidFill>
                        </a:rPr>
                        <a:t> 703</a:t>
                      </a:r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324 228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44 000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18 247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721 500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160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996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556 225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86</a:t>
                      </a:r>
                      <a:r>
                        <a:rPr lang="en-ZA" sz="1600" baseline="0" dirty="0">
                          <a:solidFill>
                            <a:schemeClr val="tx1"/>
                          </a:solidFill>
                        </a:rPr>
                        <a:t> 606</a:t>
                      </a:r>
                    </a:p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ZA" sz="16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343 130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47 520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19 350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727 600</a:t>
                      </a:r>
                    </a:p>
                    <a:p>
                      <a:pPr algn="r"/>
                      <a:r>
                        <a:rPr lang="en-ZA" sz="1600" dirty="0">
                          <a:solidFill>
                            <a:schemeClr val="tx1"/>
                          </a:solidFill>
                        </a:rPr>
                        <a:t>170</a:t>
                      </a:r>
                      <a:r>
                        <a:rPr lang="en-ZA" sz="1600" baseline="0" dirty="0">
                          <a:solidFill>
                            <a:schemeClr val="tx1"/>
                          </a:solidFill>
                        </a:rPr>
                        <a:t> 121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587 374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91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456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363 850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51 428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20 510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839 271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179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648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84">
                <a:tc>
                  <a:txBody>
                    <a:bodyPr/>
                    <a:lstStyle/>
                    <a:p>
                      <a:r>
                        <a:rPr lang="en-US" sz="1600" b="1" dirty="0"/>
                        <a:t>TOTAL Allocation</a:t>
                      </a:r>
                      <a:r>
                        <a:rPr lang="en-US" sz="1600" b="1" baseline="0" dirty="0"/>
                        <a:t> for projects</a:t>
                      </a:r>
                      <a:endParaRPr lang="en-ZA" sz="1600" b="1" dirty="0"/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2 879</a:t>
                      </a:r>
                      <a:r>
                        <a:rPr lang="en-ZA" sz="1600" b="1" baseline="0" dirty="0">
                          <a:solidFill>
                            <a:schemeClr val="tx1"/>
                          </a:solidFill>
                        </a:rPr>
                        <a:t> 437</a:t>
                      </a:r>
                      <a:endParaRPr lang="en-ZA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2 969 972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3 202</a:t>
                      </a:r>
                      <a:r>
                        <a:rPr lang="en-ZA" sz="1600" b="1" baseline="0" dirty="0">
                          <a:solidFill>
                            <a:schemeClr val="tx1"/>
                          </a:solidFill>
                        </a:rPr>
                        <a:t> 285</a:t>
                      </a:r>
                      <a:endParaRPr lang="en-ZA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Down Arrow 8"/>
          <p:cNvSpPr/>
          <p:nvPr/>
        </p:nvSpPr>
        <p:spPr>
          <a:xfrm>
            <a:off x="5508104" y="6549799"/>
            <a:ext cx="175648" cy="308201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Down Arrow 9"/>
          <p:cNvSpPr/>
          <p:nvPr/>
        </p:nvSpPr>
        <p:spPr>
          <a:xfrm>
            <a:off x="6978138" y="6549798"/>
            <a:ext cx="175648" cy="308201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Down Arrow 10"/>
          <p:cNvSpPr/>
          <p:nvPr/>
        </p:nvSpPr>
        <p:spPr>
          <a:xfrm>
            <a:off x="8385641" y="6549799"/>
            <a:ext cx="175648" cy="308201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889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9600" cy="42009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prstClr val="black"/>
                </a:solidFill>
              </a:rPr>
              <a:t> Environmental Sector (EPWP Projects) </a:t>
            </a:r>
            <a:endParaRPr lang="en-US" altLang="en-US" sz="1200" dirty="0">
              <a:solidFill>
                <a:srgbClr val="008000"/>
              </a:solidFill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768350"/>
            <a:ext cx="8229600" cy="4214813"/>
          </a:xfrm>
        </p:spPr>
        <p:txBody>
          <a:bodyPr/>
          <a:lstStyle/>
          <a:p>
            <a:pPr marL="539750" indent="-539750" eaLnBrk="1" hangingPunct="1">
              <a:buFont typeface="Arial" charset="0"/>
              <a:buNone/>
              <a:defRPr/>
            </a:pPr>
            <a:endParaRPr lang="en-US" sz="2800" dirty="0"/>
          </a:p>
          <a:p>
            <a:pPr eaLnBrk="1" hangingPunct="1">
              <a:defRPr/>
            </a:pPr>
            <a:endParaRPr lang="en-US" altLang="en-US" dirty="0">
              <a:solidFill>
                <a:srgbClr val="008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318881"/>
              </p:ext>
            </p:extLst>
          </p:nvPr>
        </p:nvGraphicFramePr>
        <p:xfrm>
          <a:off x="323528" y="836713"/>
          <a:ext cx="8568953" cy="347428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2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6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8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/>
                        <a:t>Allocations for projects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2 879 437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2 969 972</a:t>
                      </a:r>
                    </a:p>
                  </a:txBody>
                  <a:tcPr marL="91454" marR="91454" marT="45722" marB="4572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3 202 285</a:t>
                      </a:r>
                    </a:p>
                  </a:txBody>
                  <a:tcPr marL="91454" marR="91454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Infrastructure Grants to Public Entities</a:t>
                      </a:r>
                      <a:endParaRPr kumimoji="0" lang="en-ZA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00" marB="457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418 768</a:t>
                      </a:r>
                    </a:p>
                  </a:txBody>
                  <a:tcPr marT="45700" marB="457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332 579</a:t>
                      </a:r>
                    </a:p>
                  </a:txBody>
                  <a:tcPr marT="45700" marB="45700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304 285</a:t>
                      </a:r>
                    </a:p>
                  </a:txBody>
                  <a:tcPr marT="45700" marB="4570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baseline="0" dirty="0"/>
                        <a:t>Small contractors orders for  clearing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baseline="0" dirty="0"/>
                        <a:t>Alien invasive species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89 978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92 362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96 980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18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ZA" sz="1600" b="1" dirty="0"/>
                        <a:t>Green Fund  transfers to DBSA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110 455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95 000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64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ZA" sz="1600" b="1" dirty="0"/>
                        <a:t>Operational</a:t>
                      </a:r>
                      <a:r>
                        <a:rPr lang="en-ZA" sz="1600" b="1" baseline="0" dirty="0"/>
                        <a:t> Expenditure</a:t>
                      </a:r>
                      <a:endParaRPr lang="en-ZA" sz="1600" b="1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ZA" sz="1600" b="1" dirty="0"/>
                        <a:t>Compensation</a:t>
                      </a:r>
                      <a:r>
                        <a:rPr lang="en-ZA" sz="1600" b="1" baseline="0" dirty="0"/>
                        <a:t> of Employees</a:t>
                      </a:r>
                      <a:endParaRPr lang="en-ZA" sz="1600" b="1" dirty="0"/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167 602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228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969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164 734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224 373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145 930</a:t>
                      </a:r>
                    </a:p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253 367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518">
                <a:tc>
                  <a:txBody>
                    <a:bodyPr/>
                    <a:lstStyle/>
                    <a:p>
                      <a:r>
                        <a:rPr lang="en-ZA" sz="1600" b="1" dirty="0"/>
                        <a:t>TOTAL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3 895 209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3 879 020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4 002 847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167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640943"/>
              </p:ext>
            </p:extLst>
          </p:nvPr>
        </p:nvGraphicFramePr>
        <p:xfrm>
          <a:off x="107504" y="791271"/>
          <a:ext cx="8845674" cy="53644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68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432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Public Entities</a:t>
                      </a:r>
                    </a:p>
                    <a:p>
                      <a:pPr marL="0" algn="ctr" defTabSz="457200" rtl="0" eaLnBrk="1" latinLnBrk="0" hangingPunct="1"/>
                      <a:endParaRPr lang="en-ZA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48" marR="91448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30">
                <a:tc>
                  <a:txBody>
                    <a:bodyPr/>
                    <a:lstStyle/>
                    <a:p>
                      <a:r>
                        <a:rPr lang="en-ZA" sz="1800" b="1" dirty="0"/>
                        <a:t>South African</a:t>
                      </a:r>
                      <a:r>
                        <a:rPr lang="en-ZA" sz="1800" b="1" baseline="0" dirty="0"/>
                        <a:t> National  </a:t>
                      </a:r>
                      <a:r>
                        <a:rPr lang="en-ZA" sz="1800" b="1" dirty="0"/>
                        <a:t>Parks</a:t>
                      </a: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494 104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406 724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413 815</a:t>
                      </a:r>
                    </a:p>
                  </a:txBody>
                  <a:tcPr marL="9526" marR="9526" marT="952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48">
                <a:tc>
                  <a:txBody>
                    <a:bodyPr/>
                    <a:lstStyle/>
                    <a:p>
                      <a:r>
                        <a:rPr lang="en-ZA" sz="1800" dirty="0"/>
                        <a:t>Operations</a:t>
                      </a:r>
                    </a:p>
                    <a:p>
                      <a:r>
                        <a:rPr lang="en-ZA" sz="1800" dirty="0"/>
                        <a:t>Infrastructure</a:t>
                      </a: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285 336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208 768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302 175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104 549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305 085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108 730</a:t>
                      </a:r>
                    </a:p>
                  </a:txBody>
                  <a:tcPr marL="9526" marR="9526" marT="952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30">
                <a:tc>
                  <a:txBody>
                    <a:bodyPr/>
                    <a:lstStyle/>
                    <a:p>
                      <a:r>
                        <a:rPr lang="en-ZA" sz="1800" b="1" dirty="0"/>
                        <a:t>South African National Biodiversity Institute</a:t>
                      </a: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324 928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344 064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367 735</a:t>
                      </a:r>
                    </a:p>
                  </a:txBody>
                  <a:tcPr marL="9526" marR="9526" marT="952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168">
                <a:tc>
                  <a:txBody>
                    <a:bodyPr/>
                    <a:lstStyle/>
                    <a:p>
                      <a:r>
                        <a:rPr lang="en-ZA" sz="1800" dirty="0"/>
                        <a:t>Operations</a:t>
                      </a:r>
                    </a:p>
                    <a:p>
                      <a:r>
                        <a:rPr lang="en-ZA" sz="1800" dirty="0"/>
                        <a:t>Infrastructure</a:t>
                      </a:r>
                    </a:p>
                  </a:txBody>
                  <a:tcPr marL="91448" marR="91448" marT="45723" marB="45723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249 928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75 000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264 714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79 350</a:t>
                      </a:r>
                    </a:p>
                  </a:txBody>
                  <a:tcPr marL="9526" marR="9526" marT="9526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285 211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82 524</a:t>
                      </a:r>
                    </a:p>
                  </a:txBody>
                  <a:tcPr marL="9526" marR="9526" marT="952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20">
                <a:tc>
                  <a:txBody>
                    <a:bodyPr/>
                    <a:lstStyle/>
                    <a:p>
                      <a:r>
                        <a:rPr lang="en-ZA" sz="1800" b="1" dirty="0"/>
                        <a:t>South African</a:t>
                      </a:r>
                      <a:r>
                        <a:rPr lang="en-ZA" sz="1800" b="1" baseline="0" dirty="0"/>
                        <a:t> Weather Service</a:t>
                      </a:r>
                      <a:endParaRPr lang="en-ZA" sz="1800" b="1" dirty="0"/>
                    </a:p>
                  </a:txBody>
                  <a:tcPr marL="91448" marR="91448" marT="45718" marB="45718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240 482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243 082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248 809</a:t>
                      </a: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338">
                <a:tc>
                  <a:txBody>
                    <a:bodyPr/>
                    <a:lstStyle/>
                    <a:p>
                      <a:r>
                        <a:rPr lang="en-ZA" sz="1800" dirty="0"/>
                        <a:t>Operations</a:t>
                      </a:r>
                    </a:p>
                    <a:p>
                      <a:r>
                        <a:rPr lang="en-ZA" sz="1800" dirty="0"/>
                        <a:t>Infrastructure</a:t>
                      </a:r>
                    </a:p>
                  </a:txBody>
                  <a:tcPr marL="91448" marR="91448" marT="45718" marB="45718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205 482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35 000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206 052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37 030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210 294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38 515</a:t>
                      </a: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20">
                <a:tc>
                  <a:txBody>
                    <a:bodyPr/>
                    <a:lstStyle/>
                    <a:p>
                      <a:r>
                        <a:rPr lang="en-ZA" sz="1800" b="1" dirty="0" err="1"/>
                        <a:t>Isimangaliso</a:t>
                      </a:r>
                      <a:r>
                        <a:rPr lang="en-ZA" sz="1800" b="1" dirty="0"/>
                        <a:t> Wetland Park </a:t>
                      </a:r>
                    </a:p>
                  </a:txBody>
                  <a:tcPr marL="91448" marR="91448" marT="45718" marB="45718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134 523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148 175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113 818</a:t>
                      </a: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6168">
                <a:tc>
                  <a:txBody>
                    <a:bodyPr/>
                    <a:lstStyle/>
                    <a:p>
                      <a:r>
                        <a:rPr lang="en-ZA" sz="1800" dirty="0"/>
                        <a:t>Operations</a:t>
                      </a:r>
                    </a:p>
                    <a:p>
                      <a:r>
                        <a:rPr lang="en-ZA" sz="1800" dirty="0"/>
                        <a:t>Infrastructure</a:t>
                      </a:r>
                    </a:p>
                  </a:txBody>
                  <a:tcPr marL="91448" marR="91448" marT="45718" marB="45718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  <a:r>
                        <a:rPr lang="en-ZA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523</a:t>
                      </a:r>
                      <a:endParaRPr lang="en-ZA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100 000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36 525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111 650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39 302</a:t>
                      </a:r>
                    </a:p>
                    <a:p>
                      <a:pPr marL="0" algn="r" defTabSz="457200" rtl="0" eaLnBrk="1" fontAlgn="b" latinLnBrk="0" hangingPunct="1"/>
                      <a:r>
                        <a:rPr lang="en-ZA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74 516</a:t>
                      </a: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6168">
                <a:tc>
                  <a:txBody>
                    <a:bodyPr/>
                    <a:lstStyle/>
                    <a:p>
                      <a:endParaRPr lang="en-ZA" sz="1800" dirty="0"/>
                    </a:p>
                    <a:p>
                      <a:r>
                        <a:rPr lang="en-ZA" sz="1800" b="1" dirty="0"/>
                        <a:t>Total</a:t>
                      </a:r>
                    </a:p>
                  </a:txBody>
                  <a:tcPr marL="91448" marR="91448" marT="45718" marB="45718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1 194 037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1 142 045</a:t>
                      </a:r>
                    </a:p>
                  </a:txBody>
                  <a:tcPr marL="9526" marR="9526" marT="9525" marB="0" anchor="b"/>
                </a:tc>
                <a:tc>
                  <a:txBody>
                    <a:bodyPr/>
                    <a:lstStyle/>
                    <a:p>
                      <a:pPr marL="0" algn="r" defTabSz="457200" rtl="0" eaLnBrk="1" fontAlgn="b" latinLnBrk="0" hangingPunct="1"/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1 144 177</a:t>
                      </a:r>
                    </a:p>
                  </a:txBody>
                  <a:tcPr marL="9526" marR="9526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329" name="TextBox 2"/>
          <p:cNvSpPr txBox="1">
            <a:spLocks noChangeArrowheads="1"/>
          </p:cNvSpPr>
          <p:nvPr/>
        </p:nvSpPr>
        <p:spPr bwMode="auto">
          <a:xfrm>
            <a:off x="323528" y="173831"/>
            <a:ext cx="882047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ZA" altLang="en-US" sz="1000" b="1" dirty="0">
                <a:solidFill>
                  <a:srgbClr val="000000"/>
                </a:solidFill>
                <a:latin typeface="Calibri" pitchFamily="34" charset="0"/>
              </a:rPr>
              <a:t>(3)</a:t>
            </a:r>
            <a:r>
              <a:rPr lang="en-ZA" altLang="en-US" sz="3200" b="1" dirty="0">
                <a:solidFill>
                  <a:srgbClr val="000000"/>
                </a:solidFill>
                <a:latin typeface="Calibri" pitchFamily="34" charset="0"/>
              </a:rPr>
              <a:t>Public Entities  Allocations</a:t>
            </a:r>
          </a:p>
        </p:txBody>
      </p:sp>
    </p:spTree>
    <p:extLst>
      <p:ext uri="{BB962C8B-B14F-4D97-AF65-F5344CB8AC3E}">
        <p14:creationId xmlns:p14="http://schemas.microsoft.com/office/powerpoint/2010/main" val="297858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9600" cy="420092"/>
          </a:xfrm>
        </p:spPr>
        <p:txBody>
          <a:bodyPr/>
          <a:lstStyle/>
          <a:p>
            <a:pPr eaLnBrk="1" hangingPunct="1"/>
            <a:r>
              <a:rPr lang="en-ZA" altLang="en-US" sz="1200" b="1" dirty="0">
                <a:solidFill>
                  <a:prstClr val="black"/>
                </a:solidFill>
              </a:rPr>
              <a:t>(4)  </a:t>
            </a:r>
            <a:r>
              <a:rPr lang="en-ZA" altLang="en-US" sz="2800" b="1" dirty="0">
                <a:solidFill>
                  <a:prstClr val="black"/>
                </a:solidFill>
              </a:rPr>
              <a:t>Non-Profit Institutions</a:t>
            </a:r>
            <a:endParaRPr lang="en-US" altLang="en-US" sz="2800" dirty="0">
              <a:solidFill>
                <a:srgbClr val="008000"/>
              </a:solidFill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768350"/>
            <a:ext cx="8229600" cy="4214813"/>
          </a:xfrm>
        </p:spPr>
        <p:txBody>
          <a:bodyPr/>
          <a:lstStyle/>
          <a:p>
            <a:pPr marL="539750" indent="-539750" eaLnBrk="1" hangingPunct="1">
              <a:buFont typeface="Arial" charset="0"/>
              <a:buNone/>
              <a:defRPr/>
            </a:pPr>
            <a:endParaRPr lang="en-US" sz="2800" dirty="0"/>
          </a:p>
          <a:p>
            <a:pPr eaLnBrk="1" hangingPunct="1">
              <a:defRPr/>
            </a:pPr>
            <a:endParaRPr lang="en-US" altLang="en-US" dirty="0">
              <a:solidFill>
                <a:srgbClr val="008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02010"/>
              </p:ext>
            </p:extLst>
          </p:nvPr>
        </p:nvGraphicFramePr>
        <p:xfrm>
          <a:off x="395536" y="836712"/>
          <a:ext cx="8352928" cy="2918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0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ZA" sz="200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86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1" dirty="0"/>
                        <a:t>National Regulator for Compulsory Specifications (NRCS)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7 132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7 490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/>
                        <a:t>7 909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6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ZA" sz="1600" b="1" dirty="0"/>
                        <a:t>National Association for Clean Air (NACA)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1 548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638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/>
                        <a:t>1 730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24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baseline="0" dirty="0"/>
                        <a:t>KwaZulu-Natal Conservation Board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1 287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1 287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/>
                        <a:t>1 287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307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ZA" sz="1600" b="1" dirty="0"/>
                        <a:t>African World Heritage Fund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000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ZA" sz="1600" b="0" baseline="0" dirty="0">
                          <a:solidFill>
                            <a:schemeClr val="tx1"/>
                          </a:solidFill>
                        </a:rPr>
                        <a:t> 000</a:t>
                      </a:r>
                      <a:endParaRPr lang="en-ZA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0" dirty="0"/>
                        <a:t>1 000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17">
                <a:tc>
                  <a:txBody>
                    <a:bodyPr/>
                    <a:lstStyle/>
                    <a:p>
                      <a:r>
                        <a:rPr lang="en-ZA" sz="1600" b="1" dirty="0"/>
                        <a:t>TOTAL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10 967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>
                          <a:solidFill>
                            <a:schemeClr val="tx1"/>
                          </a:solidFill>
                        </a:rPr>
                        <a:t>11 415</a:t>
                      </a:r>
                    </a:p>
                  </a:txBody>
                  <a:tcPr marL="91454" marR="91454" marT="45707" marB="4570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b="1" dirty="0"/>
                        <a:t>11 926</a:t>
                      </a:r>
                    </a:p>
                  </a:txBody>
                  <a:tcPr marL="91454" marR="91454" marT="45707" marB="45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15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96751"/>
          </a:xfrm>
        </p:spPr>
        <p:txBody>
          <a:bodyPr/>
          <a:lstStyle/>
          <a:p>
            <a:pPr marL="0" lvl="0" indent="0" algn="ctr">
              <a:buNone/>
            </a:pPr>
            <a:endParaRPr lang="en-ZA" b="1" dirty="0">
              <a:solidFill>
                <a:prstClr val="black"/>
              </a:solidFill>
            </a:endParaRPr>
          </a:p>
          <a:p>
            <a:pPr marL="0" lvl="0" indent="0" algn="ctr">
              <a:buNone/>
            </a:pPr>
            <a:r>
              <a:rPr lang="en-ZA" b="1" dirty="0">
                <a:solidFill>
                  <a:prstClr val="black"/>
                </a:solidFill>
              </a:rPr>
              <a:t>Funded Priorities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46156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09538"/>
            <a:ext cx="8229600" cy="943198"/>
          </a:xfrm>
        </p:spPr>
        <p:txBody>
          <a:bodyPr/>
          <a:lstStyle/>
          <a:p>
            <a:pPr eaLnBrk="1" hangingPunct="1"/>
            <a:r>
              <a:rPr lang="en-US" sz="2400" b="1" dirty="0" err="1"/>
              <a:t>Programme</a:t>
            </a:r>
            <a:r>
              <a:rPr lang="en-US" sz="2400" b="1" dirty="0"/>
              <a:t> 1: Administration</a:t>
            </a:r>
            <a:endParaRPr lang="en-US" altLang="en-US" sz="2400" dirty="0">
              <a:solidFill>
                <a:srgbClr val="008000"/>
              </a:solidFill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707166"/>
              </p:ext>
            </p:extLst>
          </p:nvPr>
        </p:nvGraphicFramePr>
        <p:xfrm>
          <a:off x="119061" y="1169939"/>
          <a:ext cx="8629404" cy="393197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6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037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Priorities</a:t>
                      </a:r>
                      <a:endParaRPr kumimoji="0" lang="en-ZA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2017/18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2018/19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 000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2019/20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R’000</a:t>
                      </a:r>
                    </a:p>
                  </a:txBody>
                  <a:tcPr marL="91432" marR="91432"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4104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Office Accommodation (CPT, Regional Offices)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Unitary Payment: DEA Environment House Pretoria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International Membership Fees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400" baseline="0" dirty="0"/>
                        <a:t>Global Environmental Fund (GEF)</a:t>
                      </a: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Communication Systems and Data lines: SITA 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Auditors: External &amp; Internal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Environmental Advisory Services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Environmental Sector Coordination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Ministry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Support Services (Communication, Human Capital, Financial Services, Facilities Management, Business Performance, Governance, Information Management)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73 000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136 901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5 100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16 000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35 700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11 854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91 638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66 744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49 524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376 554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78 000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147 375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5 456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16 928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36 860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12 597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99 404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70 557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52 346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404 463</a:t>
                      </a:r>
                    </a:p>
                  </a:txBody>
                  <a:tcPr marL="91432" marR="91432"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83 928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158 576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5 871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18 215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44 800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13 400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108 587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75 919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56 323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439 369</a:t>
                      </a:r>
                    </a:p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ZA" altLang="en-US" sz="14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1432" marR="91432" marT="45726" marB="4572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9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 Allocated</a:t>
                      </a: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863 045</a:t>
                      </a: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923 986</a:t>
                      </a:r>
                    </a:p>
                  </a:txBody>
                  <a:tcPr marL="91432" marR="91432" marT="45715" marB="45715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ZA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1 004 988</a:t>
                      </a:r>
                    </a:p>
                  </a:txBody>
                  <a:tcPr marL="91432" marR="91432" marT="45715" marB="4571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076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764703"/>
          </a:xfrm>
        </p:spPr>
        <p:txBody>
          <a:bodyPr/>
          <a:lstStyle/>
          <a:p>
            <a:pPr eaLnBrk="1" hangingPunct="1"/>
            <a:r>
              <a:rPr lang="en-US" altLang="en-US" sz="2400" b="1" dirty="0" err="1"/>
              <a:t>Programme</a:t>
            </a:r>
            <a:r>
              <a:rPr lang="en-US" altLang="en-US" sz="2400" b="1" dirty="0"/>
              <a:t> 2: Legal Authorization, </a:t>
            </a:r>
            <a:br>
              <a:rPr lang="en-US" altLang="en-US" sz="2400" b="1" dirty="0"/>
            </a:br>
            <a:r>
              <a:rPr lang="en-US" altLang="en-US" sz="2400" b="1" dirty="0"/>
              <a:t>Compliance and Enforcement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576712"/>
              </p:ext>
            </p:extLst>
          </p:nvPr>
        </p:nvGraphicFramePr>
        <p:xfrm>
          <a:off x="323528" y="957147"/>
          <a:ext cx="8496945" cy="45122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35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876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Sub-Programmes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8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Legal Authorization, Compliance and Enforcement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Management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6 691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079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7 618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8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Compliance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Monitoring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26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210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27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730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29</a:t>
                      </a:r>
                      <a:r>
                        <a:rPr lang="en-ZA" sz="1800" baseline="0" dirty="0"/>
                        <a:t> 836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7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="1" dirty="0" err="1"/>
                        <a:t>Intergrated</a:t>
                      </a:r>
                      <a:r>
                        <a:rPr lang="en-ZA" sz="1800" b="1" dirty="0"/>
                        <a:t> Environmental</a:t>
                      </a:r>
                      <a:r>
                        <a:rPr lang="en-ZA" sz="1800" b="1" baseline="0" dirty="0"/>
                        <a:t>  Authorisations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52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572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55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621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59</a:t>
                      </a:r>
                      <a:r>
                        <a:rPr lang="en-ZA" sz="1800" baseline="0" dirty="0"/>
                        <a:t> 848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29">
                <a:tc>
                  <a:txBody>
                    <a:bodyPr/>
                    <a:lstStyle/>
                    <a:p>
                      <a:r>
                        <a:rPr lang="en-ZA" sz="1800" b="1" dirty="0"/>
                        <a:t>Enforcement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66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959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70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733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76</a:t>
                      </a:r>
                      <a:r>
                        <a:rPr lang="en-ZA" sz="1800" baseline="0" dirty="0"/>
                        <a:t> 111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229">
                <a:tc>
                  <a:txBody>
                    <a:bodyPr/>
                    <a:lstStyle/>
                    <a:p>
                      <a:r>
                        <a:rPr lang="en-ZA" sz="1800" b="1" dirty="0"/>
                        <a:t>Corporate Legal Support &amp; Litigation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461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679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11</a:t>
                      </a:r>
                      <a:r>
                        <a:rPr lang="en-ZA" sz="1800" baseline="0" dirty="0"/>
                        <a:t> 492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381">
                <a:tc>
                  <a:txBody>
                    <a:bodyPr/>
                    <a:lstStyle/>
                    <a:p>
                      <a:r>
                        <a:rPr lang="en-ZA" sz="1800" b="1" dirty="0"/>
                        <a:t>Law Reform</a:t>
                      </a:r>
                      <a:r>
                        <a:rPr lang="en-ZA" sz="1800" b="1" baseline="0" dirty="0"/>
                        <a:t> &amp; Appeals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887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17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482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18</a:t>
                      </a:r>
                      <a:r>
                        <a:rPr lang="en-ZA" sz="1800" baseline="0" dirty="0"/>
                        <a:t> 566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049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Total Allocated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noProof="0" dirty="0">
                          <a:solidFill>
                            <a:schemeClr val="tx1"/>
                          </a:solidFill>
                        </a:rPr>
                        <a:t>179</a:t>
                      </a:r>
                      <a:r>
                        <a:rPr lang="en-GB" sz="1600" b="1" baseline="0" noProof="0" dirty="0">
                          <a:solidFill>
                            <a:schemeClr val="tx1"/>
                          </a:solidFill>
                        </a:rPr>
                        <a:t> 780</a:t>
                      </a:r>
                      <a:endParaRPr lang="en-GB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noProof="0" dirty="0">
                          <a:solidFill>
                            <a:schemeClr val="tx1"/>
                          </a:solidFill>
                        </a:rPr>
                        <a:t>189 324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noProof="0" dirty="0"/>
                        <a:t>203</a:t>
                      </a:r>
                      <a:r>
                        <a:rPr lang="en-GB" sz="1600" b="1" baseline="0" noProof="0" dirty="0"/>
                        <a:t> 471</a:t>
                      </a:r>
                      <a:endParaRPr lang="en-GB" sz="1600" b="1" noProof="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363" y="5949280"/>
            <a:ext cx="19812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908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764703"/>
          </a:xfrm>
        </p:spPr>
        <p:txBody>
          <a:bodyPr/>
          <a:lstStyle/>
          <a:p>
            <a:pPr eaLnBrk="1" hangingPunct="1"/>
            <a:r>
              <a:rPr lang="en-US" altLang="en-US" sz="2400" b="1" dirty="0" err="1"/>
              <a:t>Programme</a:t>
            </a:r>
            <a:r>
              <a:rPr lang="en-US" altLang="en-US" sz="2400" b="1" dirty="0"/>
              <a:t> 3: Oceans and Coasts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291143"/>
              </p:ext>
            </p:extLst>
          </p:nvPr>
        </p:nvGraphicFramePr>
        <p:xfrm>
          <a:off x="323528" y="908720"/>
          <a:ext cx="8424936" cy="507039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Sub-Programmes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Oceans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and Coasts Management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8 757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8 064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8 545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230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Integrated</a:t>
                      </a:r>
                      <a:r>
                        <a:rPr lang="en-GB" sz="1800" b="1" baseline="0" noProof="0" dirty="0"/>
                        <a:t> Coastal Management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GB" sz="1800" b="1" baseline="0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135 945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148 201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159 465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9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="1" dirty="0"/>
                        <a:t>Oceans</a:t>
                      </a:r>
                      <a:r>
                        <a:rPr lang="en-ZA" sz="1800" b="1" baseline="0" dirty="0"/>
                        <a:t> and Coasts Research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115 433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116 661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108</a:t>
                      </a:r>
                      <a:r>
                        <a:rPr lang="en-ZA" sz="1800" baseline="0" dirty="0"/>
                        <a:t> 461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538">
                <a:tc>
                  <a:txBody>
                    <a:bodyPr/>
                    <a:lstStyle/>
                    <a:p>
                      <a:r>
                        <a:rPr lang="en-ZA" sz="1800" b="1" dirty="0"/>
                        <a:t>Oceans Conservation</a:t>
                      </a:r>
                      <a:endParaRPr lang="en-ZA" sz="1800" b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201 679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212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043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224 024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556">
                <a:tc>
                  <a:txBody>
                    <a:bodyPr/>
                    <a:lstStyle/>
                    <a:p>
                      <a:r>
                        <a:rPr lang="en-ZA" sz="1800" b="1" dirty="0"/>
                        <a:t>Specialists Monitoring</a:t>
                      </a:r>
                      <a:r>
                        <a:rPr lang="en-ZA" sz="1800" b="1" baseline="0" dirty="0"/>
                        <a:t> Services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641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7 026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7</a:t>
                      </a:r>
                      <a:r>
                        <a:rPr lang="en-ZA" sz="1800" baseline="0" dirty="0"/>
                        <a:t> 559</a:t>
                      </a:r>
                      <a:endParaRPr lang="en-ZA" sz="1800" dirty="0"/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110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Total</a:t>
                      </a:r>
                      <a:r>
                        <a:rPr lang="en-GB" sz="1800" b="1" baseline="0" noProof="0" dirty="0"/>
                        <a:t> Allocated</a:t>
                      </a:r>
                      <a:endParaRPr lang="en-GB" sz="1800" b="1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468 455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491 995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508 054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50">
                <a:tc>
                  <a:txBody>
                    <a:bodyPr/>
                    <a:lstStyle/>
                    <a:p>
                      <a:endParaRPr lang="en-GB" sz="800" b="1" noProof="0" dirty="0"/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800" b="1" noProof="0" dirty="0"/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110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* Including Operation </a:t>
                      </a:r>
                      <a:r>
                        <a:rPr lang="en-GB" sz="1800" b="1" noProof="0" dirty="0" err="1"/>
                        <a:t>Phakisa</a:t>
                      </a:r>
                      <a:endParaRPr lang="en-GB" sz="1800" b="1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85 786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96 762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104 116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440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79512" y="1"/>
            <a:ext cx="8784976" cy="908719"/>
          </a:xfrm>
        </p:spPr>
        <p:txBody>
          <a:bodyPr/>
          <a:lstStyle/>
          <a:p>
            <a:r>
              <a:rPr lang="en-US" altLang="en-US" sz="2400" b="1" dirty="0" err="1"/>
              <a:t>Programme</a:t>
            </a:r>
            <a:r>
              <a:rPr lang="en-US" altLang="en-US" sz="2400" b="1" dirty="0"/>
              <a:t> 4: </a:t>
            </a:r>
            <a:r>
              <a:rPr lang="en-GB" sz="2400" b="1" dirty="0"/>
              <a:t>Climate Change and Air Quality</a:t>
            </a:r>
            <a:endParaRPr lang="en-US" altLang="en-US" sz="2800" dirty="0">
              <a:solidFill>
                <a:srgbClr val="008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41436"/>
              </p:ext>
            </p:extLst>
          </p:nvPr>
        </p:nvGraphicFramePr>
        <p:xfrm>
          <a:off x="179512" y="1090221"/>
          <a:ext cx="8568952" cy="46487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5107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Sub-Programmes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74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Climate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Change Management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8 012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8 477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9 122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019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Climate Change Mitigation </a:t>
                      </a:r>
                      <a:endParaRPr lang="en-GB" sz="1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9 176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9 708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10 445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602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Climate Change Adaption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5 051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5 344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5 750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28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Air Quality Management 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44 866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47 400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50 897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103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International Climate Change Relations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and Negotiations 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11 660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12 336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13 273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160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Climate Change Monitoring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and Evaluation</a:t>
                      </a:r>
                      <a:r>
                        <a:rPr lang="en-GB" sz="1800" b="0" baseline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10 625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11 241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12 095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South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African Weather Services 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205 482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206 052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/>
                        <a:t>210 294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28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Total</a:t>
                      </a:r>
                      <a:r>
                        <a:rPr lang="en-GB" sz="1800" b="1" baseline="0" noProof="0" dirty="0"/>
                        <a:t> Allocated</a:t>
                      </a:r>
                      <a:endParaRPr lang="en-GB" sz="1800" b="1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294 872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300 558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311 876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363" y="6000750"/>
            <a:ext cx="19812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7364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692695"/>
          </a:xfrm>
        </p:spPr>
        <p:txBody>
          <a:bodyPr/>
          <a:lstStyle/>
          <a:p>
            <a:br>
              <a:rPr lang="en-US" altLang="en-US" sz="2400" b="1" dirty="0">
                <a:solidFill>
                  <a:prstClr val="black"/>
                </a:solidFill>
              </a:rPr>
            </a:br>
            <a:r>
              <a:rPr lang="en-US" altLang="en-US" sz="2400" b="1" dirty="0" err="1">
                <a:solidFill>
                  <a:prstClr val="black"/>
                </a:solidFill>
              </a:rPr>
              <a:t>Programme</a:t>
            </a:r>
            <a:r>
              <a:rPr lang="en-US" altLang="en-US" sz="2400" b="1" dirty="0">
                <a:solidFill>
                  <a:prstClr val="black"/>
                </a:solidFill>
              </a:rPr>
              <a:t> 5: </a:t>
            </a:r>
            <a:r>
              <a:rPr lang="en-GB" sz="2400" b="1" dirty="0"/>
              <a:t>Biodiversity and Conservation</a:t>
            </a:r>
            <a:br>
              <a:rPr lang="en-GB" sz="2400" b="1" dirty="0"/>
            </a:br>
            <a:endParaRPr lang="en-US" altLang="en-US" sz="2400" b="1" dirty="0">
              <a:solidFill>
                <a:srgbClr val="008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590717"/>
              </p:ext>
            </p:extLst>
          </p:nvPr>
        </p:nvGraphicFramePr>
        <p:xfrm>
          <a:off x="107503" y="816733"/>
          <a:ext cx="8496946" cy="47446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9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5773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Sub-Programmes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269">
                <a:tc>
                  <a:txBody>
                    <a:bodyPr/>
                    <a:lstStyle/>
                    <a:p>
                      <a:r>
                        <a:rPr lang="en-ZA" sz="1800" b="1" dirty="0"/>
                        <a:t>Biodiversity</a:t>
                      </a:r>
                      <a:r>
                        <a:rPr lang="en-ZA" sz="1800" b="1" baseline="0" dirty="0"/>
                        <a:t> and Conservation Management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18 966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066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21 591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40">
                <a:tc>
                  <a:txBody>
                    <a:bodyPr/>
                    <a:lstStyle/>
                    <a:p>
                      <a:r>
                        <a:rPr lang="en-ZA" sz="1800" b="1" dirty="0"/>
                        <a:t>Biodiversity Planning</a:t>
                      </a:r>
                      <a:r>
                        <a:rPr lang="en-ZA" sz="1800" b="1" baseline="0" dirty="0"/>
                        <a:t> and Management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724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390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700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ZA" sz="1800" b="1" dirty="0"/>
                        <a:t>Protected</a:t>
                      </a:r>
                      <a:r>
                        <a:rPr lang="en-ZA" sz="1800" b="1" baseline="0" dirty="0"/>
                        <a:t> Areas Systems Management 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52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284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43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928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46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882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Biodiversity Monitoring and Evaluation </a:t>
                      </a:r>
                      <a:endParaRPr lang="en-GB" sz="1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6 892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292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846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69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Biodiversity Economy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and Sustainable Use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865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21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017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22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615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69">
                <a:tc>
                  <a:txBody>
                    <a:bodyPr/>
                    <a:lstStyle/>
                    <a:p>
                      <a:r>
                        <a:rPr lang="en-GB" sz="1800" b="1" noProof="0" dirty="0" err="1">
                          <a:solidFill>
                            <a:schemeClr val="tx1"/>
                          </a:solidFill>
                        </a:rPr>
                        <a:t>Isimangaliso</a:t>
                      </a:r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 Wetland Park Authority 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34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523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36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525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39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302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69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South African National Parks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285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336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302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175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305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085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269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South African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National Biodiversity Institute 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249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928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264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714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285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211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013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Total Allocated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696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518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726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107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761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232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747" y="6197600"/>
            <a:ext cx="1981200" cy="61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4090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764703"/>
          </a:xfrm>
        </p:spPr>
        <p:txBody>
          <a:bodyPr/>
          <a:lstStyle/>
          <a:p>
            <a:pPr eaLnBrk="1" hangingPunct="1"/>
            <a:br>
              <a:rPr lang="en-US" altLang="en-US" sz="2400" b="1" dirty="0">
                <a:solidFill>
                  <a:prstClr val="black"/>
                </a:solidFill>
              </a:rPr>
            </a:br>
            <a:r>
              <a:rPr lang="en-US" altLang="en-US" sz="2400" b="1" dirty="0" err="1">
                <a:solidFill>
                  <a:prstClr val="black"/>
                </a:solidFill>
              </a:rPr>
              <a:t>Programme</a:t>
            </a:r>
            <a:r>
              <a:rPr lang="en-US" altLang="en-US" sz="2400" b="1" dirty="0">
                <a:solidFill>
                  <a:prstClr val="black"/>
                </a:solidFill>
              </a:rPr>
              <a:t> 6: </a:t>
            </a:r>
            <a:r>
              <a:rPr lang="en-GB" sz="2400" b="1" dirty="0">
                <a:solidFill>
                  <a:prstClr val="black"/>
                </a:solidFill>
              </a:rPr>
              <a:t>Environmental Programmes</a:t>
            </a:r>
            <a:br>
              <a:rPr lang="en-GB" sz="2400" b="1" dirty="0">
                <a:solidFill>
                  <a:prstClr val="black"/>
                </a:solidFill>
              </a:rPr>
            </a:br>
            <a:endParaRPr lang="en-US" altLang="en-US" sz="2800" dirty="0">
              <a:solidFill>
                <a:srgbClr val="008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317503"/>
              </p:ext>
            </p:extLst>
          </p:nvPr>
        </p:nvGraphicFramePr>
        <p:xfrm>
          <a:off x="199454" y="819849"/>
          <a:ext cx="8549011" cy="42159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8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2711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Sub-Programmes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80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Environmental Programmes Management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174 149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189 141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217 010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Environmental Protection &amp; Infrastructure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1 086 609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1 102 731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1 156 402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Working for Water &amp;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Working on Fire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2 037 943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1800" b="0" baseline="0" noProof="0" dirty="0">
                          <a:solidFill>
                            <a:schemeClr val="tx1"/>
                          </a:solidFill>
                        </a:rPr>
                        <a:t> 099 352</a:t>
                      </a:r>
                      <a:endParaRPr lang="en-GB" sz="1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2 263 476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873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Management and Sector Coordination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67 285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60 217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61 674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316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Infrastructure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Investment (Public Entities)</a:t>
                      </a:r>
                      <a:endParaRPr lang="en-GB" sz="1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418 768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332 579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304 285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316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DBSA: Green Fund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110 455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95 000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0" noProof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Total</a:t>
                      </a:r>
                      <a:r>
                        <a:rPr lang="en-GB" sz="1800" b="1" baseline="0" noProof="0" dirty="0"/>
                        <a:t> Allocated</a:t>
                      </a:r>
                      <a:endParaRPr lang="en-GB" sz="1800" b="1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3 895 209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3 879 020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4 002 847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363" y="6197600"/>
            <a:ext cx="1981200" cy="54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98922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764703"/>
          </a:xfrm>
        </p:spPr>
        <p:txBody>
          <a:bodyPr/>
          <a:lstStyle/>
          <a:p>
            <a:pPr eaLnBrk="1" hangingPunct="1"/>
            <a:r>
              <a:rPr lang="en-US" altLang="en-US" sz="2400" b="1" dirty="0" err="1"/>
              <a:t>Programme</a:t>
            </a:r>
            <a:r>
              <a:rPr lang="en-US" altLang="en-US" sz="2400" b="1" dirty="0"/>
              <a:t> 7: </a:t>
            </a:r>
            <a:r>
              <a:rPr lang="en-ZA" sz="2400" b="1" dirty="0"/>
              <a:t>Chemical and Waste Management</a:t>
            </a:r>
            <a:endParaRPr lang="en-US" altLang="en-US" sz="2400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798900"/>
              </p:ext>
            </p:extLst>
          </p:nvPr>
        </p:nvGraphicFramePr>
        <p:xfrm>
          <a:off x="323528" y="908720"/>
          <a:ext cx="8568953" cy="55362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9899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Sub-Programmes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2017/18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2018/19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2019/20</a:t>
                      </a:r>
                    </a:p>
                    <a:p>
                      <a:pPr algn="ctr"/>
                      <a:r>
                        <a:rPr lang="en-GB" sz="2000" noProof="0" dirty="0">
                          <a:solidFill>
                            <a:schemeClr val="tx1"/>
                          </a:solidFill>
                        </a:rPr>
                        <a:t>R’000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035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Chemicals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and</a:t>
                      </a:r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 Waste Management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6 482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6 858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7 379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035"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Hazardous</a:t>
                      </a:r>
                      <a:r>
                        <a:rPr lang="en-GB" sz="1800" b="1" baseline="0" noProof="0" dirty="0">
                          <a:solidFill>
                            <a:schemeClr val="tx1"/>
                          </a:solidFill>
                        </a:rPr>
                        <a:t> Waste Management and Licencing</a:t>
                      </a:r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63</a:t>
                      </a:r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 674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121 509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118 739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800" b="1" dirty="0"/>
                        <a:t>General</a:t>
                      </a:r>
                      <a:r>
                        <a:rPr lang="en-ZA" sz="1800" b="1" baseline="0" dirty="0"/>
                        <a:t> Waste and Municipal Services</a:t>
                      </a:r>
                      <a:endParaRPr lang="en-ZA" sz="1800" b="1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39 923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21 079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22 680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30">
                <a:tc>
                  <a:txBody>
                    <a:bodyPr/>
                    <a:lstStyle/>
                    <a:p>
                      <a:r>
                        <a:rPr lang="en-ZA" sz="1800" b="1" baseline="0" dirty="0"/>
                        <a:t>Chemicals and Waste Policy, Evaluation and Monitoring **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baseline="0" dirty="0">
                          <a:solidFill>
                            <a:schemeClr val="tx1"/>
                          </a:solidFill>
                        </a:rPr>
                        <a:t>329 012</a:t>
                      </a:r>
                    </a:p>
                    <a:p>
                      <a:pPr algn="r"/>
                      <a:endParaRPr lang="en-ZA" sz="1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388 894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423 959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035">
                <a:tc>
                  <a:txBody>
                    <a:bodyPr/>
                    <a:lstStyle/>
                    <a:p>
                      <a:r>
                        <a:rPr lang="en-ZA" sz="1800" b="1" dirty="0"/>
                        <a:t>Chemicals Management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>
                          <a:solidFill>
                            <a:schemeClr val="tx1"/>
                          </a:solidFill>
                        </a:rPr>
                        <a:t>11 244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11 896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800" dirty="0"/>
                        <a:t>12 800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49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Total</a:t>
                      </a:r>
                      <a:r>
                        <a:rPr lang="en-GB" sz="1800" b="1" baseline="0" noProof="0" dirty="0"/>
                        <a:t> Allocated</a:t>
                      </a:r>
                      <a:endParaRPr lang="en-GB" sz="1800" b="1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450 335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550 236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585 557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19">
                <a:tc>
                  <a:txBody>
                    <a:bodyPr/>
                    <a:lstStyle/>
                    <a:p>
                      <a:endParaRPr lang="en-GB" sz="800" b="1" noProof="0" dirty="0"/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8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800" b="1" noProof="0" dirty="0"/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800" b="1" noProof="0" dirty="0"/>
                    </a:p>
                  </a:txBody>
                  <a:tcPr marL="91437" marR="91437" marT="45723" marB="45723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5330">
                <a:tc>
                  <a:txBody>
                    <a:bodyPr/>
                    <a:lstStyle/>
                    <a:p>
                      <a:r>
                        <a:rPr lang="en-GB" sz="1800" b="1" noProof="0" dirty="0"/>
                        <a:t>**Including Waste Bureau</a:t>
                      </a:r>
                    </a:p>
                    <a:p>
                      <a:endParaRPr lang="en-GB" sz="1800" b="1" noProof="0" dirty="0"/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>
                          <a:solidFill>
                            <a:schemeClr val="tx1"/>
                          </a:solidFill>
                        </a:rPr>
                        <a:t>310 167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369 220</a:t>
                      </a:r>
                    </a:p>
                  </a:txBody>
                  <a:tcPr marL="91437" marR="91437" marT="45723" marB="4572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 noProof="0" dirty="0"/>
                        <a:t>403 059</a:t>
                      </a:r>
                    </a:p>
                  </a:txBody>
                  <a:tcPr marL="91437" marR="91437"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1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78498"/>
          </a:xfrm>
        </p:spPr>
        <p:txBody>
          <a:bodyPr/>
          <a:lstStyle/>
          <a:p>
            <a:r>
              <a:rPr lang="en-ZA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75913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E1E5F0-A14F-44BC-88E2-993F8A3734C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271853-78AB-40CD-8E68-2DB56CFD28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C6D31E-41B1-4C30-87F2-05046B3A5F6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9094</TotalTime>
  <Words>1992</Words>
  <Application>Microsoft Office PowerPoint</Application>
  <PresentationFormat>On-screen Show (4:3)</PresentationFormat>
  <Paragraphs>778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1_Office Theme</vt:lpstr>
      <vt:lpstr>2_Office Theme</vt:lpstr>
      <vt:lpstr>3_Office Theme</vt:lpstr>
      <vt:lpstr>Office Theme</vt:lpstr>
      <vt:lpstr> MTEF ALLOCATIONS </vt:lpstr>
      <vt:lpstr>MTEF Allocations Per Programme</vt:lpstr>
      <vt:lpstr>MTEF Allocations Per Economical Classification</vt:lpstr>
      <vt:lpstr>MTEF Allocations: Compensation of Employees</vt:lpstr>
      <vt:lpstr>(1) Goods and Services Analysis  per item </vt:lpstr>
      <vt:lpstr>(2)Environmental Sector (EPWP Projects)</vt:lpstr>
      <vt:lpstr>(2)Environmental Sector (EPWP Projects)</vt:lpstr>
      <vt:lpstr> Environmental Sector (EPWP Projects) </vt:lpstr>
      <vt:lpstr>PowerPoint Presentation</vt:lpstr>
      <vt:lpstr>(4)  Non-Profit Institutions</vt:lpstr>
      <vt:lpstr>PowerPoint Presentation</vt:lpstr>
      <vt:lpstr>Programme 1: Administration</vt:lpstr>
      <vt:lpstr>Programme 2: Legal Authorization,  Compliance and Enforcement</vt:lpstr>
      <vt:lpstr>Programme 3: Oceans and Coasts</vt:lpstr>
      <vt:lpstr>Programme 4: Climate Change and Air Quality</vt:lpstr>
      <vt:lpstr> Programme 5: Biodiversity and Conservation </vt:lpstr>
      <vt:lpstr> Programme 6: Environmental Programmes </vt:lpstr>
      <vt:lpstr>Programme 7: Chemical and Waste Management</vt:lpstr>
      <vt:lpstr>Thank You</vt:lpstr>
    </vt:vector>
  </TitlesOfParts>
  <Company>DEAT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VSteyn</dc:creator>
  <cp:lastModifiedBy>Nathan Imse</cp:lastModifiedBy>
  <cp:revision>876</cp:revision>
  <cp:lastPrinted>2017-02-24T12:01:53Z</cp:lastPrinted>
  <dcterms:created xsi:type="dcterms:W3CDTF">2010-05-21T14:46:58Z</dcterms:created>
  <dcterms:modified xsi:type="dcterms:W3CDTF">2025-11-26T22:56:39Z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