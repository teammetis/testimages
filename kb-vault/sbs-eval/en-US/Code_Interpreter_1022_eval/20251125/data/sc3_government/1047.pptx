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4"/>
  </p:sldMasterIdLst>
  <p:notesMasterIdLst>
    <p:notesMasterId r:id="rId34"/>
  </p:notesMasterIdLst>
  <p:handoutMasterIdLst>
    <p:handoutMasterId r:id="rId35"/>
  </p:handout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4" r:id="rId31"/>
    <p:sldId id="282" r:id="rId32"/>
    <p:sldId id="283" r:id="rId33"/>
  </p:sldIdLst>
  <p:sldSz cx="9144000" cy="6858000" type="screen4x3"/>
  <p:notesSz cx="6881813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8">
          <p15:clr>
            <a:srgbClr val="A4A3A4"/>
          </p15:clr>
        </p15:guide>
        <p15:guide id="2" pos="2167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>
    <p:restoredLeft sz="34615" autoAdjust="0"/>
    <p:restoredTop sz="86333" autoAdjust="0"/>
  </p:normalViewPr>
  <p:slideViewPr>
    <p:cSldViewPr>
      <p:cViewPr varScale="1">
        <p:scale>
          <a:sx n="87" d="100"/>
          <a:sy n="87" d="100"/>
        </p:scale>
        <p:origin x="1902" y="30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264" y="86682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6" d="100"/>
          <a:sy n="56" d="100"/>
        </p:scale>
        <p:origin x="-2490" y="-90"/>
      </p:cViewPr>
      <p:guideLst>
        <p:guide orient="horz" pos="2928"/>
        <p:guide pos="2167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tableStyles" Target="tableStyles.xml"/><Relationship Id="rId21" Type="http://schemas.openxmlformats.org/officeDocument/2006/relationships/slide" Target="slides/slide17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handoutMaster" Target="handoutMasters/handoutMaster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2913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97313" y="0"/>
            <a:ext cx="2982912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FBD573-8255-47C4-A3C7-9B9DD0EA65CE}" type="datetimeFigureOut">
              <a:rPr lang="en-US" smtClean="0"/>
              <a:pPr/>
              <a:t>11/26/2025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675"/>
            <a:ext cx="2982913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97313" y="8829675"/>
            <a:ext cx="2982912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360452-6BE0-48B9-960F-754C27994E7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2913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97313" y="0"/>
            <a:ext cx="2982912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C61979-1608-49B6-922A-16E0CC32333B}" type="datetimeFigureOut">
              <a:rPr lang="en-US" smtClean="0"/>
              <a:pPr/>
              <a:t>11/26/2025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17600" y="696913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8975" y="4416425"/>
            <a:ext cx="5505450" cy="41830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675"/>
            <a:ext cx="2982913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97313" y="8829675"/>
            <a:ext cx="2982912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457052-BD13-4520-9DFF-6FDA4257E599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457052-BD13-4520-9DFF-6FDA4257E599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/>
          <p:cNvSpPr/>
          <p:nvPr/>
        </p:nvSpPr>
        <p:spPr>
          <a:xfrm>
            <a:off x="304800" y="329184"/>
            <a:ext cx="8532055" cy="6196819"/>
          </a:xfrm>
          <a:prstGeom prst="roundRect">
            <a:avLst>
              <a:gd name="adj" fmla="val 2081"/>
            </a:avLst>
          </a:prstGeom>
          <a:gradFill flip="none" rotWithShape="1">
            <a:gsLst>
              <a:gs pos="0">
                <a:srgbClr val="FFFFFF">
                  <a:shade val="100000"/>
                </a:srgbClr>
              </a:gs>
              <a:gs pos="98000">
                <a:srgbClr val="FFFFFF">
                  <a:shade val="100000"/>
                </a:srgbClr>
              </a:gs>
              <a:gs pos="99055">
                <a:srgbClr val="FFFFFF">
                  <a:shade val="93000"/>
                </a:srgbClr>
              </a:gs>
              <a:gs pos="100000">
                <a:srgbClr val="FFFFFF">
                  <a:shade val="70000"/>
                </a:srgbClr>
              </a:gs>
            </a:gsLst>
            <a:lin ang="5400000" scaled="1"/>
            <a:tileRect/>
          </a:gradFill>
          <a:ln w="2000" cap="rnd" cmpd="sng" algn="ctr">
            <a:solidFill>
              <a:srgbClr val="302F2C">
                <a:tint val="65000"/>
                <a:satMod val="120000"/>
              </a:srgbClr>
            </a:solidFill>
            <a:prstDash val="solid"/>
          </a:ln>
          <a:effectLst>
            <a:outerShdw blurRad="76200" dist="50800" dir="5400000" algn="tl" rotWithShape="0">
              <a:srgbClr val="000000">
                <a:alpha val="2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ounded Rectangle 9"/>
          <p:cNvSpPr/>
          <p:nvPr/>
        </p:nvSpPr>
        <p:spPr>
          <a:xfrm>
            <a:off x="418596" y="434162"/>
            <a:ext cx="8306809" cy="3108960"/>
          </a:xfrm>
          <a:prstGeom prst="roundRect">
            <a:avLst>
              <a:gd name="adj" fmla="val 4578"/>
            </a:avLst>
          </a:prstGeom>
          <a:gradFill rotWithShape="1">
            <a:gsLst>
              <a:gs pos="0">
                <a:schemeClr val="bg1">
                  <a:tint val="75000"/>
                  <a:satMod val="150000"/>
                </a:schemeClr>
              </a:gs>
              <a:gs pos="55000">
                <a:schemeClr val="bg1">
                  <a:shade val="75000"/>
                  <a:satMod val="100000"/>
                </a:schemeClr>
              </a:gs>
              <a:gs pos="100000">
                <a:schemeClr val="bg1">
                  <a:shade val="35000"/>
                  <a:satMod val="100000"/>
                </a:schemeClr>
              </a:gs>
            </a:gsLst>
            <a:path path="circle">
              <a:fillToRect l="50000" t="175000" r="50000" b="-75000"/>
            </a:path>
          </a:gradFill>
          <a:ln w="889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5" name="Title 4"/>
          <p:cNvSpPr>
            <a:spLocks noGrp="1"/>
          </p:cNvSpPr>
          <p:nvPr>
            <p:ph type="ctrTitle"/>
          </p:nvPr>
        </p:nvSpPr>
        <p:spPr>
          <a:xfrm>
            <a:off x="722376" y="1820206"/>
            <a:ext cx="7772400" cy="1828800"/>
          </a:xfrm>
        </p:spPr>
        <p:txBody>
          <a:bodyPr lIns="45720" rIns="45720" bIns="45720"/>
          <a:lstStyle>
            <a:lvl1pPr algn="r">
              <a:defRPr sz="4500" b="1">
                <a:solidFill>
                  <a:schemeClr val="accent1">
                    <a:tint val="88000"/>
                    <a:satMod val="150000"/>
                  </a:schemeClr>
                </a:solidFill>
                <a:effectLst>
                  <a:outerShdw blurRad="53975" dist="22860" dir="5400000" algn="tl" rotWithShape="0">
                    <a:srgbClr val="000000">
                      <a:alpha val="5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20" name="Subtitle 19"/>
          <p:cNvSpPr>
            <a:spLocks noGrp="1"/>
          </p:cNvSpPr>
          <p:nvPr>
            <p:ph type="subTitle" idx="1"/>
          </p:nvPr>
        </p:nvSpPr>
        <p:spPr>
          <a:xfrm>
            <a:off x="722376" y="3685032"/>
            <a:ext cx="7772400" cy="914400"/>
          </a:xfrm>
        </p:spPr>
        <p:txBody>
          <a:bodyPr lIns="182880" tIns="0"/>
          <a:lstStyle>
            <a:lvl1pPr marL="36576" indent="0" algn="r">
              <a:spcBef>
                <a:spcPts val="0"/>
              </a:spcBef>
              <a:buNone/>
              <a:defRPr sz="2000">
                <a:solidFill>
                  <a:schemeClr val="bg2">
                    <a:shade val="25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19" name="Date Placeholder 1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50A3F2-18ED-4499-8D32-FA1DDEF96FA7}" type="datetimeFigureOut">
              <a:rPr lang="en-US" smtClean="0"/>
              <a:pPr/>
              <a:t>11/26/2025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1A300D-3F22-4EC6-80FF-991E70F2A71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4983480"/>
            <a:ext cx="8183880" cy="105156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2920" y="530352"/>
            <a:ext cx="8183880" cy="4187952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50A3F2-18ED-4499-8D32-FA1DDEF96FA7}" type="datetimeFigureOut">
              <a:rPr lang="en-US" smtClean="0"/>
              <a:pPr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1A300D-3F22-4EC6-80FF-991E70F2A71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/>
          <p:cNvSpPr/>
          <p:nvPr/>
        </p:nvSpPr>
        <p:spPr>
          <a:xfrm>
            <a:off x="304800" y="329184"/>
            <a:ext cx="8532055" cy="6196819"/>
          </a:xfrm>
          <a:prstGeom prst="roundRect">
            <a:avLst>
              <a:gd name="adj" fmla="val 2081"/>
            </a:avLst>
          </a:prstGeom>
          <a:gradFill flip="none" rotWithShape="1">
            <a:gsLst>
              <a:gs pos="0">
                <a:srgbClr val="FFFFFF">
                  <a:shade val="100000"/>
                </a:srgbClr>
              </a:gs>
              <a:gs pos="98000">
                <a:srgbClr val="FFFFFF">
                  <a:shade val="100000"/>
                </a:srgbClr>
              </a:gs>
              <a:gs pos="99055">
                <a:srgbClr val="FFFFFF">
                  <a:shade val="93000"/>
                </a:srgbClr>
              </a:gs>
              <a:gs pos="100000">
                <a:srgbClr val="FFFFFF">
                  <a:shade val="70000"/>
                </a:srgbClr>
              </a:gs>
            </a:gsLst>
            <a:lin ang="5400000" scaled="1"/>
            <a:tileRect/>
          </a:gradFill>
          <a:ln w="2000" cap="rnd" cmpd="sng" algn="ctr">
            <a:solidFill>
              <a:srgbClr val="302F2C">
                <a:tint val="65000"/>
                <a:satMod val="120000"/>
              </a:srgbClr>
            </a:solidFill>
            <a:prstDash val="solid"/>
          </a:ln>
          <a:effectLst>
            <a:outerShdw blurRad="76200" dist="50800" dir="5400000" algn="tl" rotWithShape="0">
              <a:srgbClr val="000000">
                <a:alpha val="2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ounded Rectangle 10"/>
          <p:cNvSpPr/>
          <p:nvPr/>
        </p:nvSpPr>
        <p:spPr>
          <a:xfrm>
            <a:off x="418596" y="434162"/>
            <a:ext cx="8306809" cy="4341329"/>
          </a:xfrm>
          <a:prstGeom prst="roundRect">
            <a:avLst>
              <a:gd name="adj" fmla="val 2127"/>
            </a:avLst>
          </a:prstGeom>
          <a:gradFill rotWithShape="1">
            <a:gsLst>
              <a:gs pos="0">
                <a:schemeClr val="bg1">
                  <a:tint val="75000"/>
                  <a:satMod val="150000"/>
                </a:schemeClr>
              </a:gs>
              <a:gs pos="55000">
                <a:schemeClr val="bg1">
                  <a:shade val="75000"/>
                  <a:satMod val="100000"/>
                </a:schemeClr>
              </a:gs>
              <a:gs pos="100000">
                <a:schemeClr val="bg1">
                  <a:shade val="35000"/>
                  <a:satMod val="100000"/>
                </a:schemeClr>
              </a:gs>
            </a:gsLst>
            <a:path path="circle">
              <a:fillToRect l="50000" t="175000" r="50000" b="-75000"/>
            </a:path>
          </a:gradFill>
          <a:ln w="889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344" y="4928616"/>
            <a:ext cx="8183880" cy="676656"/>
          </a:xfrm>
        </p:spPr>
        <p:txBody>
          <a:bodyPr lIns="91440" bIns="0" anchor="b"/>
          <a:lstStyle>
            <a:lvl1pPr algn="l">
              <a:buNone/>
              <a:defRPr sz="3600" b="0" cap="none" baseline="0">
                <a:solidFill>
                  <a:schemeClr val="bg2">
                    <a:shade val="25000"/>
                  </a:schemeClr>
                </a:solidFill>
                <a:effectLst/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344" y="5624484"/>
            <a:ext cx="8183880" cy="420624"/>
          </a:xfrm>
        </p:spPr>
        <p:txBody>
          <a:bodyPr lIns="118872" tIns="0" anchor="t"/>
          <a:lstStyle>
            <a:lvl1pPr marL="0" marR="36576" indent="0" algn="l"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chemeClr val="accent1">
                    <a:shade val="50000"/>
                    <a:satMod val="110000"/>
                  </a:schemeClr>
                </a:solidFill>
                <a:effectLst/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50A3F2-18ED-4499-8D32-FA1DDEF96FA7}" type="datetimeFigureOut">
              <a:rPr lang="en-US" smtClean="0"/>
              <a:pPr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1A300D-3F22-4EC6-80FF-991E70F2A71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4352" y="530352"/>
            <a:ext cx="3931920" cy="4389120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55360" y="530352"/>
            <a:ext cx="3931920" cy="4389120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50A3F2-18ED-4499-8D32-FA1DDEF96FA7}" type="datetimeFigureOut">
              <a:rPr lang="en-US" smtClean="0"/>
              <a:pPr/>
              <a:t>11/26/2025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1A300D-3F22-4EC6-80FF-991E70F2A71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4983480"/>
            <a:ext cx="8183880" cy="1051560"/>
          </a:xfrm>
        </p:spPr>
        <p:txBody>
          <a:bodyPr anchor="b"/>
          <a:lstStyle>
            <a:lvl1pPr>
              <a:defRPr b="1"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7224" y="579438"/>
            <a:ext cx="3931920" cy="792162"/>
          </a:xfrm>
        </p:spPr>
        <p:txBody>
          <a:bodyPr lIns="146304" anchor="ctr"/>
          <a:lstStyle>
            <a:lvl1pPr marL="0" indent="0" algn="l">
              <a:buNone/>
              <a:defRPr sz="2400" b="1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52169" y="579438"/>
            <a:ext cx="3931920" cy="792162"/>
          </a:xfrm>
        </p:spPr>
        <p:txBody>
          <a:bodyPr lIns="137160" anchor="ctr"/>
          <a:lstStyle>
            <a:lvl1pPr marL="0" indent="0" algn="l">
              <a:buNone/>
              <a:defRPr sz="2400" b="1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607224" y="1447800"/>
            <a:ext cx="3931920" cy="3489960"/>
          </a:xfrm>
        </p:spPr>
        <p:txBody>
          <a:bodyPr anchor="t"/>
          <a:lstStyle>
            <a:lvl1pPr algn="l">
              <a:defRPr sz="2400"/>
            </a:lvl1pPr>
            <a:lvl2pPr algn="l">
              <a:defRPr sz="2000"/>
            </a:lvl2pPr>
            <a:lvl3pPr algn="l">
              <a:defRPr sz="1800"/>
            </a:lvl3pPr>
            <a:lvl4pPr algn="l">
              <a:defRPr sz="1600"/>
            </a:lvl4pPr>
            <a:lvl5pPr algn="l">
              <a:defRPr sz="16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52169" y="1447800"/>
            <a:ext cx="3931920" cy="3489960"/>
          </a:xfrm>
        </p:spPr>
        <p:txBody>
          <a:bodyPr anchor="t"/>
          <a:lstStyle>
            <a:lvl1pPr algn="l">
              <a:defRPr sz="2400"/>
            </a:lvl1pPr>
            <a:lvl2pPr algn="l">
              <a:defRPr sz="2000"/>
            </a:lvl2pPr>
            <a:lvl3pPr algn="l">
              <a:defRPr sz="1800"/>
            </a:lvl3pPr>
            <a:lvl4pPr algn="l">
              <a:defRPr sz="1600"/>
            </a:lvl4pPr>
            <a:lvl5pPr algn="l">
              <a:defRPr sz="16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50A3F2-18ED-4499-8D32-FA1DDEF96FA7}" type="datetimeFigureOut">
              <a:rPr lang="en-US" smtClean="0"/>
              <a:pPr/>
              <a:t>11/26/2025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1A300D-3F22-4EC6-80FF-991E70F2A71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50A3F2-18ED-4499-8D32-FA1DDEF96FA7}" type="datetimeFigureOut">
              <a:rPr lang="en-US" smtClean="0"/>
              <a:pPr/>
              <a:t>11/26/2025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1A300D-3F22-4EC6-80FF-991E70F2A71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6"/>
          <p:cNvSpPr/>
          <p:nvPr/>
        </p:nvSpPr>
        <p:spPr>
          <a:xfrm>
            <a:off x="304800" y="329184"/>
            <a:ext cx="8532055" cy="6196819"/>
          </a:xfrm>
          <a:prstGeom prst="roundRect">
            <a:avLst>
              <a:gd name="adj" fmla="val 2081"/>
            </a:avLst>
          </a:prstGeom>
          <a:gradFill flip="none" rotWithShape="1">
            <a:gsLst>
              <a:gs pos="0">
                <a:srgbClr val="FFFFFF">
                  <a:shade val="100000"/>
                </a:srgbClr>
              </a:gs>
              <a:gs pos="98000">
                <a:srgbClr val="FFFFFF">
                  <a:shade val="100000"/>
                </a:srgbClr>
              </a:gs>
              <a:gs pos="99055">
                <a:srgbClr val="FFFFFF">
                  <a:shade val="93000"/>
                </a:srgbClr>
              </a:gs>
              <a:gs pos="100000">
                <a:srgbClr val="FFFFFF">
                  <a:shade val="70000"/>
                </a:srgbClr>
              </a:gs>
            </a:gsLst>
            <a:lin ang="5400000" scaled="1"/>
            <a:tileRect/>
          </a:gradFill>
          <a:ln w="2000" cap="rnd" cmpd="sng" algn="ctr">
            <a:solidFill>
              <a:srgbClr val="302F2C">
                <a:tint val="65000"/>
                <a:satMod val="120000"/>
              </a:srgbClr>
            </a:solidFill>
            <a:prstDash val="solid"/>
          </a:ln>
          <a:effectLst>
            <a:outerShdw blurRad="76200" dist="50800" dir="5400000" algn="tl" rotWithShape="0">
              <a:srgbClr val="000000">
                <a:alpha val="2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50A3F2-18ED-4499-8D32-FA1DDEF96FA7}" type="datetimeFigureOut">
              <a:rPr lang="en-US" smtClean="0"/>
              <a:pPr/>
              <a:t>11/26/2025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1A300D-3F22-4EC6-80FF-991E70F2A71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38784" y="533400"/>
            <a:ext cx="2971800" cy="914400"/>
          </a:xfrm>
        </p:spPr>
        <p:txBody>
          <a:bodyPr anchor="b"/>
          <a:lstStyle>
            <a:lvl1pPr algn="l">
              <a:buNone/>
              <a:defRPr sz="2200" b="1">
                <a:solidFill>
                  <a:schemeClr val="accent1"/>
                </a:solidFill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5538847" y="1447802"/>
            <a:ext cx="2971800" cy="4206112"/>
          </a:xfrm>
        </p:spPr>
        <p:txBody>
          <a:bodyPr lIns="91440"/>
          <a:lstStyle>
            <a:lvl1pPr marL="18288" marR="18288" indent="0">
              <a:spcBef>
                <a:spcPts val="0"/>
              </a:spcBef>
              <a:buNone/>
              <a:defRPr sz="1400">
                <a:solidFill>
                  <a:schemeClr val="tx1"/>
                </a:solidFill>
              </a:defRPr>
            </a:lvl1pPr>
            <a:lvl2pPr>
              <a:buNone/>
              <a:defRPr sz="1200">
                <a:solidFill>
                  <a:schemeClr val="tx1"/>
                </a:solidFill>
              </a:defRPr>
            </a:lvl2pPr>
            <a:lvl3pPr>
              <a:buNone/>
              <a:defRPr sz="1000">
                <a:solidFill>
                  <a:schemeClr val="tx1"/>
                </a:solidFill>
              </a:defRPr>
            </a:lvl3pPr>
            <a:lvl4pPr>
              <a:buNone/>
              <a:defRPr sz="900">
                <a:solidFill>
                  <a:schemeClr val="tx1"/>
                </a:solidFill>
              </a:defRPr>
            </a:lvl4pPr>
            <a:lvl5pPr>
              <a:buNone/>
              <a:defRPr sz="900">
                <a:solidFill>
                  <a:schemeClr val="tx1"/>
                </a:solidFill>
              </a:defRPr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761372" y="930144"/>
            <a:ext cx="4626159" cy="4724402"/>
          </a:xfrm>
        </p:spPr>
        <p:txBody>
          <a:bodyPr/>
          <a:lstStyle>
            <a:lvl1pPr>
              <a:defRPr sz="2800">
                <a:solidFill>
                  <a:schemeClr val="tx1"/>
                </a:solidFill>
              </a:defRPr>
            </a:lvl1pPr>
            <a:lvl2pPr>
              <a:defRPr sz="2600">
                <a:solidFill>
                  <a:schemeClr val="tx1"/>
                </a:solidFill>
              </a:defRPr>
            </a:lvl2pPr>
            <a:lvl3pPr>
              <a:defRPr sz="2400">
                <a:solidFill>
                  <a:schemeClr val="tx1"/>
                </a:solidFill>
              </a:defRPr>
            </a:lvl3pPr>
            <a:lvl4pPr>
              <a:defRPr sz="2000">
                <a:solidFill>
                  <a:schemeClr val="tx1"/>
                </a:solidFill>
              </a:defRPr>
            </a:lvl4pPr>
            <a:lvl5pPr>
              <a:defRPr sz="2000">
                <a:solidFill>
                  <a:schemeClr val="tx1"/>
                </a:solidFill>
              </a:defRPr>
            </a:lvl5pPr>
            <a:lvl6pPr>
              <a:buNone/>
              <a:defRPr/>
            </a:lvl6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50A3F2-18ED-4499-8D32-FA1DDEF96FA7}" type="datetimeFigureOut">
              <a:rPr lang="en-US" smtClean="0"/>
              <a:pPr/>
              <a:t>11/26/2025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1A300D-3F22-4EC6-80FF-991E70F2A71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/>
          <p:cNvSpPr/>
          <p:nvPr/>
        </p:nvSpPr>
        <p:spPr>
          <a:xfrm>
            <a:off x="304800" y="329184"/>
            <a:ext cx="8532055" cy="6196819"/>
          </a:xfrm>
          <a:prstGeom prst="roundRect">
            <a:avLst>
              <a:gd name="adj" fmla="val 2081"/>
            </a:avLst>
          </a:prstGeom>
          <a:gradFill flip="none" rotWithShape="1">
            <a:gsLst>
              <a:gs pos="0">
                <a:srgbClr val="FFFFFF">
                  <a:shade val="100000"/>
                </a:srgbClr>
              </a:gs>
              <a:gs pos="98000">
                <a:srgbClr val="FFFFFF">
                  <a:shade val="100000"/>
                </a:srgbClr>
              </a:gs>
              <a:gs pos="99055">
                <a:srgbClr val="FFFFFF">
                  <a:shade val="93000"/>
                </a:srgbClr>
              </a:gs>
              <a:gs pos="100000">
                <a:srgbClr val="FFFFFF">
                  <a:shade val="70000"/>
                </a:srgbClr>
              </a:gs>
            </a:gsLst>
            <a:lin ang="5400000" scaled="1"/>
            <a:tileRect/>
          </a:gradFill>
          <a:ln w="2000" cap="rnd" cmpd="sng" algn="ctr">
            <a:solidFill>
              <a:srgbClr val="302F2C">
                <a:tint val="65000"/>
                <a:satMod val="120000"/>
              </a:srgbClr>
            </a:solidFill>
            <a:prstDash val="solid"/>
          </a:ln>
          <a:effectLst>
            <a:outerShdw blurRad="76200" dist="50800" dir="5400000" algn="tl" rotWithShape="0">
              <a:srgbClr val="000000">
                <a:alpha val="2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ound Single Corner Rectangle 10"/>
          <p:cNvSpPr/>
          <p:nvPr/>
        </p:nvSpPr>
        <p:spPr>
          <a:xfrm>
            <a:off x="6400800" y="434162"/>
            <a:ext cx="2324605" cy="4343400"/>
          </a:xfrm>
          <a:prstGeom prst="round1Rect">
            <a:avLst>
              <a:gd name="adj" fmla="val 2748"/>
            </a:avLst>
          </a:prstGeom>
          <a:solidFill>
            <a:srgbClr val="1C1C1C"/>
          </a:solidFill>
          <a:ln w="889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012056"/>
            <a:ext cx="8229600" cy="1051560"/>
          </a:xfrm>
        </p:spPr>
        <p:txBody>
          <a:bodyPr anchor="t"/>
          <a:lstStyle>
            <a:lvl1pPr algn="l">
              <a:buNone/>
              <a:defRPr sz="3600" b="0">
                <a:solidFill>
                  <a:schemeClr val="bg2">
                    <a:shade val="25000"/>
                  </a:schemeClr>
                </a:solidFill>
                <a:effectLst/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White">
          <a:xfrm>
            <a:off x="6462712" y="533400"/>
            <a:ext cx="2240280" cy="4211480"/>
          </a:xfrm>
        </p:spPr>
        <p:txBody>
          <a:bodyPr lIns="91440"/>
          <a:lstStyle>
            <a:lvl1pPr marL="45720" indent="0" algn="l">
              <a:spcBef>
                <a:spcPts val="0"/>
              </a:spcBef>
              <a:buNone/>
              <a:defRPr sz="1400">
                <a:solidFill>
                  <a:srgbClr val="FFFFFF"/>
                </a:solidFill>
              </a:defRPr>
            </a:lvl1pPr>
            <a:lvl2pPr>
              <a:defRPr sz="1200">
                <a:solidFill>
                  <a:srgbClr val="FFFFFF"/>
                </a:solidFill>
              </a:defRPr>
            </a:lvl2pPr>
            <a:lvl3pPr>
              <a:defRPr sz="1000">
                <a:solidFill>
                  <a:srgbClr val="FFFFFF"/>
                </a:solidFill>
              </a:defRPr>
            </a:lvl3pPr>
            <a:lvl4pPr>
              <a:defRPr sz="900">
                <a:solidFill>
                  <a:srgbClr val="FFFFFF"/>
                </a:solidFill>
              </a:defRPr>
            </a:lvl4pPr>
            <a:lvl5pPr>
              <a:defRPr sz="900">
                <a:solidFill>
                  <a:srgbClr val="FFFFFF"/>
                </a:solidFill>
              </a:defRPr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50A3F2-18ED-4499-8D32-FA1DDEF96FA7}" type="datetimeFigureOut">
              <a:rPr lang="en-US" smtClean="0"/>
              <a:pPr/>
              <a:t>11/26/2025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1A300D-3F22-4EC6-80FF-991E70F2A71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21480" y="435768"/>
            <a:ext cx="5925312" cy="4343400"/>
          </a:xfrm>
          <a:prstGeom prst="snipRoundRect">
            <a:avLst>
              <a:gd name="adj1" fmla="val 1040"/>
              <a:gd name="adj2" fmla="val 0"/>
            </a:avLst>
          </a:prstGeom>
          <a:solidFill>
            <a:schemeClr val="bg2">
              <a:shade val="10000"/>
            </a:schemeClr>
          </a:solidFill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en-US"/>
              <a:t>Click icon to add picture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4983480"/>
            <a:ext cx="8183880" cy="105156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2920" y="530352"/>
            <a:ext cx="8183880" cy="4187952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50A3F2-18ED-4499-8D32-FA1DDEF96FA7}" type="datetimeFigureOut">
              <a:rPr lang="en-US" smtClean="0"/>
              <a:pPr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1A300D-3F22-4EC6-80FF-991E70F2A71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533404"/>
            <a:ext cx="1981200" cy="5257799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3400" y="533402"/>
            <a:ext cx="5943600" cy="5257801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50A3F2-18ED-4499-8D32-FA1DDEF96FA7}" type="datetimeFigureOut">
              <a:rPr lang="en-US" smtClean="0"/>
              <a:pPr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1A300D-3F22-4EC6-80FF-991E70F2A71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6"/>
          <p:cNvSpPr/>
          <p:nvPr/>
        </p:nvSpPr>
        <p:spPr>
          <a:xfrm>
            <a:off x="304800" y="329184"/>
            <a:ext cx="8532055" cy="6196819"/>
          </a:xfrm>
          <a:prstGeom prst="roundRect">
            <a:avLst>
              <a:gd name="adj" fmla="val 2081"/>
            </a:avLst>
          </a:prstGeom>
          <a:gradFill flip="none" rotWithShape="1">
            <a:gsLst>
              <a:gs pos="0">
                <a:srgbClr val="FFFFFF">
                  <a:shade val="100000"/>
                </a:srgbClr>
              </a:gs>
              <a:gs pos="98000">
                <a:srgbClr val="FFFFFF">
                  <a:shade val="100000"/>
                </a:srgbClr>
              </a:gs>
              <a:gs pos="99055">
                <a:srgbClr val="FFFFFF">
                  <a:shade val="93000"/>
                </a:srgbClr>
              </a:gs>
              <a:gs pos="100000">
                <a:srgbClr val="FFFFFF">
                  <a:shade val="70000"/>
                </a:srgbClr>
              </a:gs>
            </a:gsLst>
            <a:lin ang="5400000" scaled="1"/>
            <a:tileRect/>
          </a:gradFill>
          <a:ln w="2000" cap="rnd" cmpd="sng" algn="ctr">
            <a:solidFill>
              <a:srgbClr val="302F2C">
                <a:tint val="65000"/>
                <a:satMod val="120000"/>
              </a:srgbClr>
            </a:solidFill>
            <a:prstDash val="solid"/>
          </a:ln>
          <a:effectLst>
            <a:outerShdw blurRad="76200" dist="50800" dir="5400000" algn="tl" rotWithShape="0">
              <a:srgbClr val="000000">
                <a:alpha val="2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ounded Rectangle 8"/>
          <p:cNvSpPr/>
          <p:nvPr/>
        </p:nvSpPr>
        <p:spPr>
          <a:xfrm>
            <a:off x="418596" y="434162"/>
            <a:ext cx="8306809" cy="5486400"/>
          </a:xfrm>
          <a:prstGeom prst="roundRect">
            <a:avLst>
              <a:gd name="adj" fmla="val 2127"/>
            </a:avLst>
          </a:prstGeom>
          <a:gradFill rotWithShape="1">
            <a:gsLst>
              <a:gs pos="0">
                <a:schemeClr val="bg1">
                  <a:tint val="75000"/>
                  <a:satMod val="150000"/>
                </a:schemeClr>
              </a:gs>
              <a:gs pos="55000">
                <a:schemeClr val="bg1">
                  <a:shade val="75000"/>
                  <a:satMod val="100000"/>
                </a:schemeClr>
              </a:gs>
              <a:gs pos="100000">
                <a:schemeClr val="bg1">
                  <a:shade val="35000"/>
                  <a:satMod val="100000"/>
                </a:schemeClr>
              </a:gs>
            </a:gsLst>
            <a:path path="circle">
              <a:fillToRect l="50000" t="175000" r="50000" b="-75000"/>
            </a:path>
          </a:gradFill>
          <a:ln w="889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Title Placeholder 12"/>
          <p:cNvSpPr>
            <a:spLocks noGrp="1"/>
          </p:cNvSpPr>
          <p:nvPr>
            <p:ph type="title"/>
          </p:nvPr>
        </p:nvSpPr>
        <p:spPr>
          <a:xfrm>
            <a:off x="502920" y="4985590"/>
            <a:ext cx="8183880" cy="1051560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502920" y="530352"/>
            <a:ext cx="8183880" cy="4187952"/>
          </a:xfrm>
          <a:prstGeom prst="rect">
            <a:avLst/>
          </a:prstGeom>
        </p:spPr>
        <p:txBody>
          <a:bodyPr vert="horz" lIns="182880" tIns="91440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25" name="Date Placeholder 24"/>
          <p:cNvSpPr>
            <a:spLocks noGrp="1"/>
          </p:cNvSpPr>
          <p:nvPr>
            <p:ph type="dt" sz="half" idx="2"/>
          </p:nvPr>
        </p:nvSpPr>
        <p:spPr>
          <a:xfrm>
            <a:off x="3776328" y="6111875"/>
            <a:ext cx="228600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bg2">
                    <a:shade val="50000"/>
                  </a:schemeClr>
                </a:solidFill>
              </a:defRPr>
            </a:lvl1pPr>
            <a:extLst/>
          </a:lstStyle>
          <a:p>
            <a:fld id="{0B50A3F2-18ED-4499-8D32-FA1DDEF96FA7}" type="datetimeFigureOut">
              <a:rPr lang="en-US" smtClean="0"/>
              <a:pPr/>
              <a:t>11/26/2025</a:t>
            </a:fld>
            <a:endParaRPr lang="en-US"/>
          </a:p>
        </p:txBody>
      </p:sp>
      <p:sp>
        <p:nvSpPr>
          <p:cNvPr id="18" name="Footer Placeholder 17"/>
          <p:cNvSpPr>
            <a:spLocks noGrp="1"/>
          </p:cNvSpPr>
          <p:nvPr>
            <p:ph type="ftr" sz="quarter" idx="3"/>
          </p:nvPr>
        </p:nvSpPr>
        <p:spPr>
          <a:xfrm>
            <a:off x="6062328" y="6111875"/>
            <a:ext cx="2286000" cy="365125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bg2">
                    <a:shade val="50000"/>
                  </a:schemeClr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8348328" y="6111875"/>
            <a:ext cx="45720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bg2">
                    <a:shade val="50000"/>
                  </a:schemeClr>
                </a:solidFill>
              </a:defRPr>
            </a:lvl1pPr>
            <a:extLst/>
          </a:lstStyle>
          <a:p>
            <a:fld id="{D91A300D-3F22-4EC6-80FF-991E70F2A716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rtl="0" eaLnBrk="1" latinLnBrk="0" hangingPunct="1">
        <a:spcBef>
          <a:spcPct val="0"/>
        </a:spcBef>
        <a:buNone/>
        <a:defRPr kumimoji="0" sz="3600" b="1" kern="1200">
          <a:solidFill>
            <a:schemeClr val="accent1">
              <a:tint val="88000"/>
              <a:satMod val="150000"/>
            </a:schemeClr>
          </a:solidFill>
          <a:effectLst>
            <a:outerShdw blurRad="53975" dist="22860" dir="5400000" algn="tl" rotWithShape="0">
              <a:srgbClr val="000000">
                <a:alpha val="5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265176" indent="-265176" algn="l" rtl="0" eaLnBrk="1" latinLnBrk="0" hangingPunct="1">
        <a:spcBef>
          <a:spcPts val="250"/>
        </a:spcBef>
        <a:buClr>
          <a:schemeClr val="accent1"/>
        </a:buClr>
        <a:buSzPct val="80000"/>
        <a:buFont typeface="Wingdings 2"/>
        <a:buChar char=""/>
        <a:defRPr kumimoji="0" sz="28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548640" indent="-201168" algn="l" rtl="0" eaLnBrk="1" latinLnBrk="0" hangingPunct="1">
        <a:spcBef>
          <a:spcPts val="250"/>
        </a:spcBef>
        <a:buClr>
          <a:schemeClr val="accent1"/>
        </a:buClr>
        <a:buSzPct val="100000"/>
        <a:buFont typeface="Verdana"/>
        <a:buChar char="◦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786384" indent="-182880" algn="l" rtl="0" eaLnBrk="1" latinLnBrk="0" hangingPunct="1">
        <a:spcBef>
          <a:spcPts val="250"/>
        </a:spcBef>
        <a:buClr>
          <a:schemeClr val="accent2">
            <a:tint val="85000"/>
            <a:satMod val="285000"/>
          </a:schemeClr>
        </a:buClr>
        <a:buSzPct val="100000"/>
        <a:buFont typeface="Wingdings 2"/>
        <a:buChar char=""/>
        <a:defRPr kumimoji="0"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024128" indent="-182880" algn="l" rtl="0" eaLnBrk="1" latinLnBrk="0" hangingPunct="1">
        <a:spcBef>
          <a:spcPts val="230"/>
        </a:spcBef>
        <a:buClr>
          <a:schemeClr val="accent2">
            <a:tint val="85000"/>
            <a:satMod val="285000"/>
          </a:schemeClr>
        </a:buClr>
        <a:buSzPct val="112000"/>
        <a:buFont typeface="Verdana"/>
        <a:buChar char="◦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rtl="0" eaLnBrk="1" latinLnBrk="0" hangingPunct="1">
        <a:spcBef>
          <a:spcPts val="250"/>
        </a:spcBef>
        <a:buClr>
          <a:schemeClr val="accent3">
            <a:tint val="85000"/>
            <a:satMod val="275000"/>
          </a:schemeClr>
        </a:buClr>
        <a:buSzPct val="100000"/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490472" indent="-182880" algn="l" rtl="0" eaLnBrk="1" latinLnBrk="0" hangingPunct="1">
        <a:spcBef>
          <a:spcPts val="250"/>
        </a:spcBef>
        <a:buClr>
          <a:schemeClr val="accent3">
            <a:tint val="85000"/>
            <a:satMod val="275000"/>
          </a:schemeClr>
        </a:buClr>
        <a:buSzPct val="100000"/>
        <a:buFont typeface="Verdana"/>
        <a:buChar char="◦"/>
        <a:defRPr kumimoji="0" sz="17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700784" indent="-182880" algn="l" rtl="0" eaLnBrk="1" latinLnBrk="0" hangingPunct="1">
        <a:spcBef>
          <a:spcPts val="255"/>
        </a:spcBef>
        <a:buClr>
          <a:schemeClr val="accent3">
            <a:tint val="85000"/>
            <a:satMod val="275000"/>
          </a:schemeClr>
        </a:buClr>
        <a:buSzPct val="100000"/>
        <a:buFont typeface="Wingdings 2"/>
        <a:buChar char="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spcBef>
          <a:spcPts val="257"/>
        </a:spcBef>
        <a:buClr>
          <a:schemeClr val="accent3">
            <a:tint val="85000"/>
            <a:satMod val="275000"/>
          </a:schemeClr>
        </a:buClr>
        <a:buSzPct val="100000"/>
        <a:buFont typeface="Verdana"/>
        <a:buChar char="◦"/>
        <a:defRPr kumimoji="0" sz="15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148840" indent="-182880" algn="l" rtl="0" eaLnBrk="1" latinLnBrk="0" hangingPunct="1">
        <a:spcBef>
          <a:spcPts val="255"/>
        </a:spcBef>
        <a:buClr>
          <a:schemeClr val="accent3">
            <a:tint val="85000"/>
            <a:satMod val="275000"/>
          </a:schemeClr>
        </a:buClr>
        <a:buSzPct val="100000"/>
        <a:buFont typeface="Wingdings 2"/>
        <a:buChar char="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../expansion.asf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hyperlink" Target="../alaska.asf" TargetMode="External"/><Relationship Id="rId4" Type="http://schemas.openxmlformats.org/officeDocument/2006/relationships/hyperlink" Target="../japan.asf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hyperlink" Target="../hawaii.asf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wm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../spanish%20am%20war.asf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hyperlink" Target="../open%20door.asf" TargetMode="Externa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gif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9600" y="914400"/>
            <a:ext cx="7772400" cy="1470025"/>
          </a:xfrm>
        </p:spPr>
        <p:txBody>
          <a:bodyPr/>
          <a:lstStyle/>
          <a:p>
            <a:r>
              <a:rPr lang="en-US" dirty="0"/>
              <a:t>Imperialism-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95400" y="2438400"/>
            <a:ext cx="6400800" cy="1752600"/>
          </a:xfrm>
        </p:spPr>
        <p:txBody>
          <a:bodyPr>
            <a:normAutofit/>
          </a:bodyPr>
          <a:lstStyle/>
          <a:p>
            <a:r>
              <a:rPr lang="en-US" dirty="0"/>
              <a:t>The policy by which strong nations extend their political, military, and economic control over weaker territories.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52600" y="4267200"/>
            <a:ext cx="60198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dirty="0"/>
              <a:t>How and why did the US take a more active role in world affairs?</a:t>
            </a:r>
          </a:p>
          <a:p>
            <a:pPr marL="342900" indent="-342900">
              <a:buAutoNum type="arabicPeriod"/>
            </a:pPr>
            <a:r>
              <a:rPr lang="en-US" dirty="0"/>
              <a:t>What lands did the US acquire to become more imperialistic</a:t>
            </a:r>
          </a:p>
          <a:p>
            <a:pPr marL="342900" indent="-342900">
              <a:buAutoNum type="arabicPeriod"/>
            </a:pPr>
            <a:r>
              <a:rPr lang="en-US" dirty="0"/>
              <a:t>What were the Causes and Effects of the Spanish American War?</a:t>
            </a:r>
          </a:p>
          <a:p>
            <a:pPr marL="342900" indent="-342900">
              <a:buAutoNum type="arabicPeriod"/>
            </a:pPr>
            <a:r>
              <a:rPr lang="en-US" dirty="0"/>
              <a:t>What were the United  States relations with Asia, and Latin America?  </a:t>
            </a:r>
          </a:p>
          <a:p>
            <a:pPr marL="342900" indent="-342900">
              <a:buAutoNum type="arabicPeriod"/>
            </a:pPr>
            <a:endParaRPr lang="en-US" dirty="0"/>
          </a:p>
          <a:p>
            <a:pPr marL="342900" indent="-342900">
              <a:buAutoNum type="arabicPeriod"/>
            </a:pP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Raw Materials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Many countries were rushing to establish colonies due to a need for raw materials. </a:t>
            </a:r>
          </a:p>
          <a:p>
            <a:pPr lvl="1"/>
            <a:r>
              <a:rPr lang="en-US" dirty="0"/>
              <a:t>Tea, rubber, iron, petroleum </a:t>
            </a:r>
          </a:p>
          <a:p>
            <a:pPr lvl="1"/>
            <a:r>
              <a:rPr lang="en-US" dirty="0"/>
              <a:t>These nations are Extractive Economies- </a:t>
            </a:r>
          </a:p>
          <a:p>
            <a:pPr lvl="2"/>
            <a:r>
              <a:rPr lang="en-US" dirty="0"/>
              <a:t>Imperial countries that extract or remove raw materials from the colony and ship them to the mother land. 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828800" y="3657600"/>
            <a:ext cx="6400800" cy="1828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United States	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Raw Materials were not the US’s problem</a:t>
            </a:r>
          </a:p>
          <a:p>
            <a:r>
              <a:rPr lang="en-US" dirty="0"/>
              <a:t>They were producing too many goods for American’s to consume</a:t>
            </a:r>
          </a:p>
          <a:p>
            <a:r>
              <a:rPr lang="en-US" dirty="0"/>
              <a:t>Farmers and Congressmen alike urged World trade in order to expand their </a:t>
            </a:r>
            <a:r>
              <a:rPr lang="en-US" dirty="0">
                <a:hlinkClick r:id="rId2" action="ppaction://hlinkfile"/>
              </a:rPr>
              <a:t>market</a:t>
            </a:r>
            <a:endParaRPr lang="en-US" dirty="0"/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Military Strength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Imperial nations needed a strong military in order to acquire its colonies</a:t>
            </a:r>
          </a:p>
          <a:p>
            <a:r>
              <a:rPr lang="en-US" dirty="0"/>
              <a:t>The United States built a larger and more efficient Navy in order to build bases world wide. </a:t>
            </a:r>
          </a:p>
          <a:p>
            <a:pPr lvl="1"/>
            <a:r>
              <a:rPr lang="en-US" dirty="0"/>
              <a:t>Needed to resupply their ships across trade routes</a:t>
            </a:r>
          </a:p>
          <a:p>
            <a:pPr lvl="1"/>
            <a:r>
              <a:rPr lang="en-US" dirty="0"/>
              <a:t>Had the 3</a:t>
            </a:r>
            <a:r>
              <a:rPr lang="en-US" baseline="30000" dirty="0"/>
              <a:t>rd</a:t>
            </a:r>
            <a:r>
              <a:rPr lang="en-US" dirty="0"/>
              <a:t> largest navy in the world by 1900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Frontier Closed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At the turn of the century Frederick Jackson Turner proclaimed the Frontier Closed</a:t>
            </a:r>
          </a:p>
          <a:p>
            <a:pPr lvl="1"/>
            <a:r>
              <a:rPr lang="en-US" dirty="0"/>
              <a:t>People believed that in order to protect the US from internal Conflict we needed to seek lands outside our borders</a:t>
            </a:r>
          </a:p>
          <a:p>
            <a:r>
              <a:rPr lang="en-US" dirty="0"/>
              <a:t>Many were influenced by Social Darwinism and the ideas of Manifest Destiny to expand America’s influence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315200" y="609600"/>
            <a:ext cx="1428750" cy="13871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US Takes Steps Toward World Power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457200"/>
            <a:ext cx="7239000" cy="457200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Commodore Matthew Perry negotiated open trade agreements with </a:t>
            </a:r>
            <a:r>
              <a:rPr lang="en-US" dirty="0">
                <a:hlinkClick r:id="rId4" action="ppaction://hlinkfile"/>
              </a:rPr>
              <a:t>Japan</a:t>
            </a:r>
            <a:r>
              <a:rPr lang="en-US" dirty="0"/>
              <a:t> in 1853</a:t>
            </a:r>
          </a:p>
          <a:p>
            <a:r>
              <a:rPr lang="en-US" dirty="0"/>
              <a:t>In 1867 Secretary of State William Seward bought </a:t>
            </a:r>
            <a:r>
              <a:rPr lang="en-US" dirty="0">
                <a:hlinkClick r:id="rId5" action="ppaction://hlinkfile"/>
              </a:rPr>
              <a:t>Alaska</a:t>
            </a:r>
            <a:r>
              <a:rPr lang="en-US" dirty="0"/>
              <a:t> from Russia for $7.2 million.</a:t>
            </a:r>
          </a:p>
          <a:p>
            <a:pPr lvl="1"/>
            <a:r>
              <a:rPr lang="en-US" dirty="0"/>
              <a:t>Doubled the countries size and gave the US access to vast resources</a:t>
            </a:r>
          </a:p>
          <a:p>
            <a:r>
              <a:rPr lang="en-US" dirty="0"/>
              <a:t>Pan-American Highway system was established linking US Businessmen with Latin America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tabLst>
                <a:tab pos="1778000" algn="l"/>
              </a:tabLst>
            </a:pPr>
            <a:r>
              <a:rPr lang="en-US" dirty="0">
                <a:hlinkClick r:id="rId2" action="ppaction://hlinkfile"/>
              </a:rPr>
              <a:t>Hawaii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Since the 1790’s US merchants have stopped in Hawaii to re-supply ships</a:t>
            </a:r>
          </a:p>
          <a:p>
            <a:r>
              <a:rPr lang="en-US" dirty="0"/>
              <a:t>Christian missions and sugar plantations had been established as well</a:t>
            </a:r>
          </a:p>
          <a:p>
            <a:r>
              <a:rPr lang="en-US" dirty="0"/>
              <a:t>In 1891 the Queen of Hawaii abolished the Hawaiian Constitution and limited the rights of wealthy plantation owners</a:t>
            </a:r>
          </a:p>
          <a:p>
            <a:r>
              <a:rPr lang="en-US" dirty="0"/>
              <a:t>In 1893 planters overthrew the Queen and were assisted by US marines.</a:t>
            </a:r>
          </a:p>
          <a:p>
            <a:r>
              <a:rPr lang="en-US" dirty="0"/>
              <a:t>Hawaii asked for annexation to the United States and in 1898 it was approved. </a:t>
            </a:r>
          </a:p>
        </p:txBody>
      </p:sp>
      <p:pic>
        <p:nvPicPr>
          <p:cNvPr id="3075" name="Picture 3" descr="C:\Documents and Settings\f352856\Local Settings\Temporary Internet Files\Content.IE5\6PUNONOL\MP900443871[1]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096000" y="4267200"/>
            <a:ext cx="2587752" cy="172212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Cuba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Late 1800’s American Businessmen had invested millions in Cuban Sugar cane plantations</a:t>
            </a:r>
          </a:p>
          <a:p>
            <a:r>
              <a:rPr lang="en-US" dirty="0"/>
              <a:t>Cubans wanted freedom and constantly rebelled against the Spaniards </a:t>
            </a:r>
          </a:p>
          <a:p>
            <a:r>
              <a:rPr lang="en-US" dirty="0"/>
              <a:t>Spanish military forced rebels into concentration camps </a:t>
            </a:r>
          </a:p>
          <a:p>
            <a:pPr lvl="1"/>
            <a:r>
              <a:rPr lang="en-US" dirty="0"/>
              <a:t>Thousands died of disease and starvation</a:t>
            </a:r>
          </a:p>
          <a:p>
            <a:r>
              <a:rPr lang="en-US" dirty="0"/>
              <a:t>Many Americans favored the Cuban cause</a:t>
            </a:r>
          </a:p>
        </p:txBody>
      </p:sp>
      <p:pic>
        <p:nvPicPr>
          <p:cNvPr id="4098" name="Picture 2" descr="C:\Documents and Settings\f352856\Local Settings\Temporary Internet Files\Content.IE5\6PUNONOL\MC900128902[1].wmf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172200" y="4495800"/>
            <a:ext cx="2487778" cy="183515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Yellow Press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William Randolph Hearst and John Pulitzer sensationalized reports from Cuba in order to sell more papers</a:t>
            </a:r>
          </a:p>
          <a:p>
            <a:r>
              <a:rPr lang="en-US" dirty="0"/>
              <a:t>President McKinley told Spain to settle the rebellion or the US would take steps to do so</a:t>
            </a:r>
          </a:p>
          <a:p>
            <a:r>
              <a:rPr lang="en-US" dirty="0"/>
              <a:t>After peace negotiations failed McKinley sent in USS Maine</a:t>
            </a:r>
          </a:p>
          <a:p>
            <a:r>
              <a:rPr lang="en-US" dirty="0"/>
              <a:t>A letter from the Spanish Ambassador leaked to the press which calls McKinley weak and stupid, which fueled nationalism throughout the country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Remember the Maine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Early in 1898 the USS Maine exploded in Havana Harbor killing 266</a:t>
            </a:r>
          </a:p>
          <a:p>
            <a:pPr lvl="1"/>
            <a:r>
              <a:rPr lang="en-US" dirty="0"/>
              <a:t>Naval investigation claimed a land mine had caused the explosion</a:t>
            </a:r>
          </a:p>
          <a:p>
            <a:pPr lvl="1"/>
            <a:r>
              <a:rPr lang="en-US" dirty="0"/>
              <a:t>Many blamed Spain</a:t>
            </a:r>
          </a:p>
          <a:p>
            <a:r>
              <a:rPr lang="en-US" dirty="0"/>
              <a:t>Spain had agreed to American demands regarding the Concentration camps, but war fever led McKinley to ask Congress to allow force against Spain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hlinkClick r:id="rId2" action="ppaction://hlinkfile"/>
              </a:rPr>
              <a:t>Spanish American War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Philippines:  May 1898</a:t>
            </a:r>
          </a:p>
          <a:p>
            <a:pPr lvl="1"/>
            <a:r>
              <a:rPr lang="en-US" dirty="0"/>
              <a:t>Commodore George Dewey surprise attacked Spanish navy in Manila Bay and destroyed their fleet</a:t>
            </a:r>
          </a:p>
          <a:p>
            <a:pPr lvl="1"/>
            <a:r>
              <a:rPr lang="en-US" dirty="0"/>
              <a:t>Filipino nationalists led by Emilio Aguinaldo rose up against the Spanish Army in the Philippines and successfully defeated them by August and the Spanish surrendered to the US</a:t>
            </a:r>
          </a:p>
          <a:p>
            <a:pPr lvl="1"/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Spanish American War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Cuba: June 1898</a:t>
            </a:r>
          </a:p>
          <a:p>
            <a:pPr lvl="1"/>
            <a:r>
              <a:rPr lang="en-US" dirty="0"/>
              <a:t>US Marines landed in Guantanamo Bay</a:t>
            </a:r>
          </a:p>
          <a:p>
            <a:pPr lvl="1"/>
            <a:r>
              <a:rPr lang="en-US" dirty="0"/>
              <a:t>The soldiers were ill equipped and trained for Cuba’s tropical climates</a:t>
            </a:r>
          </a:p>
          <a:p>
            <a:r>
              <a:rPr lang="en-US" dirty="0"/>
              <a:t>The Rough Riders</a:t>
            </a:r>
          </a:p>
          <a:p>
            <a:pPr lvl="1"/>
            <a:r>
              <a:rPr lang="en-US" dirty="0"/>
              <a:t>Westerners and upper class easterners fought alongside African American troops from 9</a:t>
            </a:r>
            <a:r>
              <a:rPr lang="en-US" baseline="30000" dirty="0"/>
              <a:t>th</a:t>
            </a:r>
            <a:r>
              <a:rPr lang="en-US" dirty="0"/>
              <a:t> and 10</a:t>
            </a:r>
            <a:r>
              <a:rPr lang="en-US" baseline="30000" dirty="0"/>
              <a:t>th</a:t>
            </a:r>
            <a:r>
              <a:rPr lang="en-US" dirty="0"/>
              <a:t> cavalry </a:t>
            </a:r>
          </a:p>
          <a:p>
            <a:pPr lvl="1"/>
            <a:r>
              <a:rPr lang="en-US" dirty="0"/>
              <a:t>Showed superb gallantry at Kettle and San Juan Hill</a:t>
            </a:r>
          </a:p>
          <a:p>
            <a:r>
              <a:rPr lang="en-US" dirty="0"/>
              <a:t>Spaniards surrendered Cuba after US forces destroyed naval Fleet and defeated Army</a:t>
            </a:r>
          </a:p>
          <a:p>
            <a:pPr lvl="1"/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Spanish American War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Puerto Rico-</a:t>
            </a:r>
          </a:p>
          <a:p>
            <a:pPr lvl="1"/>
            <a:r>
              <a:rPr lang="en-US" dirty="0"/>
              <a:t>US troops took control of Puerto Rico and defeated Spanish Army </a:t>
            </a:r>
          </a:p>
          <a:p>
            <a:pPr lvl="1"/>
            <a:r>
              <a:rPr lang="en-US" dirty="0"/>
              <a:t>Spanish Troops surrendered territory</a:t>
            </a:r>
          </a:p>
        </p:txBody>
      </p:sp>
      <p:pic>
        <p:nvPicPr>
          <p:cNvPr id="1026" name="Picture 2" descr="C:\Documents and Settings\f352856\Local Settings\Temporary Internet Files\Content.IE5\0DKN2VG5\MC900189304[1]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038600" y="2743200"/>
            <a:ext cx="3593784" cy="225399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“Splendid Little War”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3,000 American Deaths (380 due to combat)</a:t>
            </a:r>
          </a:p>
          <a:p>
            <a:r>
              <a:rPr lang="en-US" dirty="0"/>
              <a:t>Treaty of Paris</a:t>
            </a:r>
          </a:p>
          <a:p>
            <a:pPr lvl="1"/>
            <a:r>
              <a:rPr lang="en-US" dirty="0"/>
              <a:t>Signed in December 1898 officially ended the war</a:t>
            </a:r>
          </a:p>
          <a:p>
            <a:pPr lvl="1"/>
            <a:r>
              <a:rPr lang="en-US" dirty="0"/>
              <a:t>Spain gave up control of Cuba, Puerto Rico, and Guam</a:t>
            </a:r>
          </a:p>
          <a:p>
            <a:pPr lvl="1"/>
            <a:r>
              <a:rPr lang="en-US" dirty="0"/>
              <a:t>Sold Philippines to US for $20 million</a:t>
            </a:r>
          </a:p>
        </p:txBody>
      </p:sp>
      <p:pic>
        <p:nvPicPr>
          <p:cNvPr id="4" name="Picture 3" descr="john_hay_1897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629400" y="3886200"/>
            <a:ext cx="1940921" cy="1607058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Philippines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Aguinaldo did not want Spanish rule or US rule so he formed a rebellion against the US</a:t>
            </a:r>
          </a:p>
          <a:p>
            <a:r>
              <a:rPr lang="en-US" dirty="0"/>
              <a:t>Gorilla warfare broke out throughout the Philippines</a:t>
            </a:r>
          </a:p>
          <a:p>
            <a:pPr lvl="1"/>
            <a:r>
              <a:rPr lang="en-US" dirty="0"/>
              <a:t>American military used extreme force against rebels</a:t>
            </a:r>
          </a:p>
          <a:p>
            <a:pPr lvl="2"/>
            <a:r>
              <a:rPr lang="en-US" dirty="0"/>
              <a:t>Concentration camps</a:t>
            </a:r>
          </a:p>
          <a:p>
            <a:r>
              <a:rPr lang="en-US" dirty="0"/>
              <a:t>Aguinaldo was captured in 1901 and fighting soon stopped</a:t>
            </a:r>
          </a:p>
          <a:p>
            <a:r>
              <a:rPr lang="en-US" dirty="0"/>
              <a:t>5,000 Americans died and 200,000 Filipinos died</a:t>
            </a:r>
          </a:p>
          <a:p>
            <a:pPr lvl="2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Reforming The Philippines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William H. Taft took over as Governor following the rebellion</a:t>
            </a:r>
          </a:p>
          <a:p>
            <a:r>
              <a:rPr lang="en-US" dirty="0"/>
              <a:t>Built schools, roads, and bridges</a:t>
            </a:r>
          </a:p>
          <a:p>
            <a:r>
              <a:rPr lang="en-US" dirty="0"/>
              <a:t>Press was censored</a:t>
            </a:r>
          </a:p>
          <a:p>
            <a:r>
              <a:rPr lang="en-US" dirty="0"/>
              <a:t>Dissidents were put in jail to keep order</a:t>
            </a:r>
          </a:p>
          <a:p>
            <a:r>
              <a:rPr lang="en-US" dirty="0"/>
              <a:t>Congress passed the Jones Act in 1916 which promised Filipino independence eventually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China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China had fallen on hard time times economically, politically, and militarily </a:t>
            </a:r>
          </a:p>
          <a:p>
            <a:r>
              <a:rPr lang="en-US" dirty="0"/>
              <a:t>European nations and Japan carved China up into spheres of influence to gain access to Chinese trade</a:t>
            </a:r>
          </a:p>
          <a:p>
            <a:r>
              <a:rPr lang="en-US" dirty="0"/>
              <a:t>The US did not have a sphere and was worried they would not be able to keep trade relations in China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Boxer Rebellion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Chinese men and women joined secret societies against foreign influence</a:t>
            </a:r>
          </a:p>
          <a:p>
            <a:r>
              <a:rPr lang="en-US" dirty="0"/>
              <a:t>In May 1900 The Boxers or “ Harmonious Fists” killed foreign missionaries and rioted in the diplomat district of Beijing </a:t>
            </a:r>
          </a:p>
          <a:p>
            <a:r>
              <a:rPr lang="en-US" dirty="0"/>
              <a:t>20,000 troops (2,000 US) squashed the riot</a:t>
            </a:r>
          </a:p>
          <a:p>
            <a:r>
              <a:rPr lang="en-US" dirty="0"/>
              <a:t>Foreign nations demanded retribution from the Chinese Government</a:t>
            </a:r>
          </a:p>
          <a:p>
            <a:r>
              <a:rPr lang="en-US" dirty="0"/>
              <a:t>In 1911 the Chinese emperor was overthrown by nationalists 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hlinkClick r:id="rId2" action="ppaction://hlinkfile"/>
              </a:rPr>
              <a:t>Open Door Policy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American Secretary of State John Hay sent a note to all Foreign influences in China</a:t>
            </a:r>
          </a:p>
          <a:p>
            <a:pPr lvl="1"/>
            <a:r>
              <a:rPr lang="en-US" dirty="0"/>
              <a:t>Said he did not want colonies in China just free trade</a:t>
            </a:r>
          </a:p>
          <a:p>
            <a:pPr lvl="1"/>
            <a:r>
              <a:rPr lang="en-US" dirty="0"/>
              <a:t>In order to keep on China’s good side the US used the retribution money to give Chinese students scholarships to study in America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Japan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Japan disapproved of the carving up of China, and really did not like Russia being in Manchuria</a:t>
            </a:r>
          </a:p>
          <a:p>
            <a:r>
              <a:rPr lang="en-US" dirty="0"/>
              <a:t>In 1904 without Declaration of War, Japan attacked Russia’s Pacific fleet</a:t>
            </a:r>
          </a:p>
          <a:p>
            <a:pPr lvl="1"/>
            <a:r>
              <a:rPr lang="en-US" dirty="0"/>
              <a:t>Russia had over 100,000 casualties</a:t>
            </a:r>
          </a:p>
          <a:p>
            <a:r>
              <a:rPr lang="en-US" dirty="0"/>
              <a:t>President Roosevelt encouraged a peace treaty between Russia and Japan, which became settled in 1905</a:t>
            </a:r>
          </a:p>
          <a:p>
            <a:pPr lvl="1"/>
            <a:r>
              <a:rPr lang="en-US" dirty="0"/>
              <a:t>Roosevelt Received the Nobel Peace Prize</a:t>
            </a:r>
          </a:p>
          <a:p>
            <a:pPr lvl="1"/>
            <a:endParaRPr lang="en-US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Gentlemen's Agreement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Japanese and US tensions remained high due to American’s discrimination towards Asians</a:t>
            </a:r>
          </a:p>
          <a:p>
            <a:pPr lvl="1"/>
            <a:r>
              <a:rPr lang="en-US" dirty="0"/>
              <a:t>1906 San Francisco school board banned Japanese, Chinese, and Korean students from attending school with whites</a:t>
            </a:r>
          </a:p>
          <a:p>
            <a:pPr lvl="1"/>
            <a:r>
              <a:rPr lang="en-US" dirty="0"/>
              <a:t>Japan’s newspapers cried for retaliation due to the humiliation </a:t>
            </a:r>
          </a:p>
          <a:p>
            <a:r>
              <a:rPr lang="en-US" dirty="0"/>
              <a:t>Roosevelt encouraged the school board to reverse their decision while working with Japanese government to discourage immigration to the states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Great White Fleet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Roosevelt wanted to use diplomacy to ease tensions</a:t>
            </a:r>
          </a:p>
          <a:p>
            <a:r>
              <a:rPr lang="en-US" dirty="0"/>
              <a:t>He got permission from Congress to send a navy fleet on a good will mission</a:t>
            </a:r>
          </a:p>
          <a:p>
            <a:r>
              <a:rPr lang="en-US" dirty="0"/>
              <a:t>16 white battleships sailed around the world </a:t>
            </a:r>
          </a:p>
          <a:p>
            <a:r>
              <a:rPr lang="en-US" dirty="0"/>
              <a:t>The trip proved America’s growing strength as a world power </a:t>
            </a:r>
          </a:p>
        </p:txBody>
      </p:sp>
      <p:pic>
        <p:nvPicPr>
          <p:cNvPr id="2050" name="Picture 2" descr="C:\Documents and Settings\f352856\Local Settings\Temporary Internet Files\Content.IE5\6PUNONOL\MP900289248[1]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86000" y="4267200"/>
            <a:ext cx="3657600" cy="122529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Puerto Rico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Following the Spanish American War Puerto Rico became a territory of the US</a:t>
            </a:r>
          </a:p>
          <a:p>
            <a:r>
              <a:rPr lang="en-US" dirty="0"/>
              <a:t>Congress passed Foraker Act in 1900, allowing the President to appoint a governor to Puerto Rico.</a:t>
            </a:r>
          </a:p>
          <a:p>
            <a:r>
              <a:rPr lang="en-US" dirty="0"/>
              <a:t>In 1917 President Wilson signed Jones-</a:t>
            </a:r>
            <a:r>
              <a:rPr lang="en-US" dirty="0" err="1"/>
              <a:t>Shafroth</a:t>
            </a:r>
            <a:r>
              <a:rPr lang="en-US" dirty="0"/>
              <a:t> Act allowing Puerto Ricans more citizenship rights to the US but not complete citizenship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Cuba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Although Cuba was not a territory of the US, Americans still held influence in the country</a:t>
            </a:r>
          </a:p>
          <a:p>
            <a:r>
              <a:rPr lang="en-US" dirty="0"/>
              <a:t>In 1902 US encouraged Cuba to add the Platt Amendment to its Constitution</a:t>
            </a:r>
          </a:p>
          <a:p>
            <a:pPr lvl="1"/>
            <a:r>
              <a:rPr lang="en-US" dirty="0"/>
              <a:t>Restricted Cuba from signing any treaty with another country with US approval </a:t>
            </a:r>
          </a:p>
          <a:p>
            <a:pPr lvl="1"/>
            <a:r>
              <a:rPr lang="en-US" dirty="0"/>
              <a:t>Required Cuba to lease naval stations to the US</a:t>
            </a:r>
          </a:p>
          <a:p>
            <a:pPr lvl="1"/>
            <a:r>
              <a:rPr lang="en-US" dirty="0"/>
              <a:t>Gave US the right to intervene to preserve order in Cuba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Big Stick Diplomacy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3400" y="533400"/>
            <a:ext cx="4419600" cy="4876800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Roosevelt believed that it was US’s responsibility to uplift and “civilize” weaker nations</a:t>
            </a:r>
          </a:p>
          <a:p>
            <a:r>
              <a:rPr lang="en-US" dirty="0"/>
              <a:t>He felt it was necessary to have a strong military during the imperial age to protect the balance of powers</a:t>
            </a:r>
          </a:p>
          <a:p>
            <a:r>
              <a:rPr lang="en-US" dirty="0"/>
              <a:t>During the early 1903 many Latin American Countries could not repay debts to foreign nations and Roosevelt Worried about intervention</a:t>
            </a:r>
          </a:p>
          <a:p>
            <a:r>
              <a:rPr lang="en-US" dirty="0"/>
              <a:t>He issued the Roosevelt Corollary in 1904</a:t>
            </a:r>
          </a:p>
          <a:p>
            <a:pPr lvl="1"/>
            <a:r>
              <a:rPr lang="en-US" sz="2600" dirty="0"/>
              <a:t>Warning other nations to stay out of the Western Hemisphere but US intervention is sometimes justified</a:t>
            </a:r>
          </a:p>
          <a:p>
            <a:pPr lvl="1"/>
            <a:r>
              <a:rPr lang="en-US" sz="2600" dirty="0"/>
              <a:t>Known as an extension to the Monroe Doctrine </a:t>
            </a:r>
          </a:p>
          <a:p>
            <a:pPr lvl="1">
              <a:buNone/>
            </a:pPr>
            <a:endParaRPr lang="en-US" dirty="0"/>
          </a:p>
          <a:p>
            <a:pPr lvl="1"/>
            <a:endParaRPr lang="en-US" dirty="0"/>
          </a:p>
        </p:txBody>
      </p:sp>
      <p:pic>
        <p:nvPicPr>
          <p:cNvPr id="5" name="Content Placeholder 4" descr="theodore-roosevelt-cartoon.jpg"/>
          <p:cNvPicPr>
            <a:picLocks noGrp="1" noChangeAspect="1"/>
          </p:cNvPicPr>
          <p:nvPr>
            <p:ph sz="half" idx="2"/>
          </p:nvPr>
        </p:nvPicPr>
        <p:blipFill>
          <a:blip r:embed="rId2" cstate="print"/>
          <a:stretch>
            <a:fillRect/>
          </a:stretch>
        </p:blipFill>
        <p:spPr>
          <a:xfrm>
            <a:off x="5105400" y="914400"/>
            <a:ext cx="3581400" cy="4114800"/>
          </a:xfr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Panama Canal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1000" y="530352"/>
            <a:ext cx="5105400" cy="4956048"/>
          </a:xfrm>
        </p:spPr>
        <p:txBody>
          <a:bodyPr>
            <a:noAutofit/>
          </a:bodyPr>
          <a:lstStyle/>
          <a:p>
            <a:r>
              <a:rPr lang="en-US" sz="1700" dirty="0"/>
              <a:t>Initially started by a Frenchmen in the 1800’s The Panama Canal was not successfully finished until 1914</a:t>
            </a:r>
          </a:p>
          <a:p>
            <a:pPr lvl="1"/>
            <a:r>
              <a:rPr lang="en-US" sz="1700" dirty="0"/>
              <a:t>US Bought the Panama route for $40 million in 1903</a:t>
            </a:r>
          </a:p>
          <a:p>
            <a:pPr lvl="1"/>
            <a:r>
              <a:rPr lang="en-US" sz="1700" dirty="0"/>
              <a:t>US needed support from Columbia (Panama belonged to Columbia at the time) </a:t>
            </a:r>
          </a:p>
          <a:p>
            <a:pPr lvl="2"/>
            <a:r>
              <a:rPr lang="en-US" sz="1700" dirty="0"/>
              <a:t>Roosevelt sent US warships to aid the Panama’s rebellion</a:t>
            </a:r>
          </a:p>
          <a:p>
            <a:pPr lvl="2"/>
            <a:r>
              <a:rPr lang="en-US" sz="1700" dirty="0"/>
              <a:t>Panama won independence and gave US the right to build the canal</a:t>
            </a:r>
          </a:p>
          <a:p>
            <a:pPr lvl="2"/>
            <a:r>
              <a:rPr lang="en-US" sz="1700" dirty="0"/>
              <a:t>US paid $10 million and a $250,000 annual rent</a:t>
            </a:r>
          </a:p>
          <a:p>
            <a:pPr lvl="1"/>
            <a:r>
              <a:rPr lang="en-US" sz="1700" dirty="0"/>
              <a:t>35,000 workers came to work on the canal</a:t>
            </a:r>
          </a:p>
          <a:p>
            <a:pPr lvl="2"/>
            <a:r>
              <a:rPr lang="en-US" sz="1700" dirty="0"/>
              <a:t>Over 5,000 died from malaria during the project</a:t>
            </a:r>
          </a:p>
        </p:txBody>
      </p:sp>
      <p:pic>
        <p:nvPicPr>
          <p:cNvPr id="5" name="Content Placeholder 4" descr="panama-canal0.gif"/>
          <p:cNvPicPr>
            <a:picLocks noGrp="1" noChangeAspect="1"/>
          </p:cNvPicPr>
          <p:nvPr>
            <p:ph sz="half" idx="2"/>
          </p:nvPr>
        </p:nvPicPr>
        <p:blipFill>
          <a:blip r:embed="rId2" cstate="print"/>
          <a:stretch>
            <a:fillRect/>
          </a:stretch>
        </p:blipFill>
        <p:spPr>
          <a:xfrm>
            <a:off x="5486400" y="1524000"/>
            <a:ext cx="3200400" cy="3505200"/>
          </a:xfr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Canal</a:t>
            </a:r>
          </a:p>
        </p:txBody>
      </p:sp>
      <p:pic>
        <p:nvPicPr>
          <p:cNvPr id="4098" name="Picture 2"/>
          <p:cNvPicPr>
            <a:picLocks noGrp="1" noChangeAspect="1" noChangeArrowheads="1"/>
          </p:cNvPicPr>
          <p:nvPr>
            <p:ph sz="half"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5800" y="1219200"/>
            <a:ext cx="3932238" cy="30261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099" name="Picture 3"/>
          <p:cNvPicPr>
            <a:picLocks noGrp="1" noChangeAspect="1" noChangeArrowheads="1"/>
          </p:cNvPicPr>
          <p:nvPr>
            <p:ph sz="half" idx="2"/>
          </p:nvPr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756150" y="1143000"/>
            <a:ext cx="3930650" cy="312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4953000"/>
            <a:ext cx="8183880" cy="1051560"/>
          </a:xfrm>
        </p:spPr>
        <p:txBody>
          <a:bodyPr/>
          <a:lstStyle/>
          <a:p>
            <a:r>
              <a:rPr lang="en-US" dirty="0"/>
              <a:t>Dollar Diplomacy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William H. Taft took office after Roosevelt and switched the way US handled foreign diplomacy</a:t>
            </a:r>
          </a:p>
          <a:p>
            <a:pPr lvl="1"/>
            <a:r>
              <a:rPr lang="en-US" dirty="0"/>
              <a:t>He wanted to switch bullets to dollars</a:t>
            </a:r>
          </a:p>
          <a:p>
            <a:r>
              <a:rPr lang="en-US" dirty="0"/>
              <a:t>He encouraged US investments in plantations, mines, oil wells, and railways throughout Latin America </a:t>
            </a:r>
          </a:p>
          <a:p>
            <a:r>
              <a:rPr lang="en-US" dirty="0"/>
              <a:t>He did return to big stick diplomacy at times but dollar diplomacy did work in his favor</a:t>
            </a:r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705600" y="4495800"/>
            <a:ext cx="1371600" cy="17504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Wilson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Woodrow Wilson changed foreign diplomacy upon entering the White House</a:t>
            </a:r>
          </a:p>
          <a:p>
            <a:pPr lvl="1"/>
            <a:r>
              <a:rPr lang="en-US" dirty="0"/>
              <a:t>Choose William Jennings Bryan as Secretary of State</a:t>
            </a:r>
          </a:p>
          <a:p>
            <a:pPr lvl="1"/>
            <a:r>
              <a:rPr lang="en-US" dirty="0"/>
              <a:t>Anti-Imperialist</a:t>
            </a:r>
          </a:p>
          <a:p>
            <a:pPr lvl="1"/>
            <a:r>
              <a:rPr lang="en-US" dirty="0"/>
              <a:t>He wanted to work for promotion of human rights, national integrity, and opportunity”</a:t>
            </a:r>
          </a:p>
          <a:p>
            <a:r>
              <a:rPr lang="en-US" dirty="0"/>
              <a:t>However Wilson did use military might when needed, he sent Marines to Haiti, Dominican Republic and Mexico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spect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Aspect">
      <a:maj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ajorFont>
      <a:min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inorFont>
    </a:fontScheme>
    <a:fmtScheme name="A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atMod val="270000"/>
              </a:schemeClr>
            </a:gs>
            <a:gs pos="25000">
              <a:schemeClr val="phClr">
                <a:tint val="60000"/>
                <a:satMod val="300000"/>
              </a:schemeClr>
            </a:gs>
            <a:gs pos="100000">
              <a:schemeClr val="phClr">
                <a:tint val="29000"/>
                <a:satMod val="40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45000"/>
                <a:satMod val="155000"/>
              </a:schemeClr>
            </a:gs>
            <a:gs pos="60000">
              <a:schemeClr val="phClr">
                <a:shade val="95000"/>
                <a:satMod val="150000"/>
              </a:schemeClr>
            </a:gs>
            <a:gs pos="100000">
              <a:schemeClr val="phClr">
                <a:tint val="87000"/>
                <a:satMod val="2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atMod val="150000"/>
            </a:schemeClr>
          </a:solidFill>
          <a:prstDash val="solid"/>
        </a:ln>
        <a:ln w="425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5500" dist="381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65500" dist="381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65500" dist="381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12000000"/>
            </a:lightRig>
          </a:scene3d>
          <a:sp3d prstMaterial="powder">
            <a:bevelT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35000"/>
                <a:satMod val="150000"/>
              </a:schemeClr>
            </a:gs>
            <a:gs pos="45000">
              <a:schemeClr val="phClr">
                <a:shade val="68000"/>
                <a:satMod val="155000"/>
              </a:schemeClr>
            </a:gs>
            <a:gs pos="100000">
              <a:schemeClr val="phClr">
                <a:tint val="70000"/>
                <a:satMod val="175000"/>
              </a:schemeClr>
            </a:gs>
          </a:gsLst>
          <a:lin ang="16200000" scaled="0"/>
        </a:gradFill>
        <a:blipFill>
          <a:blip xmlns:r="http://schemas.openxmlformats.org/officeDocument/2006/relationships" r:embed="rId1">
            <a:duotone>
              <a:schemeClr val="phClr">
                <a:shade val="800"/>
                <a:satMod val="150000"/>
              </a:schemeClr>
              <a:schemeClr val="phClr">
                <a:tint val="80000"/>
                <a:satMod val="150000"/>
              </a:schemeClr>
            </a:duotone>
          </a:blip>
          <a:tile tx="0" ty="0" sx="75000" sy="7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1E089821E7FFA409886B3AD0234035C" ma:contentTypeVersion="29" ma:contentTypeDescription="Create a new document." ma:contentTypeScope="" ma:versionID="13bae29414afa2e23293c9ff0a75cff5">
  <xsd:schema xmlns:xsd="http://www.w3.org/2001/XMLSchema" xmlns:xs="http://www.w3.org/2001/XMLSchema" xmlns:p="http://schemas.microsoft.com/office/2006/metadata/properties" xmlns:ns1="http://schemas.microsoft.com/sharepoint/v3" xmlns:ns2="ebcd411e-39d2-437c-921d-5ffc9b96e570" xmlns:ns3="d01ac7e3-0127-46ca-87d1-141033fc51e3" xmlns:ns4="230e9df3-be65-4c73-a93b-d1236ebd677e" targetNamespace="http://schemas.microsoft.com/office/2006/metadata/properties" ma:root="true" ma:fieldsID="c8a41d0551d1dfd2c024d8ab368c767b" ns1:_="" ns2:_="" ns3:_="" ns4:_="">
    <xsd:import namespace="http://schemas.microsoft.com/sharepoint/v3"/>
    <xsd:import namespace="ebcd411e-39d2-437c-921d-5ffc9b96e570"/>
    <xsd:import namespace="d01ac7e3-0127-46ca-87d1-141033fc51e3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Location" minOccurs="0"/>
                <xsd:element ref="ns1:_ip_UnifiedCompliancePolicyProperties" minOccurs="0"/>
                <xsd:element ref="ns1:_ip_UnifiedCompliancePolicyUIAction" minOccurs="0"/>
                <xsd:element ref="ns2:Status" minOccurs="0"/>
                <xsd:element ref="ns2:MediaLengthInSeconds" minOccurs="0"/>
                <xsd:element ref="ns2:lcf76f155ced4ddcb4097134ff3c332f" minOccurs="0"/>
                <xsd:element ref="ns4:TaxCatchAll" minOccurs="0"/>
                <xsd:element ref="ns2:OneNoteFluid_FileOrder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Comments" minOccurs="0"/>
                <xsd:element ref="ns2:MediaServiceBillingMetadata" minOccurs="0"/>
                <xsd:element ref="ns2:CustomColumn" minOccurs="0"/>
                <xsd:element ref="ns2:mbc8818d814f45ef9cc9d5bfc7ae98b4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9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0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bcd411e-39d2-437c-921d-5ffc9b96e57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4" nillable="true" ma:displayName="KeyPoints" ma:description="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7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8" nillable="true" ma:displayName="Location" ma:internalName="MediaServiceLocation" ma:readOnly="true">
      <xsd:simpleType>
        <xsd:restriction base="dms:Text"/>
      </xsd:simpleType>
    </xsd:element>
    <xsd:element name="Status" ma:index="21" nillable="true" ma:displayName="Status" ma:default="One Pager" ma:format="Dropdown" ma:internalName="Status">
      <xsd:simpleType>
        <xsd:restriction base="dms:Text">
          <xsd:maxLength value="255"/>
        </xsd:restriction>
      </xsd:simpleType>
    </xsd:element>
    <xsd:element name="MediaLengthInSeconds" ma:index="22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4" nillable="true" ma:taxonomy="true" ma:internalName="lcf76f155ced4ddcb4097134ff3c332f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OneNoteFluid_FileOrder" ma:index="26" nillable="true" ma:displayName="OneNoteFluid_FileOrder" ma:internalName="OneNoteFluid_FileOrder">
      <xsd:simpleType>
        <xsd:restriction base="dms:Text">
          <xsd:maxLength value="255"/>
        </xsd:restriction>
      </xsd:simpleType>
    </xsd:element>
    <xsd:element name="MediaServiceSearchProperties" ma:index="27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28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29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30" nillable="true" ma:displayName="MediaServiceSystemTags" ma:hidden="true" ma:internalName="MediaServiceSystemTags" ma:readOnly="true">
      <xsd:simpleType>
        <xsd:restriction base="dms:Note"/>
      </xsd:simpleType>
    </xsd:element>
    <xsd:element name="Comments" ma:index="31" nillable="true" ma:displayName="Comments" ma:format="Dropdown" ma:internalName="Comments">
      <xsd:simpleType>
        <xsd:restriction base="dms:Text">
          <xsd:maxLength value="255"/>
        </xsd:restriction>
      </xsd:simpleType>
    </xsd:element>
    <xsd:element name="MediaServiceBillingMetadata" ma:index="32" nillable="true" ma:displayName="MediaServiceBillingMetadata" ma:hidden="true" ma:internalName="MediaServiceBillingMetadata" ma:readOnly="true">
      <xsd:simpleType>
        <xsd:restriction base="dms:Text"/>
      </xsd:simpleType>
    </xsd:element>
    <xsd:element name="CustomColumn" ma:index="33" nillable="true" ma:displayName="CustomColumn" ma:format="Dropdown" ma:indexed="true" ma:internalName="CustomColumn">
      <xsd:simpleType>
        <xsd:restriction base="dms:Text">
          <xsd:maxLength value="255"/>
        </xsd:restriction>
      </xsd:simpleType>
    </xsd:element>
    <xsd:element name="mbc8818d814f45ef9cc9d5bfc7ae98b4" ma:index="35" nillable="true" ma:taxonomy="true" ma:internalName="mbc8818d814f45ef9cc9d5bfc7ae98b4" ma:taxonomyFieldName="categorize" ma:displayName="categorize" ma:default="" ma:fieldId="{6bc8818d-814f-45ef-9cc9-d5bfc7ae98b4}" ma:taxonomyMulti="true" ma:sspId="e385fb40-52d4-4fae-9c5b-3e8ff8a5878e" ma:termSetId="180ed1bd-d8ff-49f1-a51c-decde4118c4f" ma:anchorId="00000000-0000-0000-0000-000000000000" ma:open="fals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01ac7e3-0127-46ca-87d1-141033fc51e3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5" nillable="true" ma:displayName="Taxonomy Catch All Column" ma:hidden="true" ma:list="{cdfba08c-59f0-4ee1-ab25-f66a7261e9a8}" ma:internalName="TaxCatchAll" ma:showField="CatchAllData" ma:web="d01ac7e3-0127-46ca-87d1-141033fc51e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mbc8818d814f45ef9cc9d5bfc7ae98b4 xmlns="ebcd411e-39d2-437c-921d-5ffc9b96e570">
      <Terms xmlns="http://schemas.microsoft.com/office/infopath/2007/PartnerControls"/>
    </mbc8818d814f45ef9cc9d5bfc7ae98b4>
    <_ip_UnifiedCompliancePolicyProperties xmlns="http://schemas.microsoft.com/sharepoint/v3" xsi:nil="true"/>
    <Comments xmlns="ebcd411e-39d2-437c-921d-5ffc9b96e570" xsi:nil="true"/>
    <Status xmlns="ebcd411e-39d2-437c-921d-5ffc9b96e570">One Pager</Status>
    <OneNoteFluid_FileOrder xmlns="ebcd411e-39d2-437c-921d-5ffc9b96e570" xsi:nil="true"/>
    <CustomColumn xmlns="ebcd411e-39d2-437c-921d-5ffc9b96e570" xsi:nil="true"/>
    <TaxCatchAll xmlns="230e9df3-be65-4c73-a93b-d1236ebd677e" xsi:nil="true"/>
    <lcf76f155ced4ddcb4097134ff3c332f xmlns="ebcd411e-39d2-437c-921d-5ffc9b96e570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73A98C0-BA5C-43FB-AB69-BC3F4FFA820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ebcd411e-39d2-437c-921d-5ffc9b96e570"/>
    <ds:schemaRef ds:uri="d01ac7e3-0127-46ca-87d1-141033fc51e3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19306609-5571-4E29-9F3C-408041F85754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ebcd411e-39d2-437c-921d-5ffc9b96e570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C0F99DEB-6E1F-453A-B511-69E93C9C5054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f42aa342-8706-4288-bd11-ebb85995028c}" enabled="1" method="Privilege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Aspect</Template>
  <TotalTime>309</TotalTime>
  <Words>1550</Words>
  <Application>Microsoft Office PowerPoint</Application>
  <PresentationFormat>On-screen Show (4:3)</PresentationFormat>
  <Paragraphs>155</Paragraphs>
  <Slides>29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3" baseType="lpstr">
      <vt:lpstr>Calibri</vt:lpstr>
      <vt:lpstr>Verdana</vt:lpstr>
      <vt:lpstr>Wingdings 2</vt:lpstr>
      <vt:lpstr>Aspect</vt:lpstr>
      <vt:lpstr>Imperialism-</vt:lpstr>
      <vt:lpstr>Raw Materials</vt:lpstr>
      <vt:lpstr>United States </vt:lpstr>
      <vt:lpstr>Military Strength</vt:lpstr>
      <vt:lpstr>Frontier Closed</vt:lpstr>
      <vt:lpstr>US Takes Steps Toward World Power</vt:lpstr>
      <vt:lpstr>Hawaii</vt:lpstr>
      <vt:lpstr>Cuba</vt:lpstr>
      <vt:lpstr>Yellow Press</vt:lpstr>
      <vt:lpstr>Remember the Maine</vt:lpstr>
      <vt:lpstr>Spanish American War</vt:lpstr>
      <vt:lpstr>Spanish American War</vt:lpstr>
      <vt:lpstr>Spanish American War</vt:lpstr>
      <vt:lpstr>The “Splendid Little War”</vt:lpstr>
      <vt:lpstr>The Philippines</vt:lpstr>
      <vt:lpstr>Reforming The Philippines</vt:lpstr>
      <vt:lpstr>China</vt:lpstr>
      <vt:lpstr>Boxer Rebellion</vt:lpstr>
      <vt:lpstr>Open Door Policy </vt:lpstr>
      <vt:lpstr>Japan</vt:lpstr>
      <vt:lpstr>Gentlemen's Agreement</vt:lpstr>
      <vt:lpstr>The Great White Fleet</vt:lpstr>
      <vt:lpstr>Puerto Rico </vt:lpstr>
      <vt:lpstr>Cuba</vt:lpstr>
      <vt:lpstr>Big Stick Diplomacy</vt:lpstr>
      <vt:lpstr>Panama Canal</vt:lpstr>
      <vt:lpstr>The Canal</vt:lpstr>
      <vt:lpstr>Dollar Diplomacy</vt:lpstr>
      <vt:lpstr>Wilson</vt:lpstr>
    </vt:vector>
  </TitlesOfParts>
  <Company>FNSBSD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Imperialism-</dc:title>
  <dc:creator>f352856</dc:creator>
  <cp:lastModifiedBy>Nathan Imse</cp:lastModifiedBy>
  <cp:revision>29</cp:revision>
  <dcterms:created xsi:type="dcterms:W3CDTF">2011-01-10T20:31:36Z</dcterms:created>
  <dcterms:modified xsi:type="dcterms:W3CDTF">2025-11-26T22:51:19Z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0x01010061E089821E7FFA409886B3AD0234035C</vt:lpwstr>
  </property>
  <property fmtid="{D5CDD505-2E9C-101B-9397-08002B2CF9AE}" pid="3" name="MediaServiceImageTags">
    <vt:lpwstr/>
  </property>
  <property fmtid="{D5CDD505-2E9C-101B-9397-08002B2CF9AE}" pid="4" name="categorize">
    <vt:lpwstr/>
  </property>
</Properties>
</file>